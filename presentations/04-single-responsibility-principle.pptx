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18"/>
  </p:notesMasterIdLst>
  <p:sldIdLst>
    <p:sldId id="272" r:id="rId2"/>
    <p:sldId id="271" r:id="rId3"/>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94"/>
  </p:normalViewPr>
  <p:slideViewPr>
    <p:cSldViewPr snapToGrid="0" snapToObjects="1">
      <p:cViewPr varScale="1">
        <p:scale>
          <a:sx n="121" d="100"/>
          <a:sy n="121" d="100"/>
        </p:scale>
        <p:origin x="1488" y="17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006217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	</a:t>
            </a:r>
            <a:r>
              <a:rPr dirty="0"/>
              <a:t>Introduce SOLID as a shared industry vocabulary. Emphasize that these principles emerged from decades of real-world software development experience. Note that SOLID is not about writing perfect code, but about creating systems that can adapt safely over time.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that architecture is not about control or prediction, but about making future changes safer and more predictable. Reinforce that change is inevitable and architecture determines how painful that change will be.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Stress that SRP is the most important and most misunderstood SOLID principle. Clarify that SRP defines boundaries that make the other principles practical and meaningful.</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Discuss why the original definition was influential but insufficient. Highlight how ambiguity around 'reason to change' caused confusion in real systems.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actors as conceptual sources of change, not users or systems. Emphasize that actors clarify responsibility and make SRP actionable.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how SRP violations create systems that are hard to modify safely. Use examples of bugs appearing far from the original change.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Describe change amplification as a key symptom of SRP violations. Emphasize its role as a diagnostic signal.</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the tension between DRY and SRP. Reinforce that reuse must respect responsibility boundaries.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Reinforce that SRP naturally leads to high cohesion and low coupling. Explain why perfect decoupling is neither realistic nor desirable.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SRP as a repeating pattern across architectural levels. Emphasize consistency from class design to system architecture.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screaming architecture as an outcome of good SRP. Emphasize that structure itself documents system intent.</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Clarify that this hybrid approach balances familiarity and SRP compliance. Stress that layers should not cross feature boundaries.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that SRP addresses organizational and temporal forces. Emphasize that experience and reflection are required to internalize it.</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Summarize SRP as a strategic principle. Reinforce its role in reducing complexity and enabling safe evolution.</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 name="Rectangle 9"/>
          <p:cNvSpPr/>
          <p:nvPr/>
        </p:nvSpPr>
        <p:spPr>
          <a:xfrm>
            <a:off x="1007534" y="0"/>
            <a:ext cx="5898825"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6906359"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958856" y="3428999"/>
            <a:ext cx="4138550" cy="2268559"/>
          </a:xfrm>
        </p:spPr>
        <p:txBody>
          <a:bodyPr anchor="t">
            <a:normAutofit/>
          </a:bodyPr>
          <a:lstStyle>
            <a:lvl1pPr algn="r">
              <a:defRPr sz="4200"/>
            </a:lvl1pPr>
          </a:lstStyle>
          <a:p>
            <a:r>
              <a:rPr lang="en-US"/>
              <a:t>Click to edit Master title style</a:t>
            </a:r>
            <a:endParaRPr lang="en-US" dirty="0"/>
          </a:p>
        </p:txBody>
      </p:sp>
      <p:sp>
        <p:nvSpPr>
          <p:cNvPr id="3" name="Subtitle 2"/>
          <p:cNvSpPr>
            <a:spLocks noGrp="1"/>
          </p:cNvSpPr>
          <p:nvPr>
            <p:ph type="subTitle" idx="1"/>
          </p:nvPr>
        </p:nvSpPr>
        <p:spPr>
          <a:xfrm>
            <a:off x="2131292" y="2268787"/>
            <a:ext cx="3966114" cy="1160213"/>
          </a:xfrm>
        </p:spPr>
        <p:txBody>
          <a:bodyPr tIns="0" anchor="b">
            <a:normAutofit/>
          </a:bodyPr>
          <a:lstStyle>
            <a:lvl1pPr marL="0" indent="0" algn="r">
              <a:buNone/>
              <a:defRPr sz="1600" b="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rIns="45720"/>
          <a:lstStyle/>
          <a:p>
            <a:fld id="{C1FF6DA9-008F-8B48-92A6-B652298478BF}" type="slidenum">
              <a:rPr lang="en-US" smtClean="0"/>
              <a:t>‹#›</a:t>
            </a:fld>
            <a:endParaRPr lang="en-US"/>
          </a:p>
        </p:txBody>
      </p:sp>
      <p:sp>
        <p:nvSpPr>
          <p:cNvPr id="24" name="TextBox 23"/>
          <p:cNvSpPr txBox="1"/>
          <p:nvPr/>
        </p:nvSpPr>
        <p:spPr>
          <a:xfrm>
            <a:off x="1641440" y="3262168"/>
            <a:ext cx="311727" cy="430887"/>
          </a:xfrm>
          <a:prstGeom prst="rect">
            <a:avLst/>
          </a:prstGeom>
          <a:noFill/>
        </p:spPr>
        <p:txBody>
          <a:bodyPr wrap="square" rtlCol="0">
            <a:spAutoFit/>
          </a:bodyPr>
          <a:lstStyle/>
          <a:p>
            <a:pPr algn="r"/>
            <a:r>
              <a:rPr lang="en-US" sz="2200" dirty="0">
                <a:solidFill>
                  <a:schemeClr val="accent6"/>
                </a:solidFill>
                <a:latin typeface="Wingdings 3" panose="05040102010807070707" pitchFamily="18" charset="2"/>
              </a:rPr>
              <a:t>z</a:t>
            </a:r>
            <a:endParaRPr lang="en-US" sz="22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20161955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9" name="Rectangle 8"/>
          <p:cNvSpPr/>
          <p:nvPr/>
        </p:nvSpPr>
        <p:spPr>
          <a:xfrm>
            <a:off x="832116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07534" y="0"/>
            <a:ext cx="7315560"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7" name="TextBox 6"/>
          <p:cNvSpPr txBox="1"/>
          <p:nvPr/>
        </p:nvSpPr>
        <p:spPr>
          <a:xfrm>
            <a:off x="1651862" y="636541"/>
            <a:ext cx="311727" cy="338554"/>
          </a:xfrm>
          <a:prstGeom prst="rect">
            <a:avLst/>
          </a:prstGeom>
          <a:noFill/>
        </p:spPr>
        <p:txBody>
          <a:bodyPr wrap="square" rtlCol="0">
            <a:spAutoFit/>
          </a:bodyPr>
          <a:lstStyle/>
          <a:p>
            <a:pPr algn="r"/>
            <a:r>
              <a:rPr lang="en-US" sz="1600" dirty="0">
                <a:solidFill>
                  <a:schemeClr val="accent6"/>
                </a:solidFill>
                <a:latin typeface="Wingdings 3" panose="05040102010807070707" pitchFamily="18" charset="2"/>
              </a:rPr>
              <a:t>z</a:t>
            </a:r>
            <a:endParaRPr lang="en-US" sz="16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1205828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 name="Rectangle 9"/>
          <p:cNvSpPr/>
          <p:nvPr/>
        </p:nvSpPr>
        <p:spPr>
          <a:xfrm>
            <a:off x="1007534" y="0"/>
            <a:ext cx="7315560"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p:cNvSpPr/>
          <p:nvPr/>
        </p:nvSpPr>
        <p:spPr>
          <a:xfrm>
            <a:off x="832116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957405" y="3199028"/>
            <a:ext cx="5967420" cy="1372971"/>
          </a:xfrm>
        </p:spPr>
        <p:txBody>
          <a:bodyPr anchor="t">
            <a:normAutofit/>
          </a:bodyPr>
          <a:lstStyle>
            <a:lvl1pPr algn="r">
              <a:defRPr sz="2800"/>
            </a:lvl1pPr>
          </a:lstStyle>
          <a:p>
            <a:r>
              <a:rPr lang="en-US"/>
              <a:t>Click to edit Master title style</a:t>
            </a:r>
            <a:endParaRPr lang="en-US" dirty="0"/>
          </a:p>
        </p:txBody>
      </p:sp>
      <p:sp>
        <p:nvSpPr>
          <p:cNvPr id="3" name="Text Placeholder 2"/>
          <p:cNvSpPr>
            <a:spLocks noGrp="1"/>
          </p:cNvSpPr>
          <p:nvPr>
            <p:ph type="body" idx="1"/>
          </p:nvPr>
        </p:nvSpPr>
        <p:spPr>
          <a:xfrm>
            <a:off x="2121131" y="2272143"/>
            <a:ext cx="5803294" cy="926885"/>
          </a:xfrm>
        </p:spPr>
        <p:txBody>
          <a:bodyPr tIns="0" anchor="b">
            <a:normAutofit/>
          </a:bodyPr>
          <a:lstStyle>
            <a:lvl1pPr marL="0" indent="0" algn="r">
              <a:buNone/>
              <a:defRPr sz="16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16" name="TextBox 15"/>
          <p:cNvSpPr txBox="1"/>
          <p:nvPr/>
        </p:nvSpPr>
        <p:spPr>
          <a:xfrm>
            <a:off x="1644924" y="3023993"/>
            <a:ext cx="311727" cy="338554"/>
          </a:xfrm>
          <a:prstGeom prst="rect">
            <a:avLst/>
          </a:prstGeom>
          <a:noFill/>
        </p:spPr>
        <p:txBody>
          <a:bodyPr wrap="square" rtlCol="0">
            <a:spAutoFit/>
          </a:bodyPr>
          <a:lstStyle/>
          <a:p>
            <a:pPr algn="r"/>
            <a:r>
              <a:rPr lang="en-US" sz="1600" dirty="0">
                <a:solidFill>
                  <a:schemeClr val="accent6"/>
                </a:solidFill>
                <a:latin typeface="Wingdings 3" panose="05040102010807070707" pitchFamily="18" charset="2"/>
              </a:rPr>
              <a:t>z</a:t>
            </a:r>
            <a:endParaRPr lang="en-US" sz="16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20588086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2" name="Rectangle 11"/>
          <p:cNvSpPr/>
          <p:nvPr/>
        </p:nvSpPr>
        <p:spPr>
          <a:xfrm>
            <a:off x="1007534" y="0"/>
            <a:ext cx="7315560"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961426" y="805818"/>
            <a:ext cx="5882780" cy="10817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965406" y="2056800"/>
            <a:ext cx="2855547" cy="39931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984679" y="2056800"/>
            <a:ext cx="2859527" cy="39931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1/28/26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
        <p:nvSpPr>
          <p:cNvPr id="11" name="Rectangle 10"/>
          <p:cNvSpPr/>
          <p:nvPr/>
        </p:nvSpPr>
        <p:spPr>
          <a:xfrm>
            <a:off x="832116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 name="TextBox 18"/>
          <p:cNvSpPr txBox="1"/>
          <p:nvPr/>
        </p:nvSpPr>
        <p:spPr>
          <a:xfrm>
            <a:off x="1651862" y="636541"/>
            <a:ext cx="311727" cy="338554"/>
          </a:xfrm>
          <a:prstGeom prst="rect">
            <a:avLst/>
          </a:prstGeom>
          <a:noFill/>
        </p:spPr>
        <p:txBody>
          <a:bodyPr wrap="square" rtlCol="0">
            <a:spAutoFit/>
          </a:bodyPr>
          <a:lstStyle/>
          <a:p>
            <a:pPr algn="r"/>
            <a:r>
              <a:rPr lang="en-US" sz="1600" dirty="0">
                <a:solidFill>
                  <a:schemeClr val="accent6"/>
                </a:solidFill>
                <a:latin typeface="Wingdings 3" panose="05040102010807070707" pitchFamily="18" charset="2"/>
              </a:rPr>
              <a:t>z</a:t>
            </a:r>
            <a:endParaRPr lang="en-US" sz="16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17073486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4" name="Rectangle 13"/>
          <p:cNvSpPr/>
          <p:nvPr/>
        </p:nvSpPr>
        <p:spPr>
          <a:xfrm>
            <a:off x="1007534" y="0"/>
            <a:ext cx="7315560"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832116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4" name="TextBox 23"/>
          <p:cNvSpPr txBox="1"/>
          <p:nvPr/>
        </p:nvSpPr>
        <p:spPr>
          <a:xfrm>
            <a:off x="1651862" y="636541"/>
            <a:ext cx="311727" cy="338554"/>
          </a:xfrm>
          <a:prstGeom prst="rect">
            <a:avLst/>
          </a:prstGeom>
          <a:noFill/>
        </p:spPr>
        <p:txBody>
          <a:bodyPr wrap="square" rtlCol="0">
            <a:spAutoFit/>
          </a:bodyPr>
          <a:lstStyle/>
          <a:p>
            <a:pPr algn="r"/>
            <a:r>
              <a:rPr lang="en-US" sz="1600" dirty="0">
                <a:solidFill>
                  <a:schemeClr val="accent6"/>
                </a:solidFill>
                <a:latin typeface="Wingdings 3" panose="05040102010807070707" pitchFamily="18" charset="2"/>
              </a:rPr>
              <a:t>z</a:t>
            </a:r>
            <a:endParaRPr lang="en-US" sz="16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63589" y="805818"/>
            <a:ext cx="5880617" cy="1077020"/>
          </a:xfrm>
        </p:spPr>
        <p:txBody>
          <a:bodyPr/>
          <a:lstStyle/>
          <a:p>
            <a:r>
              <a:rPr lang="en-US"/>
              <a:t>Click to edit Master title style</a:t>
            </a:r>
            <a:endParaRPr lang="en-US" dirty="0"/>
          </a:p>
        </p:txBody>
      </p:sp>
      <p:sp>
        <p:nvSpPr>
          <p:cNvPr id="3" name="Text Placeholder 2"/>
          <p:cNvSpPr>
            <a:spLocks noGrp="1"/>
          </p:cNvSpPr>
          <p:nvPr>
            <p:ph type="body" idx="1"/>
          </p:nvPr>
        </p:nvSpPr>
        <p:spPr>
          <a:xfrm>
            <a:off x="1963589" y="2054563"/>
            <a:ext cx="2857364" cy="713818"/>
          </a:xfrm>
        </p:spPr>
        <p:txBody>
          <a:bodyPr anchor="b">
            <a:noAutofit/>
          </a:bodyPr>
          <a:lstStyle>
            <a:lvl1pPr marL="0" indent="0" algn="l">
              <a:lnSpc>
                <a:spcPct val="100000"/>
              </a:lnSpc>
              <a:buNone/>
              <a:defRPr sz="2000" b="0" cap="none" baseline="0">
                <a:solidFill>
                  <a:schemeClr val="accent6"/>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1962510" y="2851330"/>
            <a:ext cx="2858443" cy="31986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984679" y="2054563"/>
            <a:ext cx="2859527" cy="713818"/>
          </a:xfrm>
        </p:spPr>
        <p:txBody>
          <a:bodyPr anchor="b">
            <a:noAutofit/>
          </a:bodyPr>
          <a:lstStyle>
            <a:lvl1pPr marL="0" indent="0" algn="l">
              <a:lnSpc>
                <a:spcPct val="100000"/>
              </a:lnSpc>
              <a:buNone/>
              <a:defRPr sz="2000" b="0" cap="none" baseline="0">
                <a:solidFill>
                  <a:schemeClr val="accent6"/>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984680" y="2851330"/>
            <a:ext cx="2859526" cy="31986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1/28/26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580761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Rectangle 8"/>
          <p:cNvSpPr/>
          <p:nvPr/>
        </p:nvSpPr>
        <p:spPr>
          <a:xfrm>
            <a:off x="1007534" y="0"/>
            <a:ext cx="7315560"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832116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 name="TextBox 15"/>
          <p:cNvSpPr txBox="1"/>
          <p:nvPr/>
        </p:nvSpPr>
        <p:spPr>
          <a:xfrm>
            <a:off x="1651862" y="636541"/>
            <a:ext cx="311727" cy="338554"/>
          </a:xfrm>
          <a:prstGeom prst="rect">
            <a:avLst/>
          </a:prstGeom>
          <a:noFill/>
        </p:spPr>
        <p:txBody>
          <a:bodyPr wrap="square" rtlCol="0">
            <a:spAutoFit/>
          </a:bodyPr>
          <a:lstStyle/>
          <a:p>
            <a:pPr algn="r"/>
            <a:r>
              <a:rPr lang="en-US" sz="1600" dirty="0">
                <a:solidFill>
                  <a:schemeClr val="accent6"/>
                </a:solidFill>
                <a:latin typeface="Wingdings 3" panose="05040102010807070707" pitchFamily="18" charset="2"/>
              </a:rPr>
              <a:t>z</a:t>
            </a:r>
            <a:endParaRPr lang="en-US" sz="1600" dirty="0">
              <a:solidFill>
                <a:schemeClr val="accent6"/>
              </a:solidFill>
              <a:latin typeface="MS Shell Dlg 2" panose="020B0604030504040204" pitchFamily="34" charset="0"/>
            </a:endParaRPr>
          </a:p>
        </p:txBody>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1/28/26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373624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9" name="Rectangle 8"/>
          <p:cNvSpPr/>
          <p:nvPr/>
        </p:nvSpPr>
        <p:spPr>
          <a:xfrm>
            <a:off x="1007534" y="0"/>
            <a:ext cx="7315560"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832116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5BCAD085-E8A6-8845-BD4E-CB4CCA059FC4}" type="datetimeFigureOut">
              <a:rPr lang="en-US" smtClean="0"/>
              <a:t>1/28/26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0725436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7" name="Rectangle 16"/>
          <p:cNvSpPr/>
          <p:nvPr/>
        </p:nvSpPr>
        <p:spPr>
          <a:xfrm>
            <a:off x="1007534" y="0"/>
            <a:ext cx="7315560"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832116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2" name="TextBox 21"/>
          <p:cNvSpPr txBox="1"/>
          <p:nvPr/>
        </p:nvSpPr>
        <p:spPr>
          <a:xfrm>
            <a:off x="1179466" y="1127642"/>
            <a:ext cx="311727" cy="338554"/>
          </a:xfrm>
          <a:prstGeom prst="rect">
            <a:avLst/>
          </a:prstGeom>
          <a:noFill/>
        </p:spPr>
        <p:txBody>
          <a:bodyPr wrap="square" rtlCol="0">
            <a:spAutoFit/>
          </a:bodyPr>
          <a:lstStyle/>
          <a:p>
            <a:pPr algn="r"/>
            <a:r>
              <a:rPr lang="en-US" sz="1600" dirty="0">
                <a:solidFill>
                  <a:schemeClr val="accent6"/>
                </a:solidFill>
                <a:latin typeface="Wingdings 3" panose="05040102010807070707" pitchFamily="18" charset="2"/>
              </a:rPr>
              <a:t>z</a:t>
            </a:r>
            <a:endParaRPr lang="en-US" sz="16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485983" y="1296618"/>
            <a:ext cx="2120703" cy="1889075"/>
          </a:xfrm>
        </p:spPr>
        <p:txBody>
          <a:bodyPr anchor="b">
            <a:normAutofit/>
          </a:bodyPr>
          <a:lstStyle>
            <a:lvl1pPr algn="l">
              <a:defRPr sz="2000"/>
            </a:lvl1pPr>
          </a:lstStyle>
          <a:p>
            <a:r>
              <a:rPr lang="en-US"/>
              <a:t>Click to edit Master title style</a:t>
            </a:r>
            <a:endParaRPr lang="en-US" dirty="0"/>
          </a:p>
        </p:txBody>
      </p:sp>
      <p:sp>
        <p:nvSpPr>
          <p:cNvPr id="3" name="Content Placeholder 2"/>
          <p:cNvSpPr>
            <a:spLocks noGrp="1"/>
          </p:cNvSpPr>
          <p:nvPr>
            <p:ph idx="1"/>
          </p:nvPr>
        </p:nvSpPr>
        <p:spPr>
          <a:xfrm>
            <a:off x="4088538" y="805818"/>
            <a:ext cx="3755668" cy="52441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5982" y="3186155"/>
            <a:ext cx="2120703" cy="2386397"/>
          </a:xfrm>
        </p:spPr>
        <p:txBody>
          <a:bodyPr>
            <a:normAutofit/>
          </a:bodyPr>
          <a:lstStyle>
            <a:lvl1pPr marL="0" indent="0" algn="l">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6074803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1007534" y="0"/>
            <a:ext cx="7315560"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p:cNvSpPr/>
          <p:nvPr/>
        </p:nvSpPr>
        <p:spPr>
          <a:xfrm>
            <a:off x="832116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TextBox 12"/>
          <p:cNvSpPr txBox="1"/>
          <p:nvPr/>
        </p:nvSpPr>
        <p:spPr>
          <a:xfrm>
            <a:off x="1179466" y="1127642"/>
            <a:ext cx="311727" cy="338554"/>
          </a:xfrm>
          <a:prstGeom prst="rect">
            <a:avLst/>
          </a:prstGeom>
          <a:noFill/>
        </p:spPr>
        <p:txBody>
          <a:bodyPr wrap="square" rtlCol="0">
            <a:spAutoFit/>
          </a:bodyPr>
          <a:lstStyle/>
          <a:p>
            <a:pPr algn="r"/>
            <a:r>
              <a:rPr lang="en-US" sz="1600" dirty="0">
                <a:solidFill>
                  <a:schemeClr val="accent6"/>
                </a:solidFill>
                <a:latin typeface="Wingdings 3" panose="05040102010807070707" pitchFamily="18" charset="2"/>
              </a:rPr>
              <a:t>z</a:t>
            </a:r>
            <a:endParaRPr lang="en-US" sz="1600" dirty="0">
              <a:solidFill>
                <a:schemeClr val="accent6"/>
              </a:solidFill>
              <a:latin typeface="MS Shell Dlg 2" panose="020B0604030504040204" pitchFamily="34" charset="0"/>
            </a:endParaRPr>
          </a:p>
        </p:txBody>
      </p:sp>
      <p:sp>
        <p:nvSpPr>
          <p:cNvPr id="3" name="Picture Placeholder 2"/>
          <p:cNvSpPr>
            <a:spLocks noGrp="1" noChangeAspect="1"/>
          </p:cNvSpPr>
          <p:nvPr>
            <p:ph type="pic" idx="1"/>
          </p:nvPr>
        </p:nvSpPr>
        <p:spPr>
          <a:xfrm>
            <a:off x="4582987" y="3229"/>
            <a:ext cx="3727769" cy="6858000"/>
          </a:xfrm>
          <a:solidFill>
            <a:schemeClr val="tx1">
              <a:alpha val="10000"/>
            </a:schemeClr>
          </a:solidFill>
          <a:ln w="9525" cap="sq">
            <a:noFill/>
            <a:miter lim="800000"/>
          </a:ln>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21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2" name="Title 1"/>
          <p:cNvSpPr>
            <a:spLocks noGrp="1"/>
          </p:cNvSpPr>
          <p:nvPr>
            <p:ph type="title"/>
          </p:nvPr>
        </p:nvSpPr>
        <p:spPr>
          <a:xfrm>
            <a:off x="1486671" y="1296618"/>
            <a:ext cx="2603212" cy="1886308"/>
          </a:xfrm>
        </p:spPr>
        <p:txBody>
          <a:bodyPr anchor="b">
            <a:normAutofit/>
          </a:bodyPr>
          <a:lstStyle>
            <a:lvl1pPr algn="l">
              <a:defRPr sz="2400"/>
            </a:lvl1pPr>
          </a:lstStyle>
          <a:p>
            <a:r>
              <a:rPr lang="en-US"/>
              <a:t>Click to edit Master title style</a:t>
            </a:r>
            <a:endParaRPr lang="en-US" dirty="0"/>
          </a:p>
        </p:txBody>
      </p:sp>
      <p:sp>
        <p:nvSpPr>
          <p:cNvPr id="4" name="Text Placeholder 3"/>
          <p:cNvSpPr>
            <a:spLocks noGrp="1"/>
          </p:cNvSpPr>
          <p:nvPr>
            <p:ph type="body" sz="half" idx="2"/>
          </p:nvPr>
        </p:nvSpPr>
        <p:spPr>
          <a:xfrm>
            <a:off x="1485984" y="3182928"/>
            <a:ext cx="2603794" cy="2386394"/>
          </a:xfrm>
        </p:spPr>
        <p:txBody>
          <a:bodyPr>
            <a:normAutofit/>
          </a:bodyPr>
          <a:lstStyle>
            <a:lvl1pPr marL="0" indent="0" algn="l">
              <a:buNone/>
              <a:defRPr sz="16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76262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0" name="Rectangle 9"/>
          <p:cNvSpPr/>
          <p:nvPr/>
        </p:nvSpPr>
        <p:spPr>
          <a:xfrm>
            <a:off x="1007534" y="0"/>
            <a:ext cx="7315560"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832116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TextBox 16"/>
          <p:cNvSpPr txBox="1"/>
          <p:nvPr/>
        </p:nvSpPr>
        <p:spPr>
          <a:xfrm>
            <a:off x="1651862" y="636541"/>
            <a:ext cx="311727" cy="338554"/>
          </a:xfrm>
          <a:prstGeom prst="rect">
            <a:avLst/>
          </a:prstGeom>
          <a:noFill/>
        </p:spPr>
        <p:txBody>
          <a:bodyPr wrap="square" rtlCol="0">
            <a:spAutoFit/>
          </a:bodyPr>
          <a:lstStyle/>
          <a:p>
            <a:pPr algn="r"/>
            <a:r>
              <a:rPr lang="en-US" sz="1600" dirty="0">
                <a:solidFill>
                  <a:schemeClr val="accent6"/>
                </a:solidFill>
                <a:latin typeface="Wingdings 3" panose="05040102010807070707" pitchFamily="18" charset="2"/>
              </a:rPr>
              <a:t>z</a:t>
            </a:r>
            <a:endParaRPr lang="en-US" sz="16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58857" y="808057"/>
            <a:ext cx="5885350" cy="1077229"/>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2120792" y="2049878"/>
            <a:ext cx="5723414" cy="400006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355410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8" name="Rectangle 17"/>
          <p:cNvSpPr/>
          <p:nvPr/>
        </p:nvSpPr>
        <p:spPr>
          <a:xfrm>
            <a:off x="1007534" y="0"/>
            <a:ext cx="7315560"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 name="Rectangle 18"/>
          <p:cNvSpPr/>
          <p:nvPr/>
        </p:nvSpPr>
        <p:spPr>
          <a:xfrm>
            <a:off x="832116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3" name="TextBox 22"/>
          <p:cNvSpPr txBox="1"/>
          <p:nvPr/>
        </p:nvSpPr>
        <p:spPr>
          <a:xfrm rot="5400000">
            <a:off x="7688343" y="480678"/>
            <a:ext cx="311727" cy="338554"/>
          </a:xfrm>
          <a:prstGeom prst="rect">
            <a:avLst/>
          </a:prstGeom>
          <a:noFill/>
        </p:spPr>
        <p:txBody>
          <a:bodyPr wrap="square" rtlCol="0">
            <a:spAutoFit/>
          </a:bodyPr>
          <a:lstStyle/>
          <a:p>
            <a:pPr algn="r"/>
            <a:r>
              <a:rPr lang="en-US" sz="1600" dirty="0">
                <a:solidFill>
                  <a:schemeClr val="accent6"/>
                </a:solidFill>
                <a:latin typeface="Wingdings 3" panose="05040102010807070707" pitchFamily="18" charset="2"/>
              </a:rPr>
              <a:t>z</a:t>
            </a:r>
            <a:endParaRPr lang="en-US" sz="1600" dirty="0">
              <a:solidFill>
                <a:schemeClr val="accent6"/>
              </a:solidFill>
              <a:latin typeface="MS Shell Dlg 2" panose="020B0604030504040204" pitchFamily="34" charset="0"/>
            </a:endParaRPr>
          </a:p>
        </p:txBody>
      </p:sp>
      <p:sp>
        <p:nvSpPr>
          <p:cNvPr id="2" name="Vertical Title 1"/>
          <p:cNvSpPr>
            <a:spLocks noGrp="1"/>
          </p:cNvSpPr>
          <p:nvPr>
            <p:ph type="title" orient="vert"/>
          </p:nvPr>
        </p:nvSpPr>
        <p:spPr>
          <a:xfrm>
            <a:off x="6849317" y="805818"/>
            <a:ext cx="994889" cy="5244126"/>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964598" y="970410"/>
            <a:ext cx="4715441" cy="507953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991789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18" name="Picture 17"/>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1371060" y="2912532"/>
            <a:ext cx="7772939" cy="3945467"/>
          </a:xfrm>
          <a:prstGeom prst="rect">
            <a:avLst/>
          </a:prstGeom>
        </p:spPr>
      </p:pic>
      <p:pic>
        <p:nvPicPr>
          <p:cNvPr id="15" name="Picture 14"/>
          <p:cNvPicPr>
            <a:picLocks noChangeAspect="1"/>
          </p:cNvPicPr>
          <p:nvPr/>
        </p:nvPicPr>
        <p:blipFill rotWithShape="1">
          <a:blip r:embed="rId14">
            <a:extLst>
              <a:ext uri="{28A0092B-C50C-407E-A947-70E740481C1C}">
                <a14:useLocalDpi xmlns:a14="http://schemas.microsoft.com/office/drawing/2010/main" val="0"/>
              </a:ext>
            </a:extLst>
          </a:blip>
          <a:srcRect r="24998"/>
          <a:stretch/>
        </p:blipFill>
        <p:spPr>
          <a:xfrm>
            <a:off x="1" y="0"/>
            <a:ext cx="9143999" cy="6858000"/>
          </a:xfrm>
          <a:prstGeom prst="rect">
            <a:avLst/>
          </a:prstGeom>
        </p:spPr>
      </p:pic>
      <p:sp>
        <p:nvSpPr>
          <p:cNvPr id="12" name="Rectangle 11"/>
          <p:cNvSpPr/>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961317" y="808057"/>
            <a:ext cx="5878011" cy="1077229"/>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126236" y="2049878"/>
            <a:ext cx="5713092" cy="400006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828294" y="5272451"/>
            <a:ext cx="2662729" cy="179188"/>
          </a:xfrm>
          <a:prstGeom prst="rect">
            <a:avLst/>
          </a:prstGeom>
        </p:spPr>
        <p:txBody>
          <a:bodyPr vert="horz" lIns="91440" tIns="18288" rIns="91440" bIns="45720" rtlCol="0" anchor="t"/>
          <a:lstStyle>
            <a:lvl1pPr algn="r">
              <a:defRPr sz="900">
                <a:solidFill>
                  <a:schemeClr val="tx1">
                    <a:tint val="75000"/>
                  </a:schemeClr>
                </a:solidFill>
                <a:latin typeface="+mn-lt"/>
              </a:defRPr>
            </a:lvl1pPr>
          </a:lstStyle>
          <a:p>
            <a:fld id="{5BCAD085-E8A6-8845-BD4E-CB4CCA059FC4}" type="datetimeFigureOut">
              <a:rPr lang="en-US" smtClean="0"/>
              <a:t>1/28/26</a:t>
            </a:fld>
            <a:endParaRPr lang="en-US"/>
          </a:p>
        </p:txBody>
      </p:sp>
      <p:sp>
        <p:nvSpPr>
          <p:cNvPr id="5" name="Footer Placeholder 4"/>
          <p:cNvSpPr>
            <a:spLocks noGrp="1"/>
          </p:cNvSpPr>
          <p:nvPr>
            <p:ph type="ftr" sz="quarter" idx="3"/>
          </p:nvPr>
        </p:nvSpPr>
        <p:spPr>
          <a:xfrm rot="5400000">
            <a:off x="-2258177" y="3658900"/>
            <a:ext cx="5885352" cy="183663"/>
          </a:xfrm>
          <a:prstGeom prst="rect">
            <a:avLst/>
          </a:prstGeom>
        </p:spPr>
        <p:txBody>
          <a:bodyPr vert="horz" lIns="91440" tIns="45720" rIns="91440" bIns="18288" rtlCol="0" anchor="b"/>
          <a:lstStyle>
            <a:lvl1pPr algn="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62136" y="164594"/>
            <a:ext cx="638312" cy="322850"/>
          </a:xfrm>
          <a:prstGeom prst="rect">
            <a:avLst/>
          </a:prstGeom>
        </p:spPr>
        <p:txBody>
          <a:bodyPr vert="horz" lIns="91440" tIns="45720" rIns="45720" bIns="45720" rtlCol="0" anchor="ctr"/>
          <a:lstStyle>
            <a:lvl1pPr algn="r">
              <a:defRPr sz="16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370549546"/>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r" defTabSz="685800" rtl="0" eaLnBrk="1" latinLnBrk="0" hangingPunct="1">
        <a:lnSpc>
          <a:spcPct val="90000"/>
        </a:lnSpc>
        <a:spcBef>
          <a:spcPct val="0"/>
        </a:spcBef>
        <a:buNone/>
        <a:defRPr sz="2800" b="0" i="0" kern="1200" cap="none">
          <a:solidFill>
            <a:schemeClr val="tx1"/>
          </a:solidFill>
          <a:effectLst/>
          <a:latin typeface="+mj-lt"/>
          <a:ea typeface="+mj-ea"/>
          <a:cs typeface="+mj-cs"/>
        </a:defRPr>
      </a:lvl1pPr>
    </p:titleStyle>
    <p:bodyStyle>
      <a:lvl1pPr marL="258366" indent="-258366" algn="l" defTabSz="685800" rtl="0" eaLnBrk="1" latinLnBrk="0" hangingPunct="1">
        <a:lnSpc>
          <a:spcPct val="120000"/>
        </a:lnSpc>
        <a:spcBef>
          <a:spcPts val="750"/>
        </a:spcBef>
        <a:spcAft>
          <a:spcPts val="450"/>
        </a:spcAft>
        <a:buClr>
          <a:schemeClr val="accent6"/>
        </a:buClr>
        <a:buSzPct val="90000"/>
        <a:buFont typeface="Wingdings" panose="05000000000000000000" pitchFamily="2" charset="2"/>
        <a:buChar char="§"/>
        <a:defRPr sz="1800" kern="1200">
          <a:solidFill>
            <a:schemeClr val="tx1"/>
          </a:solidFill>
          <a:effectLst/>
          <a:latin typeface="+mn-lt"/>
          <a:ea typeface="+mn-ea"/>
          <a:cs typeface="+mn-cs"/>
        </a:defRPr>
      </a:lvl1pPr>
      <a:lvl2pPr marL="596504" indent="-253604" algn="l" defTabSz="685800" rtl="0" eaLnBrk="1" latinLnBrk="0" hangingPunct="1">
        <a:lnSpc>
          <a:spcPct val="120000"/>
        </a:lnSpc>
        <a:spcBef>
          <a:spcPts val="375"/>
        </a:spcBef>
        <a:spcAft>
          <a:spcPts val="450"/>
        </a:spcAft>
        <a:buClr>
          <a:schemeClr val="accent6"/>
        </a:buClr>
        <a:buSzPct val="90000"/>
        <a:buFont typeface="Wingdings" panose="05000000000000000000" pitchFamily="2" charset="2"/>
        <a:buChar char="§"/>
        <a:defRPr sz="1600" kern="1200">
          <a:solidFill>
            <a:schemeClr val="tx1"/>
          </a:solidFill>
          <a:effectLst/>
          <a:latin typeface="+mn-lt"/>
          <a:ea typeface="+mn-ea"/>
          <a:cs typeface="+mn-cs"/>
        </a:defRPr>
      </a:lvl2pPr>
      <a:lvl3pPr marL="944166" indent="-258366" algn="l" defTabSz="685800" rtl="0" eaLnBrk="1" latinLnBrk="0" hangingPunct="1">
        <a:lnSpc>
          <a:spcPct val="120000"/>
        </a:lnSpc>
        <a:spcBef>
          <a:spcPts val="375"/>
        </a:spcBef>
        <a:spcAft>
          <a:spcPts val="450"/>
        </a:spcAft>
        <a:buClr>
          <a:schemeClr val="accent6"/>
        </a:buClr>
        <a:buSzPct val="90000"/>
        <a:buFont typeface="Wingdings" panose="05000000000000000000" pitchFamily="2" charset="2"/>
        <a:buChar char="§"/>
        <a:defRPr sz="1400" kern="1200">
          <a:solidFill>
            <a:schemeClr val="tx1"/>
          </a:solidFill>
          <a:effectLst/>
          <a:latin typeface="+mn-lt"/>
          <a:ea typeface="+mn-ea"/>
          <a:cs typeface="+mn-cs"/>
        </a:defRPr>
      </a:lvl3pPr>
      <a:lvl4pPr marL="1282304" indent="-253604" algn="l" defTabSz="685800" rtl="0" eaLnBrk="1" latinLnBrk="0" hangingPunct="1">
        <a:lnSpc>
          <a:spcPct val="120000"/>
        </a:lnSpc>
        <a:spcBef>
          <a:spcPts val="375"/>
        </a:spcBef>
        <a:spcAft>
          <a:spcPts val="45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4pPr>
      <a:lvl5pPr marL="1629966" indent="-258366" algn="l" defTabSz="685800" rtl="0" eaLnBrk="1" latinLnBrk="0" hangingPunct="1">
        <a:lnSpc>
          <a:spcPct val="120000"/>
        </a:lnSpc>
        <a:spcBef>
          <a:spcPts val="375"/>
        </a:spcBef>
        <a:spcAft>
          <a:spcPts val="45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5pPr>
      <a:lvl6pPr marL="1975104" indent="-256032" algn="l" defTabSz="685800" rtl="0" eaLnBrk="1" latinLnBrk="0" hangingPunct="1">
        <a:lnSpc>
          <a:spcPct val="120000"/>
        </a:lnSpc>
        <a:spcBef>
          <a:spcPts val="375"/>
        </a:spcBef>
        <a:spcAft>
          <a:spcPts val="450"/>
        </a:spcAft>
        <a:buClr>
          <a:schemeClr val="accent6"/>
        </a:buClr>
        <a:buSzPct val="90000"/>
        <a:buFont typeface="Wingdings" panose="05000000000000000000" pitchFamily="2" charset="2"/>
        <a:buChar char="§"/>
        <a:defRPr sz="1100" kern="1200" baseline="0">
          <a:solidFill>
            <a:schemeClr val="tx1"/>
          </a:solidFill>
          <a:effectLst/>
          <a:latin typeface="+mn-lt"/>
          <a:ea typeface="+mn-ea"/>
          <a:cs typeface="+mn-cs"/>
        </a:defRPr>
      </a:lvl6pPr>
      <a:lvl7pPr marL="2240280" indent="-256032" algn="l" defTabSz="685800" rtl="0" eaLnBrk="1" latinLnBrk="0" hangingPunct="1">
        <a:lnSpc>
          <a:spcPct val="120000"/>
        </a:lnSpc>
        <a:spcBef>
          <a:spcPts val="375"/>
        </a:spcBef>
        <a:spcAft>
          <a:spcPts val="450"/>
        </a:spcAft>
        <a:buClr>
          <a:schemeClr val="accent6"/>
        </a:buClr>
        <a:buSzPct val="90000"/>
        <a:buFont typeface="Wingdings" panose="05000000000000000000" pitchFamily="2" charset="2"/>
        <a:buChar char="§"/>
        <a:defRPr sz="1100" kern="1200" baseline="0">
          <a:solidFill>
            <a:schemeClr val="tx1"/>
          </a:solidFill>
          <a:effectLst/>
          <a:latin typeface="+mn-lt"/>
          <a:ea typeface="+mn-ea"/>
          <a:cs typeface="+mn-cs"/>
        </a:defRPr>
      </a:lvl7pPr>
      <a:lvl8pPr marL="2670048" indent="-256032" algn="l" defTabSz="685800" rtl="0" eaLnBrk="1" latinLnBrk="0" hangingPunct="1">
        <a:lnSpc>
          <a:spcPct val="120000"/>
        </a:lnSpc>
        <a:spcBef>
          <a:spcPts val="375"/>
        </a:spcBef>
        <a:spcAft>
          <a:spcPts val="450"/>
        </a:spcAft>
        <a:buClr>
          <a:schemeClr val="accent6"/>
        </a:buClr>
        <a:buSzPct val="90000"/>
        <a:buFont typeface="Wingdings" panose="05000000000000000000" pitchFamily="2" charset="2"/>
        <a:buChar char="§"/>
        <a:defRPr sz="1100" kern="1200" baseline="0">
          <a:solidFill>
            <a:schemeClr val="tx1"/>
          </a:solidFill>
          <a:effectLst/>
          <a:latin typeface="+mn-lt"/>
          <a:ea typeface="+mn-ea"/>
          <a:cs typeface="+mn-cs"/>
        </a:defRPr>
      </a:lvl8pPr>
      <a:lvl9pPr marL="3017520" indent="-256032" algn="l" defTabSz="685800" rtl="0" eaLnBrk="1" latinLnBrk="0" hangingPunct="1">
        <a:lnSpc>
          <a:spcPct val="120000"/>
        </a:lnSpc>
        <a:spcBef>
          <a:spcPts val="375"/>
        </a:spcBef>
        <a:spcAft>
          <a:spcPts val="450"/>
        </a:spcAft>
        <a:buClr>
          <a:schemeClr val="accent6"/>
        </a:buClr>
        <a:buSzPct val="90000"/>
        <a:buFont typeface="Wingdings" panose="05000000000000000000" pitchFamily="2" charset="2"/>
        <a:buChar char="§"/>
        <a:defRPr sz="1100" kern="1200">
          <a:solidFill>
            <a:schemeClr val="tx1"/>
          </a:solidFill>
          <a:effectLst/>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516A56-FC6D-0F42-2183-396002732ED1}"/>
              </a:ext>
            </a:extLst>
          </p:cNvPr>
          <p:cNvSpPr>
            <a:spLocks noGrp="1"/>
          </p:cNvSpPr>
          <p:nvPr>
            <p:ph type="ctrTitle"/>
          </p:nvPr>
        </p:nvSpPr>
        <p:spPr>
          <a:xfrm>
            <a:off x="938151" y="3800104"/>
            <a:ext cx="5159255" cy="2671948"/>
          </a:xfrm>
        </p:spPr>
        <p:txBody>
          <a:bodyPr>
            <a:normAutofit fontScale="90000"/>
          </a:bodyPr>
          <a:lstStyle/>
          <a:p>
            <a:r>
              <a:rPr lang="en-US" dirty="0"/>
              <a:t>Single Responsibility </a:t>
            </a:r>
            <a:br>
              <a:rPr lang="en-US" dirty="0"/>
            </a:br>
            <a:r>
              <a:rPr lang="en-US" dirty="0"/>
              <a:t>Principle (SRP)</a:t>
            </a:r>
            <a:br>
              <a:rPr lang="en-US" dirty="0"/>
            </a:br>
            <a:br>
              <a:rPr lang="en-US" dirty="0"/>
            </a:br>
            <a:r>
              <a:rPr lang="en-US" sz="2200" b="1" dirty="0"/>
              <a:t>The 'S' in SOLID</a:t>
            </a:r>
            <a:br>
              <a:rPr lang="en-US" sz="2200" b="1" dirty="0"/>
            </a:br>
            <a:r>
              <a:rPr lang="en-US" sz="2200" i="1" dirty="0"/>
              <a:t>Cohesion, Coupling, and Responsibility</a:t>
            </a:r>
            <a:br>
              <a:rPr lang="en-US" sz="2200" i="1" dirty="0"/>
            </a:br>
            <a:endParaRPr lang="en-US" dirty="0"/>
          </a:p>
        </p:txBody>
      </p:sp>
      <p:sp>
        <p:nvSpPr>
          <p:cNvPr id="3" name="Subtitle 2">
            <a:extLst>
              <a:ext uri="{FF2B5EF4-FFF2-40B4-BE49-F238E27FC236}">
                <a16:creationId xmlns:a16="http://schemas.microsoft.com/office/drawing/2014/main" id="{66A48AD9-5F11-E83E-2901-CCD38995B771}"/>
              </a:ext>
            </a:extLst>
          </p:cNvPr>
          <p:cNvSpPr>
            <a:spLocks noGrp="1"/>
          </p:cNvSpPr>
          <p:nvPr>
            <p:ph type="subTitle" idx="1"/>
          </p:nvPr>
        </p:nvSpPr>
        <p:spPr/>
        <p:txBody>
          <a:bodyPr>
            <a:normAutofit lnSpcReduction="10000"/>
          </a:bodyPr>
          <a:lstStyle/>
          <a:p>
            <a:r>
              <a:rPr lang="en-US" dirty="0"/>
              <a:t>SWE 4743: </a:t>
            </a:r>
            <a:br>
              <a:rPr lang="en-US" dirty="0"/>
            </a:br>
            <a:r>
              <a:rPr lang="en-US" dirty="0"/>
              <a:t>Object-Oriented Design </a:t>
            </a:r>
            <a:br>
              <a:rPr lang="en-US" dirty="0"/>
            </a:br>
            <a:br>
              <a:rPr lang="en-US" dirty="0"/>
            </a:br>
            <a:r>
              <a:rPr lang="en-US" dirty="0"/>
              <a:t>Jeff Adkisson</a:t>
            </a:r>
          </a:p>
        </p:txBody>
      </p:sp>
    </p:spTree>
    <p:extLst>
      <p:ext uri="{BB962C8B-B14F-4D97-AF65-F5344CB8AC3E}">
        <p14:creationId xmlns:p14="http://schemas.microsoft.com/office/powerpoint/2010/main" val="16352441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3445EC-5B27-6C3B-E728-DF9CB64984A0}"/>
              </a:ext>
            </a:extLst>
          </p:cNvPr>
          <p:cNvSpPr>
            <a:spLocks noGrp="1"/>
          </p:cNvSpPr>
          <p:nvPr>
            <p:ph type="title"/>
          </p:nvPr>
        </p:nvSpPr>
        <p:spPr/>
        <p:txBody>
          <a:bodyPr/>
          <a:lstStyle/>
          <a:p>
            <a:r>
              <a:rPr lang="en-US" dirty="0"/>
              <a:t>Lecture Material</a:t>
            </a:r>
          </a:p>
        </p:txBody>
      </p:sp>
      <p:sp>
        <p:nvSpPr>
          <p:cNvPr id="3" name="Content Placeholder 2">
            <a:extLst>
              <a:ext uri="{FF2B5EF4-FFF2-40B4-BE49-F238E27FC236}">
                <a16:creationId xmlns:a16="http://schemas.microsoft.com/office/drawing/2014/main" id="{50003F46-698E-4FE1-8397-67C3B676A5AA}"/>
              </a:ext>
            </a:extLst>
          </p:cNvPr>
          <p:cNvSpPr>
            <a:spLocks noGrp="1"/>
          </p:cNvSpPr>
          <p:nvPr>
            <p:ph idx="1"/>
          </p:nvPr>
        </p:nvSpPr>
        <p:spPr/>
        <p:txBody>
          <a:bodyPr>
            <a:normAutofit/>
          </a:bodyPr>
          <a:lstStyle/>
          <a:p>
            <a:pPr marL="0" indent="0">
              <a:buNone/>
            </a:pPr>
            <a:r>
              <a:rPr lang="en-US" sz="2100" dirty="0"/>
              <a:t>See </a:t>
            </a:r>
            <a:r>
              <a:rPr lang="en-US" sz="2100" b="1" dirty="0"/>
              <a:t>04-single-responsibility-principle.md</a:t>
            </a:r>
            <a:r>
              <a:rPr lang="en-US" sz="2100" dirty="0"/>
              <a:t> in the Presentations folder for the detailed lecture material.</a:t>
            </a:r>
          </a:p>
          <a:p>
            <a:pPr marL="0" indent="0">
              <a:buNone/>
            </a:pPr>
            <a:r>
              <a:rPr lang="en-US" sz="2100" dirty="0"/>
              <a:t>This slide deck is a bare-bones AI-generated summary of the detailed source material.</a:t>
            </a:r>
          </a:p>
        </p:txBody>
      </p:sp>
    </p:spTree>
    <p:extLst>
      <p:ext uri="{BB962C8B-B14F-4D97-AF65-F5344CB8AC3E}">
        <p14:creationId xmlns:p14="http://schemas.microsoft.com/office/powerpoint/2010/main" val="5865693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Introducing SOLID</a:t>
            </a:r>
          </a:p>
        </p:txBody>
      </p:sp>
      <p:sp>
        <p:nvSpPr>
          <p:cNvPr id="3" name="Content Placeholder 2"/>
          <p:cNvSpPr>
            <a:spLocks noGrp="1"/>
          </p:cNvSpPr>
          <p:nvPr>
            <p:ph idx="1"/>
          </p:nvPr>
        </p:nvSpPr>
        <p:spPr/>
        <p:txBody>
          <a:bodyPr/>
          <a:lstStyle/>
          <a:p>
            <a:r>
              <a:t>Foundational object-oriented design principles</a:t>
            </a:r>
          </a:p>
          <a:p>
            <a:r>
              <a:t>Popularized by Robert C. Martin</a:t>
            </a:r>
          </a:p>
          <a:p>
            <a:r>
              <a:t>Focus on managing long-term change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Designing for Change</a:t>
            </a:r>
          </a:p>
        </p:txBody>
      </p:sp>
      <p:sp>
        <p:nvSpPr>
          <p:cNvPr id="3" name="Content Placeholder 2"/>
          <p:cNvSpPr>
            <a:spLocks noGrp="1"/>
          </p:cNvSpPr>
          <p:nvPr>
            <p:ph idx="1"/>
          </p:nvPr>
        </p:nvSpPr>
        <p:spPr/>
        <p:txBody>
          <a:bodyPr/>
          <a:lstStyle/>
          <a:p>
            <a:r>
              <a:t>Architecture exists to support change</a:t>
            </a:r>
          </a:p>
          <a:p>
            <a:r>
              <a:t>Code can run without architecture</a:t>
            </a:r>
          </a:p>
          <a:p>
            <a:r>
              <a:t>Good architecture reduces change friction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SRP: The Cornerstone of SOLID</a:t>
            </a:r>
          </a:p>
        </p:txBody>
      </p:sp>
      <p:sp>
        <p:nvSpPr>
          <p:cNvPr id="3" name="Content Placeholder 2"/>
          <p:cNvSpPr>
            <a:spLocks noGrp="1"/>
          </p:cNvSpPr>
          <p:nvPr>
            <p:ph idx="1"/>
          </p:nvPr>
        </p:nvSpPr>
        <p:spPr/>
        <p:txBody>
          <a:bodyPr/>
          <a:lstStyle/>
          <a:p>
            <a:r>
              <a:t>SRP underpins all other SOLID principles</a:t>
            </a:r>
          </a:p>
          <a:p>
            <a:r>
              <a:t>Defines responsibility boundaries</a:t>
            </a:r>
          </a:p>
          <a:p>
            <a:r>
              <a:t>Focuses on why code changes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Original Definition of SRP</a:t>
            </a:r>
          </a:p>
        </p:txBody>
      </p:sp>
      <p:sp>
        <p:nvSpPr>
          <p:cNvPr id="3" name="Content Placeholder 2"/>
          <p:cNvSpPr>
            <a:spLocks noGrp="1"/>
          </p:cNvSpPr>
          <p:nvPr>
            <p:ph idx="1"/>
          </p:nvPr>
        </p:nvSpPr>
        <p:spPr/>
        <p:txBody>
          <a:bodyPr/>
          <a:lstStyle/>
          <a:p>
            <a:r>
              <a:t>One reason to change</a:t>
            </a:r>
          </a:p>
          <a:p>
            <a:r>
              <a:t>Simple but ambiguous</a:t>
            </a:r>
          </a:p>
          <a:p>
            <a:r>
              <a:t>Led to inconsistent interpretations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Redefining Responsibility with Actors</a:t>
            </a:r>
          </a:p>
        </p:txBody>
      </p:sp>
      <p:sp>
        <p:nvSpPr>
          <p:cNvPr id="3" name="Content Placeholder 2"/>
          <p:cNvSpPr>
            <a:spLocks noGrp="1"/>
          </p:cNvSpPr>
          <p:nvPr>
            <p:ph idx="1"/>
          </p:nvPr>
        </p:nvSpPr>
        <p:spPr/>
        <p:txBody>
          <a:bodyPr/>
          <a:lstStyle/>
          <a:p>
            <a:r>
              <a:t>Actors represent sources of change</a:t>
            </a:r>
          </a:p>
          <a:p>
            <a:r>
              <a:t>Conceptual, not technical</a:t>
            </a:r>
          </a:p>
          <a:p>
            <a:r>
              <a:t>One module serves one actor</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Real Risk of SRP Violations</a:t>
            </a:r>
          </a:p>
        </p:txBody>
      </p:sp>
      <p:sp>
        <p:nvSpPr>
          <p:cNvPr id="3" name="Content Placeholder 2"/>
          <p:cNvSpPr>
            <a:spLocks noGrp="1"/>
          </p:cNvSpPr>
          <p:nvPr>
            <p:ph idx="1"/>
          </p:nvPr>
        </p:nvSpPr>
        <p:spPr/>
        <p:txBody>
          <a:bodyPr/>
          <a:lstStyle/>
          <a:p>
            <a:r>
              <a:t>Hidden coupling</a:t>
            </a:r>
          </a:p>
          <a:p>
            <a:r>
              <a:t>Fragile code</a:t>
            </a:r>
          </a:p>
          <a:p>
            <a:r>
              <a:t>Unintended side effects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Change Amplification</a:t>
            </a:r>
          </a:p>
        </p:txBody>
      </p:sp>
      <p:sp>
        <p:nvSpPr>
          <p:cNvPr id="3" name="Content Placeholder 2"/>
          <p:cNvSpPr>
            <a:spLocks noGrp="1"/>
          </p:cNvSpPr>
          <p:nvPr>
            <p:ph idx="1"/>
          </p:nvPr>
        </p:nvSpPr>
        <p:spPr/>
        <p:txBody>
          <a:bodyPr/>
          <a:lstStyle/>
          <a:p>
            <a:r>
              <a:t>Small changes cause widespread impact</a:t>
            </a:r>
          </a:p>
          <a:p>
            <a:r>
              <a:t>Multiple teams affected</a:t>
            </a:r>
          </a:p>
          <a:p>
            <a:r>
              <a:t>Indicates broken boundaries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SRP vs DRY</a:t>
            </a:r>
          </a:p>
        </p:txBody>
      </p:sp>
      <p:sp>
        <p:nvSpPr>
          <p:cNvPr id="3" name="Content Placeholder 2"/>
          <p:cNvSpPr>
            <a:spLocks noGrp="1"/>
          </p:cNvSpPr>
          <p:nvPr>
            <p:ph idx="1"/>
          </p:nvPr>
        </p:nvSpPr>
        <p:spPr/>
        <p:txBody>
          <a:bodyPr/>
          <a:lstStyle/>
          <a:p>
            <a:r>
              <a:t>DRY reduces duplication</a:t>
            </a:r>
          </a:p>
          <a:p>
            <a:r>
              <a:t>SRP isolates reasons to change</a:t>
            </a:r>
          </a:p>
          <a:p>
            <a:r>
              <a:t>Apply SRP before DRY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Cohesion and Coupling</a:t>
            </a:r>
          </a:p>
        </p:txBody>
      </p:sp>
      <p:sp>
        <p:nvSpPr>
          <p:cNvPr id="3" name="Content Placeholder 2"/>
          <p:cNvSpPr>
            <a:spLocks noGrp="1"/>
          </p:cNvSpPr>
          <p:nvPr>
            <p:ph idx="1"/>
          </p:nvPr>
        </p:nvSpPr>
        <p:spPr/>
        <p:txBody>
          <a:bodyPr/>
          <a:lstStyle/>
          <a:p>
            <a:r>
              <a:t>High cohesion groups related behavior</a:t>
            </a:r>
          </a:p>
          <a:p>
            <a:r>
              <a:t>Low coupling limits dependencies</a:t>
            </a:r>
          </a:p>
          <a:p>
            <a:r>
              <a:t>SRP drives balance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SRP Across Levels of Code Organization</a:t>
            </a:r>
          </a:p>
        </p:txBody>
      </p:sp>
      <p:sp>
        <p:nvSpPr>
          <p:cNvPr id="3" name="Content Placeholder 2"/>
          <p:cNvSpPr>
            <a:spLocks noGrp="1"/>
          </p:cNvSpPr>
          <p:nvPr>
            <p:ph idx="1"/>
          </p:nvPr>
        </p:nvSpPr>
        <p:spPr/>
        <p:txBody>
          <a:bodyPr/>
          <a:lstStyle/>
          <a:p>
            <a:r>
              <a:t>Applies at all levels</a:t>
            </a:r>
          </a:p>
          <a:p>
            <a:r>
              <a:t>Classes to systems</a:t>
            </a:r>
          </a:p>
          <a:p>
            <a:r>
              <a:t>Fractal principle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Screaming Architecture</a:t>
            </a:r>
          </a:p>
        </p:txBody>
      </p:sp>
      <p:sp>
        <p:nvSpPr>
          <p:cNvPr id="3" name="Content Placeholder 2"/>
          <p:cNvSpPr>
            <a:spLocks noGrp="1"/>
          </p:cNvSpPr>
          <p:nvPr>
            <p:ph idx="1"/>
          </p:nvPr>
        </p:nvSpPr>
        <p:spPr/>
        <p:txBody>
          <a:bodyPr/>
          <a:lstStyle/>
          <a:p>
            <a:r>
              <a:t>Architecture communicates intent</a:t>
            </a:r>
          </a:p>
          <a:p>
            <a:r>
              <a:t>Business features over frameworks</a:t>
            </a:r>
          </a:p>
          <a:p>
            <a:r>
              <a:t>Improves comprehension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Feature-First Layered Architecture</a:t>
            </a:r>
          </a:p>
        </p:txBody>
      </p:sp>
      <p:sp>
        <p:nvSpPr>
          <p:cNvPr id="3" name="Content Placeholder 2"/>
          <p:cNvSpPr>
            <a:spLocks noGrp="1"/>
          </p:cNvSpPr>
          <p:nvPr>
            <p:ph idx="1"/>
          </p:nvPr>
        </p:nvSpPr>
        <p:spPr/>
        <p:txBody>
          <a:bodyPr/>
          <a:lstStyle/>
          <a:p>
            <a:r>
              <a:t>Organize by feature first</a:t>
            </a:r>
          </a:p>
          <a:p>
            <a:r>
              <a:t>Layer internally where useful</a:t>
            </a:r>
          </a:p>
          <a:p>
            <a:r>
              <a:t>Supports evolution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SRP Is Hard to Apply</a:t>
            </a:r>
          </a:p>
        </p:txBody>
      </p:sp>
      <p:sp>
        <p:nvSpPr>
          <p:cNvPr id="3" name="Content Placeholder 2"/>
          <p:cNvSpPr>
            <a:spLocks noGrp="1"/>
          </p:cNvSpPr>
          <p:nvPr>
            <p:ph idx="1"/>
          </p:nvPr>
        </p:nvSpPr>
        <p:spPr/>
        <p:txBody>
          <a:bodyPr/>
          <a:lstStyle/>
          <a:p>
            <a:r>
              <a:t>Not visible in syntax</a:t>
            </a:r>
          </a:p>
          <a:p>
            <a:r>
              <a:t>Problems appear over time</a:t>
            </a:r>
          </a:p>
          <a:p>
            <a:r>
              <a:t>Requires judgment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p:txBody>
          <a:bodyPr/>
          <a:lstStyle/>
          <a:p>
            <a:r>
              <a:t>SRP manages change</a:t>
            </a:r>
          </a:p>
          <a:p>
            <a:r>
              <a:t>Aligns code with organization</a:t>
            </a:r>
          </a:p>
          <a:p>
            <a:r>
              <a:t>Enables sustainable systems</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adison">
  <a:themeElements>
    <a:clrScheme name="Madison">
      <a:dk1>
        <a:sysClr val="windowText" lastClr="000000"/>
      </a:dk1>
      <a:lt1>
        <a:sysClr val="window" lastClr="FFFFFF"/>
      </a:lt1>
      <a:dk2>
        <a:srgbClr val="1F2D29"/>
      </a:dk2>
      <a:lt2>
        <a:srgbClr val="C5FAEB"/>
      </a:lt2>
      <a:accent1>
        <a:srgbClr val="A1D68B"/>
      </a:accent1>
      <a:accent2>
        <a:srgbClr val="5EC795"/>
      </a:accent2>
      <a:accent3>
        <a:srgbClr val="4DADCF"/>
      </a:accent3>
      <a:accent4>
        <a:srgbClr val="CDB756"/>
      </a:accent4>
      <a:accent5>
        <a:srgbClr val="E29C36"/>
      </a:accent5>
      <a:accent6>
        <a:srgbClr val="8EC0C1"/>
      </a:accent6>
      <a:hlink>
        <a:srgbClr val="6D9D9B"/>
      </a:hlink>
      <a:folHlink>
        <a:srgbClr val="6D8583"/>
      </a:folHlink>
    </a:clrScheme>
    <a:fontScheme name="Madison">
      <a:majorFont>
        <a:latin typeface="Arial" panose="020B0604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dison">
      <a:fillStyleLst>
        <a:solidFill>
          <a:schemeClr val="phClr"/>
        </a:solidFill>
        <a:gradFill rotWithShape="1">
          <a:gsLst>
            <a:gs pos="0">
              <a:schemeClr val="phClr">
                <a:tint val="48000"/>
                <a:alpha val="88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blipFill rotWithShape="1">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Madison" id="{025CB5FB-2DD3-45EE-B6F0-CC461540EB19}" vid="{6AC10936-2DFC-4054-9ADF-B5E2C5F8619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Madison</Template>
  <TotalTime>6</TotalTime>
  <Words>601</Words>
  <Application>Microsoft Macintosh PowerPoint</Application>
  <PresentationFormat>On-screen Show (4:3)</PresentationFormat>
  <Paragraphs>75</Paragraphs>
  <Slides>16</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MS Shell Dlg 2</vt:lpstr>
      <vt:lpstr>Wingdings</vt:lpstr>
      <vt:lpstr>Wingdings 3</vt:lpstr>
      <vt:lpstr>Madison</vt:lpstr>
      <vt:lpstr>Single Responsibility  Principle (SRP)  The 'S' in SOLID Cohesion, Coupling, and Responsibility </vt:lpstr>
      <vt:lpstr>Lecture Material</vt:lpstr>
      <vt:lpstr>Introducing SOLID</vt:lpstr>
      <vt:lpstr>Designing for Change</vt:lpstr>
      <vt:lpstr>SRP: The Cornerstone of SOLID</vt:lpstr>
      <vt:lpstr>The Original Definition of SRP</vt:lpstr>
      <vt:lpstr>Redefining Responsibility with Actors</vt:lpstr>
      <vt:lpstr>The Real Risk of SRP Violations</vt:lpstr>
      <vt:lpstr>Change Amplification</vt:lpstr>
      <vt:lpstr>SRP vs DRY</vt:lpstr>
      <vt:lpstr>Cohesion and Coupling</vt:lpstr>
      <vt:lpstr>SRP Across Levels of Code Organization</vt:lpstr>
      <vt:lpstr>Screaming Architecture</vt:lpstr>
      <vt:lpstr>Feature-First Layered Architecture</vt:lpstr>
      <vt:lpstr>Why SRP Is Hard to Apply</vt:lpstr>
      <vt:lpstr>Conclusion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Jeff Adkisson</cp:lastModifiedBy>
  <cp:revision>3</cp:revision>
  <dcterms:created xsi:type="dcterms:W3CDTF">2013-01-27T09:14:16Z</dcterms:created>
  <dcterms:modified xsi:type="dcterms:W3CDTF">2026-01-28T06:11:32Z</dcterms:modified>
  <cp:category/>
</cp:coreProperties>
</file>