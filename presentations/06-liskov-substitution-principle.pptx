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11"/>
    <p:restoredTop sz="94694"/>
  </p:normalViewPr>
  <p:slideViewPr>
    <p:cSldViewPr snapToGrid="0" snapToObjects="1">
      <p:cViewPr varScale="1">
        <p:scale>
          <a:sx n="107" d="100"/>
          <a:sy n="107" d="100"/>
        </p:scale>
        <p:origin x="480" y="4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07534" y="0"/>
            <a:ext cx="5898825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6906359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58856" y="3428999"/>
            <a:ext cx="4138550" cy="2268559"/>
          </a:xfrm>
        </p:spPr>
        <p:txBody>
          <a:bodyPr anchor="t">
            <a:normAutofit/>
          </a:bodyPr>
          <a:lstStyle>
            <a:lvl1pPr algn="r"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1292" y="2268787"/>
            <a:ext cx="3966114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600" b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1641440" y="3262168"/>
            <a:ext cx="3117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2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2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9187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5764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7405" y="3199028"/>
            <a:ext cx="5967420" cy="1372971"/>
          </a:xfrm>
        </p:spPr>
        <p:txBody>
          <a:bodyPr anchor="t">
            <a:normAutofit/>
          </a:bodyPr>
          <a:lstStyle>
            <a:lvl1pPr algn="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1131" y="2272143"/>
            <a:ext cx="5803294" cy="926885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1644924" y="3023993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6098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1426" y="805818"/>
            <a:ext cx="5882780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65406" y="2056800"/>
            <a:ext cx="2855547" cy="3993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4679" y="2056800"/>
            <a:ext cx="2859527" cy="3993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" name="TextBox 18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2455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" name="TextBox 23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3589" y="805818"/>
            <a:ext cx="5880617" cy="10770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63589" y="2054563"/>
            <a:ext cx="2857364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 cap="none" baseline="0">
                <a:solidFill>
                  <a:schemeClr val="accent6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62510" y="2851330"/>
            <a:ext cx="2858443" cy="3198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84679" y="2054563"/>
            <a:ext cx="285952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 cap="none" baseline="0">
                <a:solidFill>
                  <a:schemeClr val="accent6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84680" y="2851330"/>
            <a:ext cx="2859526" cy="3198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40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TextBox 15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657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743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" name="TextBox 21"/>
          <p:cNvSpPr txBox="1"/>
          <p:nvPr/>
        </p:nvSpPr>
        <p:spPr>
          <a:xfrm>
            <a:off x="1179466" y="1127642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83" y="1296618"/>
            <a:ext cx="2120703" cy="1889075"/>
          </a:xfrm>
        </p:spPr>
        <p:txBody>
          <a:bodyPr anchor="b">
            <a:normAutofit/>
          </a:bodyPr>
          <a:lstStyle>
            <a:lvl1pPr algn="l"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8538" y="805818"/>
            <a:ext cx="375566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5982" y="3186155"/>
            <a:ext cx="2120703" cy="2386397"/>
          </a:xfrm>
        </p:spPr>
        <p:txBody>
          <a:bodyPr>
            <a:normAutofit/>
          </a:bodyPr>
          <a:lstStyle>
            <a:lvl1pPr marL="0" indent="0" algn="l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444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TextBox 12"/>
          <p:cNvSpPr txBox="1"/>
          <p:nvPr/>
        </p:nvSpPr>
        <p:spPr>
          <a:xfrm>
            <a:off x="1179466" y="1127642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82987" y="3229"/>
            <a:ext cx="3727769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6671" y="1296618"/>
            <a:ext cx="2603212" cy="188630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5984" y="3182928"/>
            <a:ext cx="2603794" cy="2386394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421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TextBox 16"/>
          <p:cNvSpPr txBox="1"/>
          <p:nvPr/>
        </p:nvSpPr>
        <p:spPr>
          <a:xfrm>
            <a:off x="1651862" y="636541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8857" y="808057"/>
            <a:ext cx="5885350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20792" y="2049878"/>
            <a:ext cx="5723414" cy="40000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001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007534" y="0"/>
            <a:ext cx="731556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832116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TextBox 22"/>
          <p:cNvSpPr txBox="1"/>
          <p:nvPr/>
        </p:nvSpPr>
        <p:spPr>
          <a:xfrm rot="5400000">
            <a:off x="7688343" y="480678"/>
            <a:ext cx="311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6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9317" y="805818"/>
            <a:ext cx="99488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64598" y="970410"/>
            <a:ext cx="4715441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498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060" y="2912532"/>
            <a:ext cx="7772939" cy="394546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998"/>
          <a:stretch/>
        </p:blipFill>
        <p:spPr>
          <a:xfrm>
            <a:off x="1" y="0"/>
            <a:ext cx="9143999" cy="6858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61317" y="808057"/>
            <a:ext cx="587801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6236" y="2049878"/>
            <a:ext cx="5713092" cy="40000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28294" y="5272451"/>
            <a:ext cx="2662729" cy="179188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58177" y="3658900"/>
            <a:ext cx="5885352" cy="183663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2136" y="164594"/>
            <a:ext cx="638312" cy="322850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6859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685800" rtl="0" eaLnBrk="1" latinLnBrk="0" hangingPunct="1">
        <a:lnSpc>
          <a:spcPct val="90000"/>
        </a:lnSpc>
        <a:spcBef>
          <a:spcPct val="0"/>
        </a:spcBef>
        <a:buNone/>
        <a:defRPr sz="28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58366" indent="-258366" algn="l" defTabSz="685800" rtl="0" eaLnBrk="1" latinLnBrk="0" hangingPunct="1">
        <a:lnSpc>
          <a:spcPct val="120000"/>
        </a:lnSpc>
        <a:spcBef>
          <a:spcPts val="750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96504" indent="-253604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944166" indent="-258366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82304" indent="-253604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629966" indent="-258366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975104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40280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670048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017520" indent="-256032" algn="l" defTabSz="685800" rtl="0" eaLnBrk="1" latinLnBrk="0" hangingPunct="1">
        <a:lnSpc>
          <a:spcPct val="120000"/>
        </a:lnSpc>
        <a:spcBef>
          <a:spcPts val="375"/>
        </a:spcBef>
        <a:spcAft>
          <a:spcPts val="45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1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16A56-FC6D-0F42-2183-396002732E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58856" y="3740727"/>
            <a:ext cx="4138550" cy="2268187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Liskov</a:t>
            </a:r>
            <a:br>
              <a:rPr lang="en-US" dirty="0"/>
            </a:br>
            <a:r>
              <a:rPr lang="en-US" dirty="0"/>
              <a:t>Substitution</a:t>
            </a:r>
            <a:br>
              <a:rPr lang="en-US" dirty="0"/>
            </a:br>
            <a:r>
              <a:rPr lang="en-US" dirty="0"/>
              <a:t>Principle</a:t>
            </a:r>
            <a:br>
              <a:rPr lang="en-US" dirty="0"/>
            </a:br>
            <a:br>
              <a:rPr lang="en-US" sz="1600" dirty="0"/>
            </a:br>
            <a:r>
              <a:rPr lang="en-US" sz="1800" i="1" dirty="0"/>
              <a:t>Designing Correct Subtypes </a:t>
            </a:r>
            <a:br>
              <a:rPr lang="en-US" sz="1800" i="1" dirty="0"/>
            </a:br>
            <a:r>
              <a:rPr lang="en-US" sz="1800" i="1" dirty="0"/>
              <a:t>Without Surprise</a:t>
            </a:r>
            <a:br>
              <a:rPr lang="en-US" sz="1800" i="1" dirty="0"/>
            </a:br>
            <a:endParaRPr lang="en-US" i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48AD9-5F11-E83E-2901-CCD38995B7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SWE 4743: </a:t>
            </a:r>
            <a:br>
              <a:rPr lang="en-US" dirty="0"/>
            </a:br>
            <a:r>
              <a:rPr lang="en-US" dirty="0"/>
              <a:t>Object-Oriented Design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Jeff Adkisson</a:t>
            </a:r>
          </a:p>
        </p:txBody>
      </p:sp>
    </p:spTree>
    <p:extLst>
      <p:ext uri="{BB962C8B-B14F-4D97-AF65-F5344CB8AC3E}">
        <p14:creationId xmlns:p14="http://schemas.microsoft.com/office/powerpoint/2010/main" val="1635244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Designing Correct Subtypes Without Surprise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The Liskov Substitution Principle is about **trust**. When a client uses a base type, it should not need to know—or care—which subtype it receives.</a:t>
            </a:r>
          </a:p>
          <a:p>
            <a:pPr lvl="1"/>
            <a:r>
              <a:t>Subtypes must honor the **semantic promises** of their base types, not reinterpret them.</a:t>
            </a:r>
          </a:p>
          <a:p>
            <a:pPr lvl="1"/>
            <a:r>
              <a:t>When they do not, inheritance becomes a source of bugs and surprises rather than a means of reuse.</a:t>
            </a:r>
          </a:p>
          <a:p>
            <a:pPr lvl="1"/>
            <a:r>
              <a:t>#### What is "Semantic"?</a:t>
            </a:r>
          </a:p>
          <a:p>
            <a:pPr lvl="1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[The Liskov Substitution Principle (LSP)](#the-liskov-substitution-principle-lsp)</a:t>
            </a:r>
          </a:p>
          <a:p>
            <a:pPr lvl="1"/>
            <a:r>
              <a:t>[Designing Correct Subtypes Without Surprise](#designing-correct-subtypes-without-surprise)</a:t>
            </a:r>
          </a:p>
          <a:p>
            <a:pPr lvl="1"/>
            <a:r>
              <a:t>[Positioning LSP Within SOLID](#positioning-lsp-within-solid)</a:t>
            </a:r>
          </a:p>
          <a:p>
            <a:pPr lvl="1"/>
            <a:r>
              <a:t>[The Original Definition of LSP](#the-original-definition-of-lsp)</a:t>
            </a:r>
          </a:p>
          <a:p>
            <a:pPr lvl="1"/>
            <a:r>
              <a:t>[What LSP Is Really About](#what-lsp-is-really-about)</a:t>
            </a:r>
          </a:p>
          <a:p>
            <a:pPr lvl="1"/>
            <a:r>
              <a:t>[LSP as a Contract, Not Inheritance](#lsp-as-a-contract-not-inheritance)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Positioning LSP Within SOLID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The **Liskov Substitution Principle (LSP)** is the principle that most clearly explains *why bad inheritance hurts so badly*.</a:t>
            </a:r>
          </a:p>
          <a:p>
            <a:pPr lvl="1"/>
            <a:r>
              <a:t>If **SRP** is about *why code changes*&lt;br&gt;and **OCP** is about *where changes should land*&lt;br&gt;</a:t>
            </a:r>
          </a:p>
          <a:p>
            <a:pPr lvl="1"/>
            <a:r>
              <a:t>then **LSP** is about *whether abstractions can be trusted at all*.</a:t>
            </a:r>
          </a:p>
          <a:p>
            <a:pPr lvl="1"/>
            <a:r>
              <a:t>Without LSP:</a:t>
            </a:r>
          </a:p>
          <a:p>
            <a:pPr lvl="1"/>
            <a:r>
              <a:t>Polymorphism becomes dangerous</a:t>
            </a:r>
          </a:p>
          <a:p>
            <a:pPr lvl="1"/>
            <a:r>
              <a:t>Abstractions can mislead when their guarantees are unclear.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Original Definition of LSP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Barbara Liskov (1987):</a:t>
            </a:r>
          </a:p>
          <a:p>
            <a:pPr lvl="1"/>
            <a:r>
              <a:t>In plain language:</a:t>
            </a:r>
          </a:p>
          <a:p>
            <a:pPr lvl="1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LSP Is Really About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LSP is **not** about:</a:t>
            </a:r>
          </a:p>
          <a:p>
            <a:pPr lvl="1"/>
            <a:r>
              <a:t>Syntax</a:t>
            </a:r>
          </a:p>
          <a:p>
            <a:pPr lvl="1"/>
            <a:r>
              <a:t>Method signatures</a:t>
            </a:r>
          </a:p>
          <a:p>
            <a:pPr lvl="1"/>
            <a:r>
              <a:t>Inheritance trees</a:t>
            </a:r>
          </a:p>
          <a:p>
            <a:pPr lvl="1"/>
            <a:r>
              <a:t>LSP *is* about:</a:t>
            </a:r>
          </a:p>
          <a:p>
            <a:pPr lvl="1"/>
            <a:r>
              <a:t>**Behavior**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LSP as a Contract, Not 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Inheritance is a *mechanism*.</a:t>
            </a:r>
          </a:p>
          <a:p>
            <a:pPr lvl="1"/>
            <a:r>
              <a:t>LSP is a *promise*.</a:t>
            </a:r>
          </a:p>
          <a:p>
            <a:pPr lvl="1"/>
            <a:r>
              <a:t>classDiagram</a:t>
            </a:r>
          </a:p>
          <a:p>
            <a:pPr lvl="1"/>
            <a:r>
              <a:t>direction TB</a:t>
            </a:r>
          </a:p>
          <a:p>
            <a:pPr lvl="1"/>
            <a:r>
              <a:t>class BaseType {</a:t>
            </a:r>
          </a:p>
          <a:p>
            <a:pPr lvl="1"/>
            <a:r>
              <a:t>+operation()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Classic Bad Example: Rectangle / Square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### Base Class</a:t>
            </a:r>
          </a:p>
          <a:p>
            <a:pPr lvl="1"/>
            <a:r>
              <a:t>public class Rectangle</a:t>
            </a:r>
          </a:p>
          <a:p>
            <a:pPr lvl="1"/>
            <a:r>
              <a:t>{</a:t>
            </a:r>
          </a:p>
          <a:p>
            <a:pPr lvl="1"/>
            <a:r>
              <a:t>public virtual int Width { get; set; }</a:t>
            </a:r>
          </a:p>
          <a:p>
            <a:pPr lvl="1"/>
            <a:r>
              <a:t>public virtual int Height { get; set; }</a:t>
            </a:r>
          </a:p>
          <a:p>
            <a:pPr lvl="1"/>
            <a:r>
              <a:t>public int Area() =&gt; Width * Height;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the Rectangle Example Fails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base class contract implies:</a:t>
            </a:r>
          </a:p>
          <a:p>
            <a:pPr lvl="1"/>
            <a:r>
              <a:t>Width and height are independent</a:t>
            </a:r>
          </a:p>
          <a:p>
            <a:pPr lvl="1"/>
            <a:r>
              <a:t>Setting one does not affect the other</a:t>
            </a:r>
          </a:p>
          <a:p>
            <a:pPr lvl="1"/>
            <a:r>
              <a:t>**`Square` violates that contract**.</a:t>
            </a:r>
          </a:p>
          <a:p>
            <a:pPr lvl="1"/>
            <a:r>
              <a:t>Inheritance was legal.&lt;br&gt;Substitution was not.</a:t>
            </a:r>
          </a:p>
          <a:p>
            <a:pPr lvl="1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Corrected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fix is **not** clever overriding.</a:t>
            </a:r>
          </a:p>
          <a:p>
            <a:pPr lvl="1"/>
            <a:r>
              <a:t>The fix is modeling that **preserves substitutability**.</a:t>
            </a:r>
          </a:p>
          <a:p>
            <a:pPr lvl="1"/>
            <a:r>
              <a:t>classDiagram</a:t>
            </a:r>
          </a:p>
          <a:p>
            <a:pPr lvl="1"/>
            <a:r>
              <a:t>direction TB</a:t>
            </a:r>
          </a:p>
          <a:p>
            <a:pPr lvl="1"/>
            <a:r>
              <a:t>class Shape {</a:t>
            </a:r>
          </a:p>
          <a:p>
            <a:pPr lvl="1"/>
            <a:r>
              <a:t>&lt;&lt;interface&gt;&gt;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Behavioral Subtyping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subtype must:</a:t>
            </a:r>
          </a:p>
          <a:p>
            <a:pPr lvl="1"/>
            <a:r>
              <a:t>1. **Not strengthen preconditions**</a:t>
            </a:r>
          </a:p>
          <a:p>
            <a:pPr lvl="1"/>
            <a:r>
              <a:t>2. **Not weaken postconditions**</a:t>
            </a:r>
          </a:p>
          <a:p>
            <a:pPr lvl="1"/>
            <a:r>
              <a:t>3. **Preserve invariants**</a:t>
            </a:r>
          </a:p>
          <a:p>
            <a:pPr lvl="1"/>
            <a:r>
              <a:t>These rules define behavioral compatibility.</a:t>
            </a:r>
          </a:p>
          <a:p>
            <a:pPr lvl="1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Preconditions, Postconditions, and Invariants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### Preconditions</a:t>
            </a:r>
          </a:p>
          <a:p>
            <a:pPr lvl="1"/>
            <a:r>
              <a:t>What must be true *before* a method runs</a:t>
            </a:r>
          </a:p>
          <a:p>
            <a:pPr lvl="1"/>
            <a:r>
              <a:t>### Postconditions</a:t>
            </a:r>
          </a:p>
          <a:p>
            <a:pPr lvl="1"/>
            <a:r>
              <a:t>What is guaranteed *after* the method completes</a:t>
            </a:r>
          </a:p>
          <a:p>
            <a:pPr lvl="1"/>
            <a:r>
              <a:t>### Invariants</a:t>
            </a:r>
          </a:p>
          <a:p>
            <a:pPr lvl="1"/>
            <a:r>
              <a:t>What must *always* remain true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Strengthening Preconditions (Bad)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public class FileLogger</a:t>
            </a:r>
          </a:p>
          <a:p>
            <a:pPr lvl="1"/>
            <a:r>
              <a:t>{</a:t>
            </a:r>
          </a:p>
          <a:p>
            <a:pPr lvl="1"/>
            <a:r>
              <a:t>public virtual void Log(string? message)</a:t>
            </a:r>
          </a:p>
          <a:p>
            <a:pPr lvl="1"/>
            <a:r>
              <a:t>{</a:t>
            </a:r>
          </a:p>
          <a:p>
            <a:pPr lvl="1"/>
            <a:r>
              <a:t>// accepts any string</a:t>
            </a:r>
          </a:p>
          <a:p>
            <a:pPr lvl="1"/>
            <a: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Weakening Postconditions (Bad)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public class </a:t>
            </a:r>
            <a:r>
              <a:rPr dirty="0" err="1"/>
              <a:t>OrderProcessor</a:t>
            </a:r>
            <a:endParaRPr dirty="0"/>
          </a:p>
          <a:p>
            <a:pPr lvl="1"/>
            <a:r>
              <a:rPr dirty="0"/>
              <a:t>{</a:t>
            </a:r>
          </a:p>
          <a:p>
            <a:pPr lvl="1"/>
            <a:r>
              <a:rPr dirty="0"/>
              <a:t>// Contract:</a:t>
            </a:r>
          </a:p>
          <a:p>
            <a:pPr lvl="1"/>
            <a:r>
              <a:rPr dirty="0"/>
              <a:t>// - Processes the order</a:t>
            </a:r>
          </a:p>
          <a:p>
            <a:pPr lvl="1"/>
            <a:r>
              <a:rPr dirty="0"/>
              <a:t>// - Persists the result</a:t>
            </a:r>
          </a:p>
          <a:p>
            <a:pPr lvl="1"/>
            <a:r>
              <a:rPr dirty="0"/>
              <a:t>// - Returns true on success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Exception-Based LSP Violations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Throwing **new exceptions** from overrides is often an LSP violation.</a:t>
            </a:r>
          </a:p>
          <a:p>
            <a:pPr lvl="1"/>
            <a:r>
              <a:t>#### Base Class</a:t>
            </a:r>
          </a:p>
          <a:p>
            <a:pPr lvl="1"/>
            <a:r>
              <a:t>public class UserRepository</a:t>
            </a:r>
          </a:p>
          <a:p>
            <a:pPr lvl="1"/>
            <a:r>
              <a:t>{</a:t>
            </a:r>
          </a:p>
          <a:p>
            <a:pPr lvl="1"/>
            <a:r>
              <a:t>// Contract: returns null if user is not found</a:t>
            </a:r>
          </a:p>
          <a:p>
            <a:pPr lvl="1"/>
            <a:r>
              <a:t>public virtual User? FindById(Guid id)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LSP Across Abstraction Levels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LSP applies to:</a:t>
            </a:r>
          </a:p>
          <a:p>
            <a:pPr lvl="1"/>
            <a:r>
              <a:t>Classes</a:t>
            </a:r>
          </a:p>
          <a:p>
            <a:pPr lvl="1"/>
            <a:r>
              <a:t>Interfaces</a:t>
            </a:r>
          </a:p>
          <a:p>
            <a:pPr lvl="1"/>
            <a:r>
              <a:t>APIs</a:t>
            </a:r>
          </a:p>
          <a:p>
            <a:pPr lvl="1"/>
            <a:r>
              <a:t>Services</a:t>
            </a:r>
          </a:p>
          <a:p>
            <a:pPr lvl="1"/>
            <a:r>
              <a:t>Microservices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LSP and Single Responsibility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Single Responsibility makes LSP possible.</a:t>
            </a:r>
          </a:p>
          <a:p>
            <a:pPr lvl="1"/>
            <a:r>
              <a:t>If a class has multiple responsibilities:</a:t>
            </a:r>
          </a:p>
          <a:p>
            <a:pPr lvl="1"/>
            <a:r>
              <a:t>Some subtypes satisfy one responsibility</a:t>
            </a:r>
          </a:p>
          <a:p>
            <a:pPr lvl="1"/>
            <a:r>
              <a:t>Others satisfy another</a:t>
            </a:r>
          </a:p>
          <a:p>
            <a:pPr lvl="1"/>
            <a:r>
              <a:t>No subtype satisfies all</a:t>
            </a:r>
          </a:p>
          <a:p>
            <a:pPr lvl="1"/>
            <a:r>
              <a:t>Multiple responsibilities almost guarantee LSP violations.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LSP and Open-Closed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Open-Closed Principle *depends* on LSP.</a:t>
            </a:r>
          </a:p>
          <a:p>
            <a:pPr lvl="1"/>
            <a:r>
              <a:t>You cannot safely extend behavior if subtypes cannot be reliably substituted.</a:t>
            </a:r>
          </a:p>
          <a:p>
            <a:pPr lvl="1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Heuristics for LSP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Ask these questions:</a:t>
            </a:r>
          </a:p>
          <a:p>
            <a:pPr lvl="1"/>
            <a:r>
              <a:t>Would I be surprised by this behavior?</a:t>
            </a:r>
          </a:p>
          <a:p>
            <a:pPr lvl="1"/>
            <a:r>
              <a:t>Does this subtype restrict valid inputs?</a:t>
            </a:r>
          </a:p>
          <a:p>
            <a:pPr lvl="1"/>
            <a:r>
              <a:t>Does it remove guarantees?</a:t>
            </a:r>
          </a:p>
          <a:p>
            <a:pPr lvl="1"/>
            <a:r>
              <a:t>Does client code need `if (x is SubType)`?</a:t>
            </a:r>
          </a:p>
          <a:p>
            <a:pPr lvl="1"/>
            <a:r>
              <a:t>If yes → LSP is violated.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Code Smells That Signal LSP Violations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Overridden methods that throw</a:t>
            </a:r>
          </a:p>
          <a:p>
            <a:pPr lvl="1"/>
            <a:r>
              <a:t>Subtypes with unused methods</a:t>
            </a:r>
          </a:p>
          <a:p>
            <a:pPr lvl="1"/>
            <a:r>
              <a:t>Boolean flags in subclasses</a:t>
            </a:r>
          </a:p>
          <a:p>
            <a:pPr lvl="1"/>
            <a:r>
              <a:t>Client-side type checks</a:t>
            </a:r>
          </a:p>
          <a:p>
            <a:pPr lvl="1"/>
            <a:r>
              <a:t>“This works except when…”</a:t>
            </a:r>
          </a:p>
          <a:p>
            <a:pPr lvl="1"/>
            <a:r>
              <a:t>`NotImplementedException`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Conclusion: Substitutability Is Trust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LSP is about **trust**.</a:t>
            </a:r>
          </a:p>
          <a:p>
            <a:pPr lvl="1"/>
            <a:r>
              <a:t>When you depend on an abstraction:</a:t>
            </a:r>
          </a:p>
          <a:p>
            <a:pPr lvl="1"/>
            <a:r>
              <a:t>You trust its promises</a:t>
            </a:r>
          </a:p>
          <a:p>
            <a:pPr lvl="1"/>
            <a:r>
              <a:t>You assume consistency</a:t>
            </a:r>
          </a:p>
          <a:p>
            <a:pPr lvl="1"/>
            <a:r>
              <a:t>You rely on behavior, not type</a:t>
            </a:r>
          </a:p>
          <a:p>
            <a:pPr lvl="1"/>
            <a:r>
              <a:t>Breaking LSP breaks that trust.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3</TotalTime>
  <Words>782</Words>
  <Application>Microsoft Macintosh PowerPoint</Application>
  <PresentationFormat>On-screen Show (4:3)</PresentationFormat>
  <Paragraphs>130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MS Shell Dlg 2</vt:lpstr>
      <vt:lpstr>Wingdings</vt:lpstr>
      <vt:lpstr>Wingdings 3</vt:lpstr>
      <vt:lpstr>Madison</vt:lpstr>
      <vt:lpstr>Liskov Substitution Principle  Designing Correct Subtypes  Without Surprise </vt:lpstr>
      <vt:lpstr>Designing Correct Subtypes Without Surprise</vt:lpstr>
      <vt:lpstr>Table of Contents</vt:lpstr>
      <vt:lpstr>Positioning LSP Within SOLID</vt:lpstr>
      <vt:lpstr>The Original Definition of LSP</vt:lpstr>
      <vt:lpstr>What LSP Is Really About</vt:lpstr>
      <vt:lpstr>LSP as a Contract, Not Inheritance</vt:lpstr>
      <vt:lpstr>Classic Bad Example: Rectangle / Square</vt:lpstr>
      <vt:lpstr>Why the Rectangle Example Fails</vt:lpstr>
      <vt:lpstr>A Corrected Design</vt:lpstr>
      <vt:lpstr>Behavioral Subtyping Rules</vt:lpstr>
      <vt:lpstr>Preconditions, Postconditions, and Invariants</vt:lpstr>
      <vt:lpstr>Strengthening Preconditions (Bad)</vt:lpstr>
      <vt:lpstr>Weakening Postconditions (Bad)</vt:lpstr>
      <vt:lpstr>Exception-Based LSP Violations</vt:lpstr>
      <vt:lpstr>LSP Across Abstraction Levels</vt:lpstr>
      <vt:lpstr>LSP and Single Responsibility Principle</vt:lpstr>
      <vt:lpstr>LSP and Open-Closed Principle</vt:lpstr>
      <vt:lpstr>Practical Heuristics for LSP</vt:lpstr>
      <vt:lpstr>Code Smells That Signal LSP Violations</vt:lpstr>
      <vt:lpstr>Conclusion: Substitutability Is Trust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Jeff Adkisson</cp:lastModifiedBy>
  <cp:revision>3</cp:revision>
  <dcterms:created xsi:type="dcterms:W3CDTF">2013-01-27T09:14:16Z</dcterms:created>
  <dcterms:modified xsi:type="dcterms:W3CDTF">2026-02-09T06:07:53Z</dcterms:modified>
  <cp:category/>
</cp:coreProperties>
</file>