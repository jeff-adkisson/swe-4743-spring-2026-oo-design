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83" r:id="rId1"/>
  </p:sldMasterIdLst>
  <p:notesMasterIdLst>
    <p:notesMasterId r:id="rId26"/>
  </p:notesMasterIdLst>
  <p:sldIdLst>
    <p:sldId id="345" r:id="rId2"/>
    <p:sldId id="346" r:id="rId3"/>
    <p:sldId id="347" r:id="rId4"/>
    <p:sldId id="367" r:id="rId5"/>
    <p:sldId id="366" r:id="rId6"/>
    <p:sldId id="351" r:id="rId7"/>
    <p:sldId id="354" r:id="rId8"/>
    <p:sldId id="369" r:id="rId9"/>
    <p:sldId id="370" r:id="rId10"/>
    <p:sldId id="371" r:id="rId11"/>
    <p:sldId id="365" r:id="rId12"/>
    <p:sldId id="353" r:id="rId13"/>
    <p:sldId id="348" r:id="rId14"/>
    <p:sldId id="352" r:id="rId15"/>
    <p:sldId id="355" r:id="rId16"/>
    <p:sldId id="356" r:id="rId17"/>
    <p:sldId id="357" r:id="rId18"/>
    <p:sldId id="358" r:id="rId19"/>
    <p:sldId id="359" r:id="rId20"/>
    <p:sldId id="361" r:id="rId21"/>
    <p:sldId id="391" r:id="rId22"/>
    <p:sldId id="392" r:id="rId23"/>
    <p:sldId id="393" r:id="rId24"/>
    <p:sldId id="36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ff Adkisson" initials="JA" lastIdx="2" clrIdx="0">
    <p:extLst>
      <p:ext uri="{19B8F6BF-5375-455C-9EA6-DF929625EA0E}">
        <p15:presenceInfo xmlns:p15="http://schemas.microsoft.com/office/powerpoint/2012/main" userId="5306256a9e07794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55" autoAdjust="0"/>
    <p:restoredTop sz="94660"/>
  </p:normalViewPr>
  <p:slideViewPr>
    <p:cSldViewPr snapToGrid="0">
      <p:cViewPr varScale="1">
        <p:scale>
          <a:sx n="118" d="100"/>
          <a:sy n="118" d="100"/>
        </p:scale>
        <p:origin x="224"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D1F325-7A2E-924D-9CAB-8AE498583422}" type="doc">
      <dgm:prSet loTypeId="urn:microsoft.com/office/officeart/2005/8/layout/vList3" loCatId="" qsTypeId="urn:microsoft.com/office/officeart/2005/8/quickstyle/simple4" qsCatId="simple" csTypeId="urn:microsoft.com/office/officeart/2005/8/colors/accent1_2" csCatId="accent1" phldr="1"/>
      <dgm:spPr/>
    </dgm:pt>
    <dgm:pt modelId="{91D04CDE-EFE8-B847-8FC9-DF62369B2AD0}">
      <dgm:prSet phldrT="[Text]"/>
      <dgm:spPr/>
      <dgm:t>
        <a:bodyPr/>
        <a:lstStyle/>
        <a:p>
          <a:r>
            <a:rPr lang="en-US" b="1" dirty="0"/>
            <a:t>D2L</a:t>
          </a:r>
        </a:p>
        <a:p>
          <a:r>
            <a:rPr lang="en-US" dirty="0"/>
            <a:t>Presentations, Grades, Calendar, Announcements, Syllabus</a:t>
          </a:r>
        </a:p>
      </dgm:t>
    </dgm:pt>
    <dgm:pt modelId="{B6CF5614-8DA5-3D43-8484-71FFE047FED5}" type="parTrans" cxnId="{3CFB205E-A2C1-5440-8003-DFCF7F4B59B0}">
      <dgm:prSet/>
      <dgm:spPr/>
      <dgm:t>
        <a:bodyPr/>
        <a:lstStyle/>
        <a:p>
          <a:endParaRPr lang="en-US"/>
        </a:p>
      </dgm:t>
    </dgm:pt>
    <dgm:pt modelId="{791796F1-C389-114B-8389-5BBA4CCA5E00}" type="sibTrans" cxnId="{3CFB205E-A2C1-5440-8003-DFCF7F4B59B0}">
      <dgm:prSet/>
      <dgm:spPr/>
      <dgm:t>
        <a:bodyPr/>
        <a:lstStyle/>
        <a:p>
          <a:endParaRPr lang="en-US"/>
        </a:p>
      </dgm:t>
    </dgm:pt>
    <dgm:pt modelId="{4427C9CC-5B13-A046-83B1-07A8F35B926D}">
      <dgm:prSet phldrT="[Text]"/>
      <dgm:spPr/>
      <dgm:t>
        <a:bodyPr/>
        <a:lstStyle/>
        <a:p>
          <a:r>
            <a:rPr lang="en-US" b="1" dirty="0"/>
            <a:t>GitHub</a:t>
          </a:r>
        </a:p>
        <a:p>
          <a:r>
            <a:rPr lang="en-US" dirty="0"/>
            <a:t>Demos, Team Project Details</a:t>
          </a:r>
        </a:p>
      </dgm:t>
    </dgm:pt>
    <dgm:pt modelId="{DFFE4F2F-876F-A643-B850-A92D08D7022D}" type="parTrans" cxnId="{440D4E41-99D7-CE4A-B087-1CB24ED51586}">
      <dgm:prSet/>
      <dgm:spPr/>
      <dgm:t>
        <a:bodyPr/>
        <a:lstStyle/>
        <a:p>
          <a:endParaRPr lang="en-US"/>
        </a:p>
      </dgm:t>
    </dgm:pt>
    <dgm:pt modelId="{333F8024-5B67-314A-9232-40F3FE36F8AB}" type="sibTrans" cxnId="{440D4E41-99D7-CE4A-B087-1CB24ED51586}">
      <dgm:prSet/>
      <dgm:spPr/>
      <dgm:t>
        <a:bodyPr/>
        <a:lstStyle/>
        <a:p>
          <a:endParaRPr lang="en-US"/>
        </a:p>
      </dgm:t>
    </dgm:pt>
    <dgm:pt modelId="{B761FABC-B7EB-9E40-AF18-2F071788B4EB}" type="pres">
      <dgm:prSet presAssocID="{0CD1F325-7A2E-924D-9CAB-8AE498583422}" presName="linearFlow" presStyleCnt="0">
        <dgm:presLayoutVars>
          <dgm:dir/>
          <dgm:resizeHandles val="exact"/>
        </dgm:presLayoutVars>
      </dgm:prSet>
      <dgm:spPr/>
    </dgm:pt>
    <dgm:pt modelId="{1D2E6F4F-6A7B-C94B-88CF-894903A92F6C}" type="pres">
      <dgm:prSet presAssocID="{91D04CDE-EFE8-B847-8FC9-DF62369B2AD0}" presName="composite" presStyleCnt="0"/>
      <dgm:spPr/>
    </dgm:pt>
    <dgm:pt modelId="{1798338C-01D7-7D43-B9C1-F3463531AE10}" type="pres">
      <dgm:prSet presAssocID="{91D04CDE-EFE8-B847-8FC9-DF62369B2AD0}" presName="imgShp" presStyleLbl="fgImgPlace1" presStyleIdx="0" presStyleCnt="2"/>
      <dgm:spPr/>
    </dgm:pt>
    <dgm:pt modelId="{224A842F-6C57-9C43-B4F5-2D0999E1C2D4}" type="pres">
      <dgm:prSet presAssocID="{91D04CDE-EFE8-B847-8FC9-DF62369B2AD0}" presName="txShp" presStyleLbl="node1" presStyleIdx="0" presStyleCnt="2">
        <dgm:presLayoutVars>
          <dgm:bulletEnabled val="1"/>
        </dgm:presLayoutVars>
      </dgm:prSet>
      <dgm:spPr/>
    </dgm:pt>
    <dgm:pt modelId="{0BFAAD3C-305E-B741-9BC5-4E7970405286}" type="pres">
      <dgm:prSet presAssocID="{791796F1-C389-114B-8389-5BBA4CCA5E00}" presName="spacing" presStyleCnt="0"/>
      <dgm:spPr/>
    </dgm:pt>
    <dgm:pt modelId="{3133C186-81B4-524C-8AD5-097D92D87596}" type="pres">
      <dgm:prSet presAssocID="{4427C9CC-5B13-A046-83B1-07A8F35B926D}" presName="composite" presStyleCnt="0"/>
      <dgm:spPr/>
    </dgm:pt>
    <dgm:pt modelId="{AC588B44-0BBD-1A41-91F7-E9A6B4D7544A}" type="pres">
      <dgm:prSet presAssocID="{4427C9CC-5B13-A046-83B1-07A8F35B926D}" presName="imgShp" presStyleLbl="fgImgPlace1" presStyleIdx="1" presStyleCnt="2"/>
      <dgm:spPr/>
    </dgm:pt>
    <dgm:pt modelId="{2CD1C840-36E5-B349-887F-61A7A6D3ECFF}" type="pres">
      <dgm:prSet presAssocID="{4427C9CC-5B13-A046-83B1-07A8F35B926D}" presName="txShp" presStyleLbl="node1" presStyleIdx="1" presStyleCnt="2">
        <dgm:presLayoutVars>
          <dgm:bulletEnabled val="1"/>
        </dgm:presLayoutVars>
      </dgm:prSet>
      <dgm:spPr/>
    </dgm:pt>
  </dgm:ptLst>
  <dgm:cxnLst>
    <dgm:cxn modelId="{3156321E-9E7F-3B4B-AF99-4FDD9AA0C961}" type="presOf" srcId="{4427C9CC-5B13-A046-83B1-07A8F35B926D}" destId="{2CD1C840-36E5-B349-887F-61A7A6D3ECFF}" srcOrd="0" destOrd="0" presId="urn:microsoft.com/office/officeart/2005/8/layout/vList3"/>
    <dgm:cxn modelId="{440D4E41-99D7-CE4A-B087-1CB24ED51586}" srcId="{0CD1F325-7A2E-924D-9CAB-8AE498583422}" destId="{4427C9CC-5B13-A046-83B1-07A8F35B926D}" srcOrd="1" destOrd="0" parTransId="{DFFE4F2F-876F-A643-B850-A92D08D7022D}" sibTransId="{333F8024-5B67-314A-9232-40F3FE36F8AB}"/>
    <dgm:cxn modelId="{3CFB205E-A2C1-5440-8003-DFCF7F4B59B0}" srcId="{0CD1F325-7A2E-924D-9CAB-8AE498583422}" destId="{91D04CDE-EFE8-B847-8FC9-DF62369B2AD0}" srcOrd="0" destOrd="0" parTransId="{B6CF5614-8DA5-3D43-8484-71FFE047FED5}" sibTransId="{791796F1-C389-114B-8389-5BBA4CCA5E00}"/>
    <dgm:cxn modelId="{49161D63-85F8-2448-A222-FCDAE6F0AC50}" type="presOf" srcId="{0CD1F325-7A2E-924D-9CAB-8AE498583422}" destId="{B761FABC-B7EB-9E40-AF18-2F071788B4EB}" srcOrd="0" destOrd="0" presId="urn:microsoft.com/office/officeart/2005/8/layout/vList3"/>
    <dgm:cxn modelId="{A27355A3-0776-754C-8261-898091854033}" type="presOf" srcId="{91D04CDE-EFE8-B847-8FC9-DF62369B2AD0}" destId="{224A842F-6C57-9C43-B4F5-2D0999E1C2D4}" srcOrd="0" destOrd="0" presId="urn:microsoft.com/office/officeart/2005/8/layout/vList3"/>
    <dgm:cxn modelId="{1CEBED47-CC6F-7D4F-ABF0-6B04D5CAC3D9}" type="presParOf" srcId="{B761FABC-B7EB-9E40-AF18-2F071788B4EB}" destId="{1D2E6F4F-6A7B-C94B-88CF-894903A92F6C}" srcOrd="0" destOrd="0" presId="urn:microsoft.com/office/officeart/2005/8/layout/vList3"/>
    <dgm:cxn modelId="{02871E0F-E1DF-6047-B78A-FB1BBB51D94C}" type="presParOf" srcId="{1D2E6F4F-6A7B-C94B-88CF-894903A92F6C}" destId="{1798338C-01D7-7D43-B9C1-F3463531AE10}" srcOrd="0" destOrd="0" presId="urn:microsoft.com/office/officeart/2005/8/layout/vList3"/>
    <dgm:cxn modelId="{1F566E1D-A3AC-AB44-BA0B-3678B99E37BE}" type="presParOf" srcId="{1D2E6F4F-6A7B-C94B-88CF-894903A92F6C}" destId="{224A842F-6C57-9C43-B4F5-2D0999E1C2D4}" srcOrd="1" destOrd="0" presId="urn:microsoft.com/office/officeart/2005/8/layout/vList3"/>
    <dgm:cxn modelId="{47B3C634-227B-F443-BAF1-F2756E75D63F}" type="presParOf" srcId="{B761FABC-B7EB-9E40-AF18-2F071788B4EB}" destId="{0BFAAD3C-305E-B741-9BC5-4E7970405286}" srcOrd="1" destOrd="0" presId="urn:microsoft.com/office/officeart/2005/8/layout/vList3"/>
    <dgm:cxn modelId="{26184242-17CA-DA48-8232-758187EA1A24}" type="presParOf" srcId="{B761FABC-B7EB-9E40-AF18-2F071788B4EB}" destId="{3133C186-81B4-524C-8AD5-097D92D87596}" srcOrd="2" destOrd="0" presId="urn:microsoft.com/office/officeart/2005/8/layout/vList3"/>
    <dgm:cxn modelId="{95642507-5688-7E49-8880-B0F86A378159}" type="presParOf" srcId="{3133C186-81B4-524C-8AD5-097D92D87596}" destId="{AC588B44-0BBD-1A41-91F7-E9A6B4D7544A}" srcOrd="0" destOrd="0" presId="urn:microsoft.com/office/officeart/2005/8/layout/vList3"/>
    <dgm:cxn modelId="{103BBC70-29AA-CE48-B7C2-EC45FBB0CFE1}" type="presParOf" srcId="{3133C186-81B4-524C-8AD5-097D92D87596}" destId="{2CD1C840-36E5-B349-887F-61A7A6D3ECF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A842F-6C57-9C43-B4F5-2D0999E1C2D4}">
      <dsp:nvSpPr>
        <dsp:cNvPr id="0" name=""/>
        <dsp:cNvSpPr/>
      </dsp:nvSpPr>
      <dsp:spPr>
        <a:xfrm rot="10800000">
          <a:off x="2234385" y="1178"/>
          <a:ext cx="6992874" cy="1892089"/>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4359" tIns="114300" rIns="21336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D2L</a:t>
          </a:r>
        </a:p>
        <a:p>
          <a:pPr marL="0" lvl="0" indent="0" algn="ctr" defTabSz="1333500">
            <a:lnSpc>
              <a:spcPct val="90000"/>
            </a:lnSpc>
            <a:spcBef>
              <a:spcPct val="0"/>
            </a:spcBef>
            <a:spcAft>
              <a:spcPct val="35000"/>
            </a:spcAft>
            <a:buNone/>
          </a:pPr>
          <a:r>
            <a:rPr lang="en-US" sz="3000" kern="1200" dirty="0"/>
            <a:t>Presentations, Grades, Calendar, Announcements, Syllabus</a:t>
          </a:r>
        </a:p>
      </dsp:txBody>
      <dsp:txXfrm rot="10800000">
        <a:off x="2707407" y="1178"/>
        <a:ext cx="6519852" cy="1892089"/>
      </dsp:txXfrm>
    </dsp:sp>
    <dsp:sp modelId="{1798338C-01D7-7D43-B9C1-F3463531AE10}">
      <dsp:nvSpPr>
        <dsp:cNvPr id="0" name=""/>
        <dsp:cNvSpPr/>
      </dsp:nvSpPr>
      <dsp:spPr>
        <a:xfrm>
          <a:off x="1288340" y="1178"/>
          <a:ext cx="1892089" cy="1892089"/>
        </a:xfrm>
        <a:prstGeom prst="ellipse">
          <a:avLst/>
        </a:prstGeom>
        <a:solidFill>
          <a:schemeClr val="accent1">
            <a:tint val="5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CD1C840-36E5-B349-887F-61A7A6D3ECFF}">
      <dsp:nvSpPr>
        <dsp:cNvPr id="0" name=""/>
        <dsp:cNvSpPr/>
      </dsp:nvSpPr>
      <dsp:spPr>
        <a:xfrm rot="10800000">
          <a:off x="2234385" y="2458070"/>
          <a:ext cx="6992874" cy="1892089"/>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4359" tIns="114300" rIns="21336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GitHub</a:t>
          </a:r>
        </a:p>
        <a:p>
          <a:pPr marL="0" lvl="0" indent="0" algn="ctr" defTabSz="1333500">
            <a:lnSpc>
              <a:spcPct val="90000"/>
            </a:lnSpc>
            <a:spcBef>
              <a:spcPct val="0"/>
            </a:spcBef>
            <a:spcAft>
              <a:spcPct val="35000"/>
            </a:spcAft>
            <a:buNone/>
          </a:pPr>
          <a:r>
            <a:rPr lang="en-US" sz="3000" kern="1200" dirty="0"/>
            <a:t>Demos, Team Project Details</a:t>
          </a:r>
        </a:p>
      </dsp:txBody>
      <dsp:txXfrm rot="10800000">
        <a:off x="2707407" y="2458070"/>
        <a:ext cx="6519852" cy="1892089"/>
      </dsp:txXfrm>
    </dsp:sp>
    <dsp:sp modelId="{AC588B44-0BBD-1A41-91F7-E9A6B4D7544A}">
      <dsp:nvSpPr>
        <dsp:cNvPr id="0" name=""/>
        <dsp:cNvSpPr/>
      </dsp:nvSpPr>
      <dsp:spPr>
        <a:xfrm>
          <a:off x="1288340" y="2458070"/>
          <a:ext cx="1892089" cy="1892089"/>
        </a:xfrm>
        <a:prstGeom prst="ellipse">
          <a:avLst/>
        </a:prstGeom>
        <a:solidFill>
          <a:schemeClr val="accent1">
            <a:tint val="5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9C0DDD-0B52-4641-B06C-4696385AC0BD}" type="datetimeFigureOut">
              <a:rPr lang="en-US" smtClean="0"/>
              <a:t>1/13/26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34090-79BF-F644-A2E2-0966EB1CB48C}" type="slidenum">
              <a:rPr lang="en-US" smtClean="0"/>
              <a:t>‹#›</a:t>
            </a:fld>
            <a:endParaRPr lang="en-US" dirty="0"/>
          </a:p>
        </p:txBody>
      </p:sp>
    </p:spTree>
    <p:extLst>
      <p:ext uri="{BB962C8B-B14F-4D97-AF65-F5344CB8AC3E}">
        <p14:creationId xmlns:p14="http://schemas.microsoft.com/office/powerpoint/2010/main" val="845327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6A585-3FDD-4D27-67E4-7C1D46C31C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E74944-859B-DD35-5864-48175F7E4E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1E315D-B82C-209C-86B8-56CC96EF5A33}"/>
              </a:ext>
            </a:extLst>
          </p:cNvPr>
          <p:cNvSpPr>
            <a:spLocks noGrp="1"/>
          </p:cNvSpPr>
          <p:nvPr>
            <p:ph type="dt" sz="half" idx="10"/>
          </p:nvPr>
        </p:nvSpPr>
        <p:spPr/>
        <p:txBody>
          <a:bodyPr/>
          <a:lstStyle/>
          <a:p>
            <a:fld id="{5923F103-BC34-4FE4-A40E-EDDEECFDA5D0}" type="datetimeFigureOut">
              <a:rPr lang="en-US" smtClean="0"/>
              <a:pPr/>
              <a:t>1/13/26</a:t>
            </a:fld>
            <a:endParaRPr lang="en-US" dirty="0"/>
          </a:p>
        </p:txBody>
      </p:sp>
      <p:sp>
        <p:nvSpPr>
          <p:cNvPr id="5" name="Footer Placeholder 4">
            <a:extLst>
              <a:ext uri="{FF2B5EF4-FFF2-40B4-BE49-F238E27FC236}">
                <a16:creationId xmlns:a16="http://schemas.microsoft.com/office/drawing/2014/main" id="{557AC6E1-37F3-1677-7FE2-5CF08FCEE6F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B69DBB2-704A-5E38-E1FE-1451303BA5E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779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18018-85CB-1478-A7BF-AB678FD641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1F7396-4E83-6C48-D444-020F7CCD72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E15FE2-5E47-362E-4548-9E73E0A0D841}"/>
              </a:ext>
            </a:extLst>
          </p:cNvPr>
          <p:cNvSpPr>
            <a:spLocks noGrp="1"/>
          </p:cNvSpPr>
          <p:nvPr>
            <p:ph type="dt" sz="half" idx="10"/>
          </p:nvPr>
        </p:nvSpPr>
        <p:spPr/>
        <p:txBody>
          <a:bodyPr/>
          <a:lstStyle/>
          <a:p>
            <a:fld id="{19C9CA7B-DFD4-44B5-8C60-D14B8CD1FB59}" type="datetimeFigureOut">
              <a:rPr lang="en-US" smtClean="0"/>
              <a:t>1/13/26</a:t>
            </a:fld>
            <a:endParaRPr lang="en-US" dirty="0"/>
          </a:p>
        </p:txBody>
      </p:sp>
      <p:sp>
        <p:nvSpPr>
          <p:cNvPr id="5" name="Footer Placeholder 4">
            <a:extLst>
              <a:ext uri="{FF2B5EF4-FFF2-40B4-BE49-F238E27FC236}">
                <a16:creationId xmlns:a16="http://schemas.microsoft.com/office/drawing/2014/main" id="{8D610858-6524-C5A0-672B-696E6D8178B0}"/>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912D40D-AEDB-7CD1-336B-496D8267E71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40671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3CBC-55A5-FA71-6368-9B99287D8E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5B6709-9D0B-5C05-AA61-BFE4BC962D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ABA091-A4BF-BBD2-B071-B14985FB9B01}"/>
              </a:ext>
            </a:extLst>
          </p:cNvPr>
          <p:cNvSpPr>
            <a:spLocks noGrp="1"/>
          </p:cNvSpPr>
          <p:nvPr>
            <p:ph type="dt" sz="half" idx="10"/>
          </p:nvPr>
        </p:nvSpPr>
        <p:spPr/>
        <p:txBody>
          <a:bodyPr/>
          <a:lstStyle/>
          <a:p>
            <a:fld id="{F34E6425-0181-43F2-84FC-787E803FD2F8}" type="datetimeFigureOut">
              <a:rPr lang="en-US" smtClean="0"/>
              <a:t>1/13/26</a:t>
            </a:fld>
            <a:endParaRPr lang="en-US" dirty="0"/>
          </a:p>
        </p:txBody>
      </p:sp>
      <p:sp>
        <p:nvSpPr>
          <p:cNvPr id="5" name="Footer Placeholder 4">
            <a:extLst>
              <a:ext uri="{FF2B5EF4-FFF2-40B4-BE49-F238E27FC236}">
                <a16:creationId xmlns:a16="http://schemas.microsoft.com/office/drawing/2014/main" id="{9A48C261-0839-EF02-AF9C-73170BD9718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AF7C003-974C-B2A4-2044-433A76CC6AB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5958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43F9-0C70-88FD-CAFD-735032AADD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37B0D6-BC5F-8697-0998-F331CD3780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4D66DF-0494-C266-8F28-656F90E8FC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CBEB9F-EB68-D0F3-6352-B06ADED1FF77}"/>
              </a:ext>
            </a:extLst>
          </p:cNvPr>
          <p:cNvSpPr>
            <a:spLocks noGrp="1"/>
          </p:cNvSpPr>
          <p:nvPr>
            <p:ph type="dt" sz="half" idx="10"/>
          </p:nvPr>
        </p:nvSpPr>
        <p:spPr/>
        <p:txBody>
          <a:bodyPr/>
          <a:lstStyle/>
          <a:p>
            <a:fld id="{3BDB8791-F1B0-41E7-B7FD-A781E65C4266}" type="datetimeFigureOut">
              <a:rPr lang="en-US" smtClean="0"/>
              <a:t>1/13/26</a:t>
            </a:fld>
            <a:endParaRPr lang="en-US" dirty="0"/>
          </a:p>
        </p:txBody>
      </p:sp>
      <p:sp>
        <p:nvSpPr>
          <p:cNvPr id="6" name="Footer Placeholder 5">
            <a:extLst>
              <a:ext uri="{FF2B5EF4-FFF2-40B4-BE49-F238E27FC236}">
                <a16:creationId xmlns:a16="http://schemas.microsoft.com/office/drawing/2014/main" id="{8F934D8E-1D61-5D8E-3B3F-19528921785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DA928D3-F9A4-20E0-676E-BEE48AACA8F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731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00AD-6C08-D69F-40F7-62DF17994E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E67EB1-4DEE-3967-338A-15D36F42E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D95C0A-2BBB-8B8E-DBCF-857397B036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70A95E-2188-2123-A7F2-3927966FB9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12165A-20B1-353E-D3E3-159496781C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49EC96-75FA-BC24-DFBE-F1AC55EE9582}"/>
              </a:ext>
            </a:extLst>
          </p:cNvPr>
          <p:cNvSpPr>
            <a:spLocks noGrp="1"/>
          </p:cNvSpPr>
          <p:nvPr>
            <p:ph type="dt" sz="half" idx="10"/>
          </p:nvPr>
        </p:nvSpPr>
        <p:spPr/>
        <p:txBody>
          <a:bodyPr/>
          <a:lstStyle/>
          <a:p>
            <a:fld id="{5FDD63B2-E120-4ED8-B27B-C685F510A5FE}" type="datetimeFigureOut">
              <a:rPr lang="en-US" smtClean="0"/>
              <a:t>1/13/26</a:t>
            </a:fld>
            <a:endParaRPr lang="en-US" dirty="0"/>
          </a:p>
        </p:txBody>
      </p:sp>
      <p:sp>
        <p:nvSpPr>
          <p:cNvPr id="8" name="Footer Placeholder 7">
            <a:extLst>
              <a:ext uri="{FF2B5EF4-FFF2-40B4-BE49-F238E27FC236}">
                <a16:creationId xmlns:a16="http://schemas.microsoft.com/office/drawing/2014/main" id="{1D67EF75-ED18-0537-98F7-A0C21495F5E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07547B63-6F6F-5776-4DF1-C5A25F3876B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4093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E4C2F-156E-A47A-C2F5-8F70A7E09F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80AD5F-AC89-1656-93B4-A50EF6F6021C}"/>
              </a:ext>
            </a:extLst>
          </p:cNvPr>
          <p:cNvSpPr>
            <a:spLocks noGrp="1"/>
          </p:cNvSpPr>
          <p:nvPr>
            <p:ph type="dt" sz="half" idx="10"/>
          </p:nvPr>
        </p:nvSpPr>
        <p:spPr/>
        <p:txBody>
          <a:bodyPr/>
          <a:lstStyle/>
          <a:p>
            <a:fld id="{7AA18ACC-A947-437B-A130-35BD54FDF1E9}" type="datetimeFigureOut">
              <a:rPr lang="en-US" smtClean="0"/>
              <a:t>1/13/26</a:t>
            </a:fld>
            <a:endParaRPr lang="en-US" dirty="0"/>
          </a:p>
        </p:txBody>
      </p:sp>
      <p:sp>
        <p:nvSpPr>
          <p:cNvPr id="4" name="Footer Placeholder 3">
            <a:extLst>
              <a:ext uri="{FF2B5EF4-FFF2-40B4-BE49-F238E27FC236}">
                <a16:creationId xmlns:a16="http://schemas.microsoft.com/office/drawing/2014/main" id="{9AFA2988-AFDC-F197-361C-64D14DDFA9DA}"/>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323AAFEA-6182-D36C-9FE1-C68B15E1D35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1417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AC400E-819A-0644-E426-0D2587042786}"/>
              </a:ext>
            </a:extLst>
          </p:cNvPr>
          <p:cNvSpPr>
            <a:spLocks noGrp="1"/>
          </p:cNvSpPr>
          <p:nvPr>
            <p:ph type="dt" sz="half" idx="10"/>
          </p:nvPr>
        </p:nvSpPr>
        <p:spPr/>
        <p:txBody>
          <a:bodyPr/>
          <a:lstStyle/>
          <a:p>
            <a:fld id="{7C8D7E02-BCB8-4D50-A234-369438C08659}" type="datetimeFigureOut">
              <a:rPr lang="en-US" smtClean="0"/>
              <a:t>1/13/26</a:t>
            </a:fld>
            <a:endParaRPr lang="en-US" dirty="0"/>
          </a:p>
        </p:txBody>
      </p:sp>
      <p:sp>
        <p:nvSpPr>
          <p:cNvPr id="3" name="Footer Placeholder 2">
            <a:extLst>
              <a:ext uri="{FF2B5EF4-FFF2-40B4-BE49-F238E27FC236}">
                <a16:creationId xmlns:a16="http://schemas.microsoft.com/office/drawing/2014/main" id="{41D2A474-E0EA-0A10-013C-45EEA97D763D}"/>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E0FE164-7115-2C33-27CD-BD3016F1388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8696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9F455-793B-7073-E0FB-A08D4D82BE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F3AC26-B82C-F7CE-6634-D24BEDEEA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BFECCE-418E-B254-BCB2-AE5F4696D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9A5EB6-D21D-3A39-E0D0-FA344EE00779}"/>
              </a:ext>
            </a:extLst>
          </p:cNvPr>
          <p:cNvSpPr>
            <a:spLocks noGrp="1"/>
          </p:cNvSpPr>
          <p:nvPr>
            <p:ph type="dt" sz="half" idx="10"/>
          </p:nvPr>
        </p:nvSpPr>
        <p:spPr/>
        <p:txBody>
          <a:bodyPr/>
          <a:lstStyle/>
          <a:p>
            <a:fld id="{76E86A4C-8E40-4F87-A4F0-01A0687C5742}" type="datetimeFigureOut">
              <a:rPr lang="en-US" smtClean="0"/>
              <a:t>1/13/26</a:t>
            </a:fld>
            <a:endParaRPr lang="en-US" dirty="0"/>
          </a:p>
        </p:txBody>
      </p:sp>
      <p:sp>
        <p:nvSpPr>
          <p:cNvPr id="6" name="Footer Placeholder 5">
            <a:extLst>
              <a:ext uri="{FF2B5EF4-FFF2-40B4-BE49-F238E27FC236}">
                <a16:creationId xmlns:a16="http://schemas.microsoft.com/office/drawing/2014/main" id="{8A5ECE62-2245-B45A-5859-060FFF2DB3DE}"/>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D6C0F8-FD16-59C3-C870-D5CD32DA0C2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53826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AFBD-EC7E-B074-1F79-F1AFB3A207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1ADFE3-B186-66CF-538A-4BDEF83AA4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AF5F899-CD07-141B-0774-8EAECB3EF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9934F4-D11B-CE7F-5630-63C0C0CBC78A}"/>
              </a:ext>
            </a:extLst>
          </p:cNvPr>
          <p:cNvSpPr>
            <a:spLocks noGrp="1"/>
          </p:cNvSpPr>
          <p:nvPr>
            <p:ph type="dt" sz="half" idx="10"/>
          </p:nvPr>
        </p:nvSpPr>
        <p:spPr/>
        <p:txBody>
          <a:bodyPr/>
          <a:lstStyle/>
          <a:p>
            <a:fld id="{35E72C73-2D91-4E12-BA25-F0AA0C03599B}" type="datetimeFigureOut">
              <a:rPr lang="en-US" smtClean="0"/>
              <a:t>1/13/26</a:t>
            </a:fld>
            <a:endParaRPr lang="en-US" dirty="0"/>
          </a:p>
        </p:txBody>
      </p:sp>
      <p:sp>
        <p:nvSpPr>
          <p:cNvPr id="6" name="Footer Placeholder 5">
            <a:extLst>
              <a:ext uri="{FF2B5EF4-FFF2-40B4-BE49-F238E27FC236}">
                <a16:creationId xmlns:a16="http://schemas.microsoft.com/office/drawing/2014/main" id="{6E8E4E44-905F-2039-96E2-4AFDA98F567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2BEB91A9-93F4-D8A8-AECB-992A9D96AB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3973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0CC70-F60F-4AB6-B51E-6040B46B9C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253D69-BB92-B251-DFA3-D340800EF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A33ED7-41AC-823C-53BE-2C35DD9BB23A}"/>
              </a:ext>
            </a:extLst>
          </p:cNvPr>
          <p:cNvSpPr>
            <a:spLocks noGrp="1"/>
          </p:cNvSpPr>
          <p:nvPr>
            <p:ph type="dt" sz="half" idx="10"/>
          </p:nvPr>
        </p:nvSpPr>
        <p:spPr/>
        <p:txBody>
          <a:bodyPr/>
          <a:lstStyle/>
          <a:p>
            <a:fld id="{53086D93-FCAC-47E0-A2EE-787E62CA814C}" type="datetimeFigureOut">
              <a:rPr lang="en-US" smtClean="0"/>
              <a:t>1/13/26</a:t>
            </a:fld>
            <a:endParaRPr lang="en-US" dirty="0"/>
          </a:p>
        </p:txBody>
      </p:sp>
      <p:sp>
        <p:nvSpPr>
          <p:cNvPr id="5" name="Footer Placeholder 4">
            <a:extLst>
              <a:ext uri="{FF2B5EF4-FFF2-40B4-BE49-F238E27FC236}">
                <a16:creationId xmlns:a16="http://schemas.microsoft.com/office/drawing/2014/main" id="{B8C8974C-CB52-71BE-38EF-6B4FBCAE22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88591F7-18B5-486F-22A3-B5424BF509B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4100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41E0E1-A4C4-013E-8010-61383E84DB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E999A8-47D8-0C95-8598-516C36B503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041BC-336F-3BA2-E29A-A26DC576BBD4}"/>
              </a:ext>
            </a:extLst>
          </p:cNvPr>
          <p:cNvSpPr>
            <a:spLocks noGrp="1"/>
          </p:cNvSpPr>
          <p:nvPr>
            <p:ph type="dt" sz="half" idx="10"/>
          </p:nvPr>
        </p:nvSpPr>
        <p:spPr/>
        <p:txBody>
          <a:bodyPr/>
          <a:lstStyle/>
          <a:p>
            <a:fld id="{CDA879A6-0FD0-4734-A311-86BFCA472E6E}" type="datetimeFigureOut">
              <a:rPr lang="en-US" smtClean="0"/>
              <a:t>1/13/26</a:t>
            </a:fld>
            <a:endParaRPr lang="en-US" dirty="0"/>
          </a:p>
        </p:txBody>
      </p:sp>
      <p:sp>
        <p:nvSpPr>
          <p:cNvPr id="5" name="Footer Placeholder 4">
            <a:extLst>
              <a:ext uri="{FF2B5EF4-FFF2-40B4-BE49-F238E27FC236}">
                <a16:creationId xmlns:a16="http://schemas.microsoft.com/office/drawing/2014/main" id="{2CBD4167-99BB-F2CA-ABEB-5EE10AC91DE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9B42538-C371-B572-732C-447379F44DB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4918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203C7-F609-CE62-5C59-95355042AC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01016F-4714-0C8C-7599-9C8DF67228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D1CCF-D740-8620-E19E-679B033CD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E451C3-0FF4-47C4-B829-773ADF60F88C}" type="datetimeFigureOut">
              <a:rPr lang="en-US" smtClean="0"/>
              <a:t>1/13/26</a:t>
            </a:fld>
            <a:endParaRPr lang="en-US" dirty="0"/>
          </a:p>
        </p:txBody>
      </p:sp>
      <p:sp>
        <p:nvSpPr>
          <p:cNvPr id="5" name="Footer Placeholder 4">
            <a:extLst>
              <a:ext uri="{FF2B5EF4-FFF2-40B4-BE49-F238E27FC236}">
                <a16:creationId xmlns:a16="http://schemas.microsoft.com/office/drawing/2014/main" id="{B5B0F416-DB3A-B30A-85F6-756794B806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
              </a:t>
            </a:r>
          </a:p>
        </p:txBody>
      </p:sp>
      <p:sp>
        <p:nvSpPr>
          <p:cNvPr id="6" name="Slide Number Placeholder 5">
            <a:extLst>
              <a:ext uri="{FF2B5EF4-FFF2-40B4-BE49-F238E27FC236}">
                <a16:creationId xmlns:a16="http://schemas.microsoft.com/office/drawing/2014/main" id="{E9A09DD0-1EA0-9D03-8B08-97361F450A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1883997"/>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hyperlink" Target="mailto:JAdkiss1@Kennesaw.edu"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jeff-adkisson/swe-4743-spring-2026-oo-design/blob/main/README.md"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jeff-adkisson/swe-4743-spring-2026-oo-design/blob/main/README.md"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A2F9-C64C-7830-7132-A54765DC1278}"/>
              </a:ext>
            </a:extLst>
          </p:cNvPr>
          <p:cNvSpPr>
            <a:spLocks noGrp="1"/>
          </p:cNvSpPr>
          <p:nvPr>
            <p:ph type="ctrTitle"/>
          </p:nvPr>
        </p:nvSpPr>
        <p:spPr/>
        <p:txBody>
          <a:bodyPr/>
          <a:lstStyle/>
          <a:p>
            <a:r>
              <a:rPr lang="en-US" dirty="0"/>
              <a:t>SWE 4743: </a:t>
            </a:r>
            <a:br>
              <a:rPr lang="en-US" dirty="0"/>
            </a:br>
            <a:r>
              <a:rPr lang="en-US" dirty="0"/>
              <a:t>Object Oriented Design </a:t>
            </a:r>
          </a:p>
        </p:txBody>
      </p:sp>
      <p:sp>
        <p:nvSpPr>
          <p:cNvPr id="3" name="Subtitle 2">
            <a:extLst>
              <a:ext uri="{FF2B5EF4-FFF2-40B4-BE49-F238E27FC236}">
                <a16:creationId xmlns:a16="http://schemas.microsoft.com/office/drawing/2014/main" id="{09EC6FC0-F012-7EC4-953D-2AA9D9AE68C3}"/>
              </a:ext>
            </a:extLst>
          </p:cNvPr>
          <p:cNvSpPr>
            <a:spLocks noGrp="1"/>
          </p:cNvSpPr>
          <p:nvPr>
            <p:ph type="subTitle" idx="1"/>
          </p:nvPr>
        </p:nvSpPr>
        <p:spPr/>
        <p:txBody>
          <a:bodyPr/>
          <a:lstStyle/>
          <a:p>
            <a:r>
              <a:rPr lang="en-US" dirty="0"/>
              <a:t>Jeff Adkisson</a:t>
            </a:r>
          </a:p>
          <a:p>
            <a:r>
              <a:rPr lang="en-US" dirty="0"/>
              <a:t>Monday, Wednesday at 6:30 PM</a:t>
            </a:r>
            <a:br>
              <a:rPr lang="en-US" dirty="0"/>
            </a:br>
            <a:r>
              <a:rPr lang="en-US" dirty="0"/>
              <a:t>Architecture, 175</a:t>
            </a:r>
          </a:p>
        </p:txBody>
      </p:sp>
    </p:spTree>
    <p:extLst>
      <p:ext uri="{BB962C8B-B14F-4D97-AF65-F5344CB8AC3E}">
        <p14:creationId xmlns:p14="http://schemas.microsoft.com/office/powerpoint/2010/main" val="1710785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9791A-8ADB-A88D-C7C2-790F8A869132}"/>
              </a:ext>
            </a:extLst>
          </p:cNvPr>
          <p:cNvSpPr>
            <a:spLocks noGrp="1"/>
          </p:cNvSpPr>
          <p:nvPr>
            <p:ph type="title"/>
          </p:nvPr>
        </p:nvSpPr>
        <p:spPr/>
        <p:txBody>
          <a:bodyPr/>
          <a:lstStyle/>
          <a:p>
            <a:r>
              <a:rPr lang="en-US" dirty="0"/>
              <a:t>Course Materials</a:t>
            </a:r>
          </a:p>
        </p:txBody>
      </p:sp>
      <p:graphicFrame>
        <p:nvGraphicFramePr>
          <p:cNvPr id="4" name="Content Placeholder 3">
            <a:extLst>
              <a:ext uri="{FF2B5EF4-FFF2-40B4-BE49-F238E27FC236}">
                <a16:creationId xmlns:a16="http://schemas.microsoft.com/office/drawing/2014/main" id="{7B6EBB5B-0EEF-632C-8D25-1552631523F6}"/>
              </a:ext>
            </a:extLst>
          </p:cNvPr>
          <p:cNvGraphicFramePr>
            <a:graphicFrameLocks noGrp="1"/>
          </p:cNvGraphicFramePr>
          <p:nvPr>
            <p:ph idx="1"/>
            <p:extLst>
              <p:ext uri="{D42A27DB-BD31-4B8C-83A1-F6EECF244321}">
                <p14:modId xmlns:p14="http://schemas.microsoft.com/office/powerpoint/2010/main" val="35586415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217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E6DA2BDF-75E0-F020-352C-71999F787B73}"/>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err="1">
                <a:solidFill>
                  <a:schemeClr val="tx1"/>
                </a:solidFill>
                <a:latin typeface="+mj-lt"/>
                <a:ea typeface="+mj-ea"/>
                <a:cs typeface="+mj-cs"/>
              </a:rPr>
              <a:t>ContactingMe</a:t>
            </a:r>
            <a:endParaRPr lang="en-US" sz="5400" b="1" kern="1200" dirty="0">
              <a:solidFill>
                <a:schemeClr val="tx1"/>
              </a:solidFill>
              <a:latin typeface="+mj-lt"/>
              <a:ea typeface="+mj-ea"/>
              <a:cs typeface="+mj-cs"/>
            </a:endParaRP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1718E7D3-4414-E101-6565-D633D27B351A}"/>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Use my KSU email address.</a:t>
            </a:r>
          </a:p>
          <a:p>
            <a:pPr marL="285750" indent="-228600">
              <a:buFont typeface="Arial" panose="020B0604020202020204" pitchFamily="34" charset="0"/>
              <a:buChar char="•"/>
            </a:pPr>
            <a:r>
              <a:rPr lang="en-US" sz="2200" dirty="0"/>
              <a:t>Do not use D2L email. It is awful.</a:t>
            </a:r>
          </a:p>
          <a:p>
            <a:pPr marL="285750" indent="-228600">
              <a:buFont typeface="Arial" panose="020B0604020202020204" pitchFamily="34" charset="0"/>
              <a:buChar char="•"/>
            </a:pPr>
            <a:r>
              <a:rPr lang="en-US" sz="2200" dirty="0"/>
              <a:t>Write from your KSU email address. I am not allowed to respond to your personal email address.</a:t>
            </a:r>
          </a:p>
        </p:txBody>
      </p:sp>
      <p:sp>
        <p:nvSpPr>
          <p:cNvPr id="12" name="TextBox 11">
            <a:extLst>
              <a:ext uri="{FF2B5EF4-FFF2-40B4-BE49-F238E27FC236}">
                <a16:creationId xmlns:a16="http://schemas.microsoft.com/office/drawing/2014/main" id="{0E30DA5C-D395-B625-F1FA-E8D51E835AC6}"/>
              </a:ext>
            </a:extLst>
          </p:cNvPr>
          <p:cNvSpPr txBox="1"/>
          <p:nvPr/>
        </p:nvSpPr>
        <p:spPr>
          <a:xfrm>
            <a:off x="4696690" y="727096"/>
            <a:ext cx="7079673" cy="3416320"/>
          </a:xfrm>
          <a:prstGeom prst="rect">
            <a:avLst/>
          </a:prstGeom>
          <a:noFill/>
        </p:spPr>
        <p:txBody>
          <a:bodyPr wrap="square">
            <a:spAutoFit/>
          </a:bodyPr>
          <a:lstStyle/>
          <a:p>
            <a:r>
              <a:rPr lang="en-US" sz="2400" dirty="0"/>
              <a:t>Write me at:</a:t>
            </a:r>
          </a:p>
          <a:p>
            <a:endParaRPr lang="en-US" sz="2400" dirty="0"/>
          </a:p>
          <a:p>
            <a:r>
              <a:rPr lang="en-US" sz="2400" b="1" dirty="0">
                <a:hlinkClick r:id="rId2"/>
              </a:rPr>
              <a:t>JAdkiss1@Kennesaw.edu</a:t>
            </a:r>
            <a:endParaRPr lang="en-US" sz="2400" dirty="0"/>
          </a:p>
          <a:p>
            <a:endParaRPr lang="en-US" sz="2400" b="1" dirty="0"/>
          </a:p>
          <a:p>
            <a:r>
              <a:rPr lang="en-US" sz="2400" dirty="0"/>
              <a:t>I usually respond within 24-48 hours. If I do not respond, it is generally because you wrote to tell me you missed lecture and asked “what did we do?”</a:t>
            </a:r>
          </a:p>
          <a:p>
            <a:endParaRPr lang="en-US" sz="2400" dirty="0"/>
          </a:p>
          <a:p>
            <a:r>
              <a:rPr lang="en-US" sz="2400" b="1" i="1" dirty="0"/>
              <a:t>Do not use D2L email.</a:t>
            </a:r>
          </a:p>
        </p:txBody>
      </p:sp>
    </p:spTree>
    <p:extLst>
      <p:ext uri="{BB962C8B-B14F-4D97-AF65-F5344CB8AC3E}">
        <p14:creationId xmlns:p14="http://schemas.microsoft.com/office/powerpoint/2010/main" val="2670465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4A9873-CA7C-20F8-1B9F-8239909B1D3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9279667-55F9-2826-D5CF-1767F495E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53333BE-5AAC-9152-DDCE-719CB3862191}"/>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Office Hours</a:t>
            </a:r>
          </a:p>
        </p:txBody>
      </p:sp>
      <p:sp>
        <p:nvSpPr>
          <p:cNvPr id="17" name="sketch line">
            <a:extLst>
              <a:ext uri="{FF2B5EF4-FFF2-40B4-BE49-F238E27FC236}">
                <a16:creationId xmlns:a16="http://schemas.microsoft.com/office/drawing/2014/main" id="{33DA5FD9-6978-36FD-307A-9560C2134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03B19DB1-6975-F880-B780-1F11A56D1DDA}"/>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I do not have an office.</a:t>
            </a:r>
          </a:p>
          <a:p>
            <a:pPr marL="285750" indent="-228600">
              <a:buFont typeface="Arial" panose="020B0604020202020204" pitchFamily="34" charset="0"/>
              <a:buChar char="•"/>
            </a:pPr>
            <a:r>
              <a:rPr lang="en-US" sz="2200" dirty="0"/>
              <a:t>I stay late after almost every lecture.</a:t>
            </a:r>
          </a:p>
          <a:p>
            <a:pPr marL="285750" indent="-228600">
              <a:buFont typeface="Arial" panose="020B0604020202020204" pitchFamily="34" charset="0"/>
              <a:buChar char="•"/>
            </a:pPr>
            <a:r>
              <a:rPr lang="en-US" sz="2200" dirty="0"/>
              <a:t>Occasionally I cannot stay late.</a:t>
            </a:r>
          </a:p>
        </p:txBody>
      </p:sp>
      <p:sp>
        <p:nvSpPr>
          <p:cNvPr id="12" name="TextBox 11">
            <a:extLst>
              <a:ext uri="{FF2B5EF4-FFF2-40B4-BE49-F238E27FC236}">
                <a16:creationId xmlns:a16="http://schemas.microsoft.com/office/drawing/2014/main" id="{2BAE5158-25E5-AF9A-A9BC-F5C3FC707E58}"/>
              </a:ext>
            </a:extLst>
          </p:cNvPr>
          <p:cNvSpPr txBox="1"/>
          <p:nvPr/>
        </p:nvSpPr>
        <p:spPr>
          <a:xfrm>
            <a:off x="4696690" y="727096"/>
            <a:ext cx="7079673" cy="2246769"/>
          </a:xfrm>
          <a:prstGeom prst="rect">
            <a:avLst/>
          </a:prstGeom>
          <a:noFill/>
        </p:spPr>
        <p:txBody>
          <a:bodyPr wrap="square">
            <a:spAutoFit/>
          </a:bodyPr>
          <a:lstStyle/>
          <a:p>
            <a:r>
              <a:rPr lang="en-US" sz="2800" dirty="0"/>
              <a:t>If you need to talk to me, stay after lecture. I almost always stay late to help students.</a:t>
            </a:r>
          </a:p>
          <a:p>
            <a:endParaRPr lang="en-US" sz="2800" dirty="0"/>
          </a:p>
          <a:p>
            <a:r>
              <a:rPr lang="en-US" sz="2800" dirty="0"/>
              <a:t>If you cannot stay after, contact me by email in advance and we will work something out.</a:t>
            </a:r>
          </a:p>
        </p:txBody>
      </p:sp>
    </p:spTree>
    <p:extLst>
      <p:ext uri="{BB962C8B-B14F-4D97-AF65-F5344CB8AC3E}">
        <p14:creationId xmlns:p14="http://schemas.microsoft.com/office/powerpoint/2010/main" val="617548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4A41BC-38C9-F330-E5A6-C6586F243F6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2CFE7CF-9570-2F22-E0F4-5B1515284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BB57483-CD2F-A6C4-F21A-02EFE738587F}"/>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Grading</a:t>
            </a:r>
          </a:p>
        </p:txBody>
      </p:sp>
      <p:sp>
        <p:nvSpPr>
          <p:cNvPr id="17" name="sketch line">
            <a:extLst>
              <a:ext uri="{FF2B5EF4-FFF2-40B4-BE49-F238E27FC236}">
                <a16:creationId xmlns:a16="http://schemas.microsoft.com/office/drawing/2014/main" id="{89916DFD-5ECD-84C8-B45D-403175F50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2711E3E2-AD71-D573-9026-489F0828F4E4}"/>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Academic Work – 50%</a:t>
            </a:r>
          </a:p>
          <a:p>
            <a:pPr marL="285750" indent="-228600">
              <a:buFont typeface="Arial" panose="020B0604020202020204" pitchFamily="34" charset="0"/>
              <a:buChar char="•"/>
            </a:pPr>
            <a:r>
              <a:rPr lang="en-US" sz="2200" dirty="0"/>
              <a:t>Practical Work – 50%</a:t>
            </a:r>
          </a:p>
        </p:txBody>
      </p:sp>
      <p:pic>
        <p:nvPicPr>
          <p:cNvPr id="3" name="Picture 2">
            <a:extLst>
              <a:ext uri="{FF2B5EF4-FFF2-40B4-BE49-F238E27FC236}">
                <a16:creationId xmlns:a16="http://schemas.microsoft.com/office/drawing/2014/main" id="{440B9102-A53E-70DA-E73A-226BD160847F}"/>
              </a:ext>
            </a:extLst>
          </p:cNvPr>
          <p:cNvPicPr>
            <a:picLocks noChangeAspect="1"/>
          </p:cNvPicPr>
          <p:nvPr/>
        </p:nvPicPr>
        <p:blipFill>
          <a:blip r:embed="rId2"/>
          <a:srcRect r="31819"/>
          <a:stretch>
            <a:fillRect/>
          </a:stretch>
        </p:blipFill>
        <p:spPr>
          <a:xfrm>
            <a:off x="4296527" y="1297745"/>
            <a:ext cx="7264537" cy="4068937"/>
          </a:xfrm>
          <a:prstGeom prst="rect">
            <a:avLst/>
          </a:prstGeom>
        </p:spPr>
      </p:pic>
    </p:spTree>
    <p:extLst>
      <p:ext uri="{BB962C8B-B14F-4D97-AF65-F5344CB8AC3E}">
        <p14:creationId xmlns:p14="http://schemas.microsoft.com/office/powerpoint/2010/main" val="4290421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5AC78-A30F-735B-D629-DDF367CCBB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9D2BA5-1CB5-13B9-2C8D-A298B3F19810}"/>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Rounding Policy</a:t>
            </a:r>
          </a:p>
        </p:txBody>
      </p:sp>
      <p:sp>
        <p:nvSpPr>
          <p:cNvPr id="6" name="Text Placeholder 5">
            <a:extLst>
              <a:ext uri="{FF2B5EF4-FFF2-40B4-BE49-F238E27FC236}">
                <a16:creationId xmlns:a16="http://schemas.microsoft.com/office/drawing/2014/main" id="{93DF2CB4-45A0-67DC-C7C7-E6BA07F57102}"/>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I follow this policy to ensure rounding is fairly and evenly applied to all students without exception.</a:t>
            </a:r>
          </a:p>
        </p:txBody>
      </p:sp>
      <p:sp>
        <p:nvSpPr>
          <p:cNvPr id="3" name="TextBox 2">
            <a:extLst>
              <a:ext uri="{FF2B5EF4-FFF2-40B4-BE49-F238E27FC236}">
                <a16:creationId xmlns:a16="http://schemas.microsoft.com/office/drawing/2014/main" id="{137D3073-95DC-FAFE-FB97-182A6DDEDA22}"/>
              </a:ext>
            </a:extLst>
          </p:cNvPr>
          <p:cNvSpPr txBox="1"/>
          <p:nvPr/>
        </p:nvSpPr>
        <p:spPr>
          <a:xfrm>
            <a:off x="4696690" y="727096"/>
            <a:ext cx="7079673" cy="5262979"/>
          </a:xfrm>
          <a:prstGeom prst="rect">
            <a:avLst/>
          </a:prstGeom>
          <a:noFill/>
        </p:spPr>
        <p:txBody>
          <a:bodyPr wrap="square">
            <a:spAutoFit/>
          </a:bodyPr>
          <a:lstStyle/>
          <a:p>
            <a:r>
              <a:rPr lang="en-US" sz="2800" dirty="0"/>
              <a:t>I calculate grades to 2 decimal places. Rounding will occur at the 3</a:t>
            </a:r>
            <a:r>
              <a:rPr lang="en-US" sz="2800" baseline="30000" dirty="0"/>
              <a:t>rd</a:t>
            </a:r>
            <a:r>
              <a:rPr lang="en-US" sz="2800" dirty="0"/>
              <a:t> decimal position. </a:t>
            </a:r>
          </a:p>
          <a:p>
            <a:endParaRPr lang="en-US" sz="2800" dirty="0"/>
          </a:p>
          <a:p>
            <a:r>
              <a:rPr lang="en-US" sz="2800" dirty="0"/>
              <a:t>For example:</a:t>
            </a:r>
          </a:p>
          <a:p>
            <a:pPr marL="285750" lvl="0" indent="-285750">
              <a:buFont typeface="Arial" panose="020B0604020202020204" pitchFamily="34" charset="0"/>
              <a:buChar char="•"/>
            </a:pPr>
            <a:r>
              <a:rPr lang="en-US" sz="2800" dirty="0"/>
              <a:t>89.984 becomes 89.98</a:t>
            </a:r>
          </a:p>
          <a:p>
            <a:pPr marL="285750" lvl="0" indent="-285750">
              <a:buFont typeface="Arial" panose="020B0604020202020204" pitchFamily="34" charset="0"/>
              <a:buChar char="•"/>
            </a:pPr>
            <a:r>
              <a:rPr lang="en-US" sz="2800" dirty="0"/>
              <a:t>89.985 becomes 89.99</a:t>
            </a:r>
          </a:p>
          <a:p>
            <a:pPr marL="285750" lvl="0" indent="-285750">
              <a:buFont typeface="Arial" panose="020B0604020202020204" pitchFamily="34" charset="0"/>
              <a:buChar char="•"/>
            </a:pPr>
            <a:r>
              <a:rPr lang="en-US" sz="2800" dirty="0"/>
              <a:t>89.994 becomes 89.99</a:t>
            </a:r>
          </a:p>
          <a:p>
            <a:pPr marL="285750" lvl="0" indent="-285750">
              <a:buFont typeface="Arial" panose="020B0604020202020204" pitchFamily="34" charset="0"/>
              <a:buChar char="•"/>
            </a:pPr>
            <a:r>
              <a:rPr lang="en-US" sz="2800" dirty="0"/>
              <a:t>89.995 becomes 90.0</a:t>
            </a:r>
          </a:p>
          <a:p>
            <a:pPr lvl="0"/>
            <a:endParaRPr lang="en-US" sz="2800" dirty="0"/>
          </a:p>
          <a:p>
            <a:r>
              <a:rPr lang="en-US" sz="2800" i="1" dirty="0"/>
              <a:t>TLDR: You need a </a:t>
            </a:r>
            <a:r>
              <a:rPr lang="en-US" sz="2800" b="1" dirty="0"/>
              <a:t>#</a:t>
            </a:r>
            <a:r>
              <a:rPr lang="en-US" sz="2800" b="1" i="1" dirty="0"/>
              <a:t>9.995</a:t>
            </a:r>
            <a:r>
              <a:rPr lang="en-US" sz="2800" i="1" dirty="0"/>
              <a:t> or higher to receive the next highest grade</a:t>
            </a:r>
            <a:r>
              <a:rPr lang="en-US" sz="2800" dirty="0">
                <a:effectLst/>
              </a:rPr>
              <a:t> </a:t>
            </a:r>
            <a:endParaRPr lang="en-US" sz="2800" dirty="0"/>
          </a:p>
        </p:txBody>
      </p:sp>
    </p:spTree>
    <p:extLst>
      <p:ext uri="{BB962C8B-B14F-4D97-AF65-F5344CB8AC3E}">
        <p14:creationId xmlns:p14="http://schemas.microsoft.com/office/powerpoint/2010/main" val="717680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1AAE2-7199-AAEF-B241-501A0E2F43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291E33-651C-E41F-EC91-9AC634E12C9B}"/>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Attendance</a:t>
            </a:r>
          </a:p>
        </p:txBody>
      </p:sp>
      <p:sp>
        <p:nvSpPr>
          <p:cNvPr id="6" name="Text Placeholder 5">
            <a:extLst>
              <a:ext uri="{FF2B5EF4-FFF2-40B4-BE49-F238E27FC236}">
                <a16:creationId xmlns:a16="http://schemas.microsoft.com/office/drawing/2014/main" id="{2C76A215-8A1C-7FED-4F93-90D48AF57D68}"/>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Attendance is highly recommended.</a:t>
            </a:r>
          </a:p>
          <a:p>
            <a:pPr marL="285750" indent="-228600">
              <a:buFont typeface="Arial" panose="020B0604020202020204" pitchFamily="34" charset="0"/>
              <a:buChar char="•"/>
            </a:pPr>
            <a:r>
              <a:rPr lang="en-US" sz="2200" dirty="0"/>
              <a:t>There are two in-person written exams. You must attend those.</a:t>
            </a:r>
          </a:p>
          <a:p>
            <a:pPr marL="285750" indent="-228600">
              <a:buFont typeface="Arial" panose="020B0604020202020204" pitchFamily="34" charset="0"/>
              <a:buChar char="•"/>
            </a:pPr>
            <a:r>
              <a:rPr lang="en-US" sz="2200" b="1" dirty="0"/>
              <a:t>Aside from the two exam dates, I will not take attendance.</a:t>
            </a:r>
          </a:p>
        </p:txBody>
      </p:sp>
      <p:sp>
        <p:nvSpPr>
          <p:cNvPr id="3" name="TextBox 2">
            <a:extLst>
              <a:ext uri="{FF2B5EF4-FFF2-40B4-BE49-F238E27FC236}">
                <a16:creationId xmlns:a16="http://schemas.microsoft.com/office/drawing/2014/main" id="{2BEBAB7C-B4BD-A0F1-8FBC-F23D23367697}"/>
              </a:ext>
            </a:extLst>
          </p:cNvPr>
          <p:cNvSpPr txBox="1"/>
          <p:nvPr/>
        </p:nvSpPr>
        <p:spPr>
          <a:xfrm>
            <a:off x="4696690" y="727096"/>
            <a:ext cx="7079673" cy="6001643"/>
          </a:xfrm>
          <a:prstGeom prst="rect">
            <a:avLst/>
          </a:prstGeom>
          <a:noFill/>
        </p:spPr>
        <p:txBody>
          <a:bodyPr wrap="square">
            <a:spAutoFit/>
          </a:bodyPr>
          <a:lstStyle/>
          <a:p>
            <a:pPr lvl="0"/>
            <a:r>
              <a:rPr lang="en-US" dirty="0"/>
              <a:t>You are expected to attend each class session. This is an in-person course. The material will not be delivered online, and classes will not be recorded or broadcast. I will only post video lectures in the event of inclement weather, </a:t>
            </a:r>
            <a:r>
              <a:rPr lang="en-US" i="1" dirty="0"/>
              <a:t>or</a:t>
            </a:r>
            <a:r>
              <a:rPr lang="en-US" dirty="0"/>
              <a:t> I must cancel a lecture due to travel for my primary occupation.</a:t>
            </a:r>
          </a:p>
          <a:p>
            <a:pPr lvl="0"/>
            <a:endParaRPr lang="en-US" dirty="0"/>
          </a:p>
          <a:p>
            <a:pPr lvl="0"/>
            <a:r>
              <a:rPr lang="en-US" dirty="0"/>
              <a:t>You are responsible for knowing about announcements/assignments made in lecture, whether you are present.</a:t>
            </a:r>
          </a:p>
          <a:p>
            <a:pPr lvl="0"/>
            <a:endParaRPr lang="en-US" dirty="0"/>
          </a:p>
          <a:p>
            <a:pPr lvl="0"/>
            <a:r>
              <a:rPr lang="en-US" dirty="0"/>
              <a:t>There is no extra credit for attendance though you are far more likely to be successful if you regularly attend. </a:t>
            </a:r>
          </a:p>
          <a:p>
            <a:pPr lvl="0"/>
            <a:endParaRPr lang="en-US" dirty="0"/>
          </a:p>
          <a:p>
            <a:pPr lvl="0"/>
            <a:r>
              <a:rPr lang="en-US" dirty="0"/>
              <a:t>I post announcements in D2L and discuss them at the start of each lecture. If you miss a lecture, check D2L or ask your classmates.</a:t>
            </a:r>
          </a:p>
          <a:p>
            <a:pPr lvl="0"/>
            <a:endParaRPr lang="en-US" dirty="0"/>
          </a:p>
          <a:p>
            <a:pPr lvl="0"/>
            <a:r>
              <a:rPr lang="en-US" i="1" dirty="0"/>
              <a:t>Please do not email me asking me what you missed.</a:t>
            </a:r>
          </a:p>
          <a:p>
            <a:pPr lvl="0"/>
            <a:endParaRPr lang="en-US" dirty="0"/>
          </a:p>
          <a:p>
            <a:r>
              <a:rPr lang="en-US" b="1" dirty="0"/>
              <a:t>The ONLY two days I </a:t>
            </a:r>
            <a:r>
              <a:rPr lang="en-US" b="1" i="1" dirty="0"/>
              <a:t>require</a:t>
            </a:r>
            <a:r>
              <a:rPr lang="en-US" b="1" dirty="0"/>
              <a:t> you to attend are for Exams 1 and 2. Check the syllabus for the dates. If you cannot attend on those days, you must have a written doctor’s note excusing your absence. </a:t>
            </a:r>
            <a:r>
              <a:rPr lang="en-US" b="1" dirty="0">
                <a:highlight>
                  <a:srgbClr val="FFFF00"/>
                </a:highlight>
              </a:rPr>
              <a:t>Exam dates are not negotiable.</a:t>
            </a:r>
            <a:r>
              <a:rPr lang="en-US" sz="2400" b="1" dirty="0">
                <a:effectLst/>
                <a:highlight>
                  <a:srgbClr val="FFFF00"/>
                </a:highlight>
              </a:rPr>
              <a:t> </a:t>
            </a:r>
            <a:endParaRPr lang="en-US" sz="2400" b="1" dirty="0">
              <a:highlight>
                <a:srgbClr val="FFFF00"/>
              </a:highlight>
            </a:endParaRPr>
          </a:p>
        </p:txBody>
      </p:sp>
    </p:spTree>
    <p:extLst>
      <p:ext uri="{BB962C8B-B14F-4D97-AF65-F5344CB8AC3E}">
        <p14:creationId xmlns:p14="http://schemas.microsoft.com/office/powerpoint/2010/main" val="161190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589F-CA6F-5A2F-79AB-92330E3AAF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D39CD3-F1AA-0858-DA22-CCE8B12BA492}"/>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Textbooks</a:t>
            </a:r>
          </a:p>
        </p:txBody>
      </p:sp>
      <p:sp>
        <p:nvSpPr>
          <p:cNvPr id="6" name="Text Placeholder 5">
            <a:extLst>
              <a:ext uri="{FF2B5EF4-FFF2-40B4-BE49-F238E27FC236}">
                <a16:creationId xmlns:a16="http://schemas.microsoft.com/office/drawing/2014/main" id="{0AACA79A-BAE1-6185-0D16-8D6A17488635}"/>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Readings are assigned.</a:t>
            </a:r>
          </a:p>
          <a:p>
            <a:pPr marL="285750" indent="-228600">
              <a:buFont typeface="Arial" panose="020B0604020202020204" pitchFamily="34" charset="0"/>
              <a:buChar char="•"/>
            </a:pPr>
            <a:r>
              <a:rPr lang="en-US" sz="2200" dirty="0"/>
              <a:t>Readings are </a:t>
            </a:r>
            <a:r>
              <a:rPr lang="en-US" sz="2200" i="1" dirty="0"/>
              <a:t>actually</a:t>
            </a:r>
            <a:r>
              <a:rPr lang="en-US" sz="2200" dirty="0"/>
              <a:t> important.</a:t>
            </a:r>
          </a:p>
          <a:p>
            <a:pPr marL="285750" indent="-228600">
              <a:buFont typeface="Arial" panose="020B0604020202020204" pitchFamily="34" charset="0"/>
              <a:buChar char="•"/>
            </a:pPr>
            <a:r>
              <a:rPr lang="en-US" sz="2200" dirty="0"/>
              <a:t>Readings will be part of the exam material.</a:t>
            </a:r>
          </a:p>
        </p:txBody>
      </p:sp>
      <p:pic>
        <p:nvPicPr>
          <p:cNvPr id="4098" name="Picture 2" descr="A Philosophy of Software Design, 2nd Edition 2, Ousterhout, John K. , eBook  - Amazon.com">
            <a:extLst>
              <a:ext uri="{FF2B5EF4-FFF2-40B4-BE49-F238E27FC236}">
                <a16:creationId xmlns:a16="http://schemas.microsoft.com/office/drawing/2014/main" id="{4C47E44D-3AD2-6BBB-46AC-5018FD0BE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7755" y="1300242"/>
            <a:ext cx="3409955" cy="42575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00" name="Picture 4" descr="Amazon.com: Head First Design Patterns: Building Extensible and  Maintainable Object-Oriented Software eBook : Freeman, Eric, Robson,  Elisabeth: Kindle Store">
            <a:extLst>
              <a:ext uri="{FF2B5EF4-FFF2-40B4-BE49-F238E27FC236}">
                <a16:creationId xmlns:a16="http://schemas.microsoft.com/office/drawing/2014/main" id="{ADB30EAF-919E-F230-77C1-F9786486C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3590" y="1300242"/>
            <a:ext cx="3682948" cy="42575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5093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85B92-B201-B919-029A-23B4BAF9D7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6E5C17-801D-200D-44DA-20A0ECBE0991}"/>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Coding</a:t>
            </a:r>
          </a:p>
        </p:txBody>
      </p:sp>
      <p:sp>
        <p:nvSpPr>
          <p:cNvPr id="6" name="Text Placeholder 5">
            <a:extLst>
              <a:ext uri="{FF2B5EF4-FFF2-40B4-BE49-F238E27FC236}">
                <a16:creationId xmlns:a16="http://schemas.microsoft.com/office/drawing/2014/main" id="{AFFFC5BB-039F-BE0D-C459-1FFC52E6EE0F}"/>
              </a:ext>
            </a:extLst>
          </p:cNvPr>
          <p:cNvSpPr>
            <a:spLocks noGrp="1"/>
          </p:cNvSpPr>
          <p:nvPr>
            <p:ph type="body" sz="half" idx="2"/>
          </p:nvPr>
        </p:nvSpPr>
        <p:spPr>
          <a:xfrm>
            <a:off x="630936" y="2807208"/>
            <a:ext cx="3429000" cy="3787556"/>
          </a:xfrm>
        </p:spPr>
        <p:txBody>
          <a:bodyPr vert="horz" lIns="91440" tIns="45720" rIns="91440" bIns="45720" rtlCol="0" anchor="t">
            <a:normAutofit lnSpcReduction="10000"/>
          </a:bodyPr>
          <a:lstStyle/>
          <a:p>
            <a:pPr marL="285750" indent="-228600">
              <a:buFont typeface="Arial" panose="020B0604020202020204" pitchFamily="34" charset="0"/>
              <a:buChar char="•"/>
            </a:pPr>
            <a:r>
              <a:rPr lang="en-US" sz="2200" dirty="0"/>
              <a:t>We will read and write a lot of code in this course.</a:t>
            </a:r>
          </a:p>
          <a:p>
            <a:pPr marL="285750" indent="-228600">
              <a:buFont typeface="Arial" panose="020B0604020202020204" pitchFamily="34" charset="0"/>
              <a:buChar char="•"/>
            </a:pPr>
            <a:r>
              <a:rPr lang="en-US" sz="2200" dirty="0"/>
              <a:t>Do the exercises.</a:t>
            </a:r>
          </a:p>
          <a:p>
            <a:pPr marL="285750" indent="-228600">
              <a:buFont typeface="Arial" panose="020B0604020202020204" pitchFamily="34" charset="0"/>
              <a:buChar char="•"/>
            </a:pPr>
            <a:r>
              <a:rPr lang="en-US" sz="2200" dirty="0"/>
              <a:t>Do the assignments.</a:t>
            </a:r>
          </a:p>
          <a:p>
            <a:pPr marL="285750" indent="-228600">
              <a:buFont typeface="Arial" panose="020B0604020202020204" pitchFamily="34" charset="0"/>
              <a:buChar char="•"/>
            </a:pPr>
            <a:r>
              <a:rPr lang="en-US" sz="2200" dirty="0"/>
              <a:t>Do the readings.</a:t>
            </a:r>
          </a:p>
          <a:p>
            <a:pPr marL="285750" indent="-228600">
              <a:buFont typeface="Arial" panose="020B0604020202020204" pitchFamily="34" charset="0"/>
              <a:buChar char="•"/>
            </a:pPr>
            <a:r>
              <a:rPr lang="en-US" sz="2200" dirty="0"/>
              <a:t>Avoid using AI to do your work.</a:t>
            </a:r>
          </a:p>
          <a:p>
            <a:pPr marL="285750" indent="-228600">
              <a:buFont typeface="Arial" panose="020B0604020202020204" pitchFamily="34" charset="0"/>
              <a:buChar char="•"/>
            </a:pPr>
            <a:r>
              <a:rPr lang="en-US" sz="2200" dirty="0"/>
              <a:t>You cannot master these concepts without writing code.</a:t>
            </a:r>
          </a:p>
        </p:txBody>
      </p:sp>
      <p:pic>
        <p:nvPicPr>
          <p:cNvPr id="6146" name="Picture 2" descr="large">
            <a:extLst>
              <a:ext uri="{FF2B5EF4-FFF2-40B4-BE49-F238E27FC236}">
                <a16:creationId xmlns:a16="http://schemas.microsoft.com/office/drawing/2014/main" id="{AC64A071-EAFB-C3D8-44DC-40ED8051F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4290" y="842449"/>
            <a:ext cx="6897468" cy="517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91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9A0F1-5841-1D4B-46A8-74567EFA10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C8644F-8049-4E91-21EC-A458BF4DFBAF}"/>
              </a:ext>
            </a:extLst>
          </p:cNvPr>
          <p:cNvSpPr>
            <a:spLocks noGrp="1"/>
          </p:cNvSpPr>
          <p:nvPr>
            <p:ph type="title"/>
          </p:nvPr>
        </p:nvSpPr>
        <p:spPr>
          <a:xfrm>
            <a:off x="630935" y="639520"/>
            <a:ext cx="3913355" cy="1719072"/>
          </a:xfrm>
        </p:spPr>
        <p:txBody>
          <a:bodyPr vert="horz" lIns="91440" tIns="45720" rIns="91440" bIns="45720" rtlCol="0" anchor="b">
            <a:normAutofit fontScale="90000"/>
          </a:bodyPr>
          <a:lstStyle/>
          <a:p>
            <a:r>
              <a:rPr lang="en-US" sz="4800" b="1" dirty="0"/>
              <a:t>Computer Science </a:t>
            </a:r>
            <a:r>
              <a:rPr lang="en-US" sz="4800" b="1" kern="1200" dirty="0">
                <a:solidFill>
                  <a:schemeClr val="tx1"/>
                </a:solidFill>
                <a:latin typeface="+mj-lt"/>
                <a:ea typeface="+mj-ea"/>
                <a:cs typeface="+mj-cs"/>
              </a:rPr>
              <a:t>Prerequisites</a:t>
            </a:r>
          </a:p>
        </p:txBody>
      </p:sp>
      <p:sp>
        <p:nvSpPr>
          <p:cNvPr id="6" name="Text Placeholder 5">
            <a:extLst>
              <a:ext uri="{FF2B5EF4-FFF2-40B4-BE49-F238E27FC236}">
                <a16:creationId xmlns:a16="http://schemas.microsoft.com/office/drawing/2014/main" id="{A252704D-18E6-DC87-7266-FD1B777EE026}"/>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57150"/>
            <a:r>
              <a:rPr lang="en-US" sz="2400" dirty="0">
                <a:latin typeface="-apple-system"/>
              </a:rPr>
              <a:t>This course is a senior level programming class, so you are expected to be already familiar with the following. If not, please review these concepts immediately.</a:t>
            </a:r>
          </a:p>
          <a:p>
            <a:pPr marL="285750" indent="-228600">
              <a:buFont typeface="Arial" panose="020B0604020202020204" pitchFamily="34" charset="0"/>
              <a:buChar char="•"/>
            </a:pPr>
            <a:endParaRPr lang="en-US" sz="2200" dirty="0"/>
          </a:p>
        </p:txBody>
      </p:sp>
      <p:sp>
        <p:nvSpPr>
          <p:cNvPr id="3" name="TextBox 2">
            <a:extLst>
              <a:ext uri="{FF2B5EF4-FFF2-40B4-BE49-F238E27FC236}">
                <a16:creationId xmlns:a16="http://schemas.microsoft.com/office/drawing/2014/main" id="{B8131130-2EA2-C7CF-4508-2B46BD621A5D}"/>
              </a:ext>
            </a:extLst>
          </p:cNvPr>
          <p:cNvSpPr txBox="1"/>
          <p:nvPr/>
        </p:nvSpPr>
        <p:spPr>
          <a:xfrm>
            <a:off x="4323824" y="914169"/>
            <a:ext cx="7616483" cy="480131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dirty="0">
                <a:latin typeface="-apple-system"/>
              </a:rPr>
              <a:t>Basic OO concepts such as polymorphism, encapsulation, and inheritance.</a:t>
            </a:r>
            <a:endParaRPr lang="en-US" b="0" i="0" dirty="0">
              <a:effectLst/>
              <a:latin typeface="-apple-system"/>
            </a:endParaRPr>
          </a:p>
          <a:p>
            <a:pPr marL="285750" indent="-285750" algn="l">
              <a:spcAft>
                <a:spcPts val="1200"/>
              </a:spcAft>
              <a:buFont typeface="Arial" panose="020B0604020202020204" pitchFamily="34" charset="0"/>
              <a:buChar char="•"/>
            </a:pPr>
            <a:r>
              <a:rPr lang="en-US" b="0" i="0" dirty="0">
                <a:effectLst/>
                <a:latin typeface="-apple-system"/>
              </a:rPr>
              <a:t>Public, private, and protected scope</a:t>
            </a:r>
          </a:p>
          <a:p>
            <a:pPr marL="285750" indent="-285750" algn="l">
              <a:spcAft>
                <a:spcPts val="1200"/>
              </a:spcAft>
              <a:buFont typeface="Arial" panose="020B0604020202020204" pitchFamily="34" charset="0"/>
              <a:buChar char="•"/>
            </a:pPr>
            <a:r>
              <a:rPr lang="en-US" b="0" i="0" dirty="0">
                <a:effectLst/>
                <a:latin typeface="-apple-system"/>
              </a:rPr>
              <a:t>Classes, methods (instance and static), fields (instance and static), and properties</a:t>
            </a:r>
          </a:p>
          <a:p>
            <a:pPr marL="285750" indent="-285750" algn="l">
              <a:spcAft>
                <a:spcPts val="1200"/>
              </a:spcAft>
              <a:buFont typeface="Arial" panose="020B0604020202020204" pitchFamily="34" charset="0"/>
              <a:buChar char="•"/>
            </a:pPr>
            <a:r>
              <a:rPr lang="en-US" b="0" i="0" dirty="0">
                <a:effectLst/>
                <a:latin typeface="-apple-system"/>
              </a:rPr>
              <a:t>Primitive, abstract, and concrete types</a:t>
            </a:r>
          </a:p>
          <a:p>
            <a:pPr marL="285750" indent="-285750" algn="l">
              <a:spcAft>
                <a:spcPts val="1200"/>
              </a:spcAft>
              <a:buFont typeface="Arial" panose="020B0604020202020204" pitchFamily="34" charset="0"/>
              <a:buChar char="•"/>
            </a:pPr>
            <a:r>
              <a:rPr lang="en-US" b="0" i="0" dirty="0">
                <a:effectLst/>
                <a:latin typeface="-apple-system"/>
              </a:rPr>
              <a:t>Conditional logic – if/then, switch, etc</a:t>
            </a:r>
            <a:r>
              <a:rPr lang="en-US" dirty="0">
                <a:latin typeface="-apple-system"/>
              </a:rPr>
              <a:t>.</a:t>
            </a:r>
            <a:endParaRPr lang="en-US" b="0" i="0" dirty="0">
              <a:effectLst/>
              <a:latin typeface="-apple-system"/>
            </a:endParaRPr>
          </a:p>
          <a:p>
            <a:pPr marL="285750" indent="-285750" algn="l">
              <a:spcAft>
                <a:spcPts val="1200"/>
              </a:spcAft>
              <a:buFont typeface="Arial" panose="020B0604020202020204" pitchFamily="34" charset="0"/>
              <a:buChar char="•"/>
            </a:pPr>
            <a:r>
              <a:rPr lang="en-US" b="0" i="0" dirty="0">
                <a:effectLst/>
                <a:latin typeface="-apple-system"/>
              </a:rPr>
              <a:t>Loops and recursion – for, do/while/until, etc</a:t>
            </a:r>
            <a:r>
              <a:rPr lang="en-US" dirty="0">
                <a:latin typeface="-apple-system"/>
              </a:rPr>
              <a:t>.</a:t>
            </a:r>
            <a:endParaRPr lang="en-US" b="0" i="0" dirty="0">
              <a:effectLst/>
              <a:latin typeface="-apple-system"/>
            </a:endParaRPr>
          </a:p>
          <a:p>
            <a:pPr marL="285750" indent="-285750" algn="l">
              <a:spcAft>
                <a:spcPts val="1200"/>
              </a:spcAft>
              <a:buFont typeface="Arial" panose="020B0604020202020204" pitchFamily="34" charset="0"/>
              <a:buChar char="•"/>
            </a:pPr>
            <a:r>
              <a:rPr lang="en-US" b="0" i="0" dirty="0">
                <a:effectLst/>
                <a:latin typeface="-apple-system"/>
              </a:rPr>
              <a:t>Data structures </a:t>
            </a:r>
            <a:r>
              <a:rPr lang="en-US" dirty="0">
                <a:latin typeface="-apple-system"/>
              </a:rPr>
              <a:t>-</a:t>
            </a:r>
            <a:r>
              <a:rPr lang="en-US" b="0" i="0" dirty="0">
                <a:effectLst/>
                <a:latin typeface="-apple-system"/>
              </a:rPr>
              <a:t> arrays, linked lists, queues, stacks, trees, sorting algorithms, etc.</a:t>
            </a:r>
          </a:p>
          <a:p>
            <a:pPr marL="285750" indent="-285750" algn="l">
              <a:spcAft>
                <a:spcPts val="1200"/>
              </a:spcAft>
              <a:buFont typeface="Arial" panose="020B0604020202020204" pitchFamily="34" charset="0"/>
              <a:buChar char="•"/>
            </a:pPr>
            <a:r>
              <a:rPr lang="en-US" b="0" i="0" dirty="0">
                <a:effectLst/>
                <a:latin typeface="-apple-system"/>
              </a:rPr>
              <a:t>Displaying and entering data via a console application</a:t>
            </a:r>
          </a:p>
          <a:p>
            <a:pPr marL="285750" indent="-285750" algn="l">
              <a:spcAft>
                <a:spcPts val="1200"/>
              </a:spcAft>
              <a:buFont typeface="Arial" panose="020B0604020202020204" pitchFamily="34" charset="0"/>
              <a:buChar char="•"/>
            </a:pPr>
            <a:r>
              <a:rPr lang="en-US" b="0" i="0" dirty="0">
                <a:effectLst/>
                <a:latin typeface="-apple-system"/>
              </a:rPr>
              <a:t>Using an IDE to develop and debug a project with multiple classes</a:t>
            </a:r>
          </a:p>
          <a:p>
            <a:pPr marL="285750" indent="-285750" algn="l">
              <a:spcAft>
                <a:spcPts val="1200"/>
              </a:spcAft>
              <a:buFont typeface="Arial" panose="020B0604020202020204" pitchFamily="34" charset="0"/>
              <a:buChar char="•"/>
            </a:pPr>
            <a:r>
              <a:rPr lang="en-US" b="0" i="0" dirty="0">
                <a:effectLst/>
                <a:latin typeface="-apple-system"/>
              </a:rPr>
              <a:t>Computational complexity (Big O).</a:t>
            </a:r>
          </a:p>
        </p:txBody>
      </p:sp>
    </p:spTree>
    <p:extLst>
      <p:ext uri="{BB962C8B-B14F-4D97-AF65-F5344CB8AC3E}">
        <p14:creationId xmlns:p14="http://schemas.microsoft.com/office/powerpoint/2010/main" val="1203344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F475-600A-46C1-4251-F7358F93D8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7589C7-6647-3518-5A79-05A70E1DB3E4}"/>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Exam Dates</a:t>
            </a:r>
          </a:p>
        </p:txBody>
      </p:sp>
      <p:sp>
        <p:nvSpPr>
          <p:cNvPr id="6" name="Text Placeholder 5">
            <a:extLst>
              <a:ext uri="{FF2B5EF4-FFF2-40B4-BE49-F238E27FC236}">
                <a16:creationId xmlns:a16="http://schemas.microsoft.com/office/drawing/2014/main" id="{D5186171-A638-4822-90F5-E6A90BF2B3F2}"/>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As of January 11, 2026</a:t>
            </a:r>
          </a:p>
          <a:p>
            <a:pPr marL="285750" indent="-228600">
              <a:buFont typeface="Arial" panose="020B0604020202020204" pitchFamily="34" charset="0"/>
              <a:buChar char="•"/>
            </a:pPr>
            <a:r>
              <a:rPr lang="en-US" sz="2200" dirty="0"/>
              <a:t>Exam dates may change (but it is unlikely)</a:t>
            </a:r>
          </a:p>
        </p:txBody>
      </p:sp>
      <p:sp>
        <p:nvSpPr>
          <p:cNvPr id="3" name="TextBox 2">
            <a:extLst>
              <a:ext uri="{FF2B5EF4-FFF2-40B4-BE49-F238E27FC236}">
                <a16:creationId xmlns:a16="http://schemas.microsoft.com/office/drawing/2014/main" id="{AF840189-7C98-2F62-4561-FE3518868BEF}"/>
              </a:ext>
            </a:extLst>
          </p:cNvPr>
          <p:cNvSpPr txBox="1"/>
          <p:nvPr/>
        </p:nvSpPr>
        <p:spPr>
          <a:xfrm>
            <a:off x="4696690" y="727096"/>
            <a:ext cx="7079673" cy="369332"/>
          </a:xfrm>
          <a:prstGeom prst="rect">
            <a:avLst/>
          </a:prstGeom>
          <a:noFill/>
        </p:spPr>
        <p:txBody>
          <a:bodyPr wrap="square">
            <a:spAutoFit/>
          </a:bodyPr>
          <a:lstStyle/>
          <a:p>
            <a:pPr lvl="0"/>
            <a:r>
              <a:rPr lang="en-US" dirty="0"/>
              <a:t>You must be present in-person for the two written exams.</a:t>
            </a:r>
          </a:p>
        </p:txBody>
      </p:sp>
      <p:pic>
        <p:nvPicPr>
          <p:cNvPr id="2" name="Picture 1">
            <a:extLst>
              <a:ext uri="{FF2B5EF4-FFF2-40B4-BE49-F238E27FC236}">
                <a16:creationId xmlns:a16="http://schemas.microsoft.com/office/drawing/2014/main" id="{99CB25BD-13A6-FEE1-302B-2DF70BB0177B}"/>
              </a:ext>
            </a:extLst>
          </p:cNvPr>
          <p:cNvPicPr>
            <a:picLocks noChangeAspect="1"/>
          </p:cNvPicPr>
          <p:nvPr/>
        </p:nvPicPr>
        <p:blipFill>
          <a:blip r:embed="rId2"/>
          <a:stretch>
            <a:fillRect/>
          </a:stretch>
        </p:blipFill>
        <p:spPr>
          <a:xfrm>
            <a:off x="4528588" y="1389185"/>
            <a:ext cx="3603478" cy="3872394"/>
          </a:xfrm>
          <a:prstGeom prst="rect">
            <a:avLst/>
          </a:prstGeom>
        </p:spPr>
      </p:pic>
    </p:spTree>
    <p:extLst>
      <p:ext uri="{BB962C8B-B14F-4D97-AF65-F5344CB8AC3E}">
        <p14:creationId xmlns:p14="http://schemas.microsoft.com/office/powerpoint/2010/main" val="2227800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9898A-390E-8B12-E8EB-07B848BA1C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A1FC23-498E-3299-073B-48C76FCF7092}"/>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Exam Makeups </a:t>
            </a:r>
            <a:r>
              <a:rPr lang="en-US" sz="5400" b="1" kern="1200" dirty="0">
                <a:solidFill>
                  <a:schemeClr val="tx1"/>
                </a:solidFill>
                <a:latin typeface="+mj-lt"/>
                <a:ea typeface="+mj-ea"/>
                <a:cs typeface="+mj-cs"/>
                <a:sym typeface="Wingdings" pitchFamily="2" charset="2"/>
              </a:rPr>
              <a:t></a:t>
            </a:r>
            <a:endParaRPr lang="en-US" sz="5400" b="1" kern="1200" dirty="0">
              <a:solidFill>
                <a:schemeClr val="tx1"/>
              </a:solidFill>
              <a:latin typeface="+mj-lt"/>
              <a:ea typeface="+mj-ea"/>
              <a:cs typeface="+mj-cs"/>
            </a:endParaRPr>
          </a:p>
        </p:txBody>
      </p:sp>
      <p:sp>
        <p:nvSpPr>
          <p:cNvPr id="6" name="Text Placeholder 5">
            <a:extLst>
              <a:ext uri="{FF2B5EF4-FFF2-40B4-BE49-F238E27FC236}">
                <a16:creationId xmlns:a16="http://schemas.microsoft.com/office/drawing/2014/main" id="{299AB952-16D6-9AF5-871B-BE8295F6DB90}"/>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You have to be here two times this semester.</a:t>
            </a:r>
          </a:p>
          <a:p>
            <a:pPr marL="285750" indent="-228600">
              <a:buFont typeface="Arial" panose="020B0604020202020204" pitchFamily="34" charset="0"/>
              <a:buChar char="•"/>
            </a:pPr>
            <a:r>
              <a:rPr lang="en-US" sz="2200" dirty="0"/>
              <a:t>Please be here on the exam dates.</a:t>
            </a:r>
          </a:p>
          <a:p>
            <a:pPr marL="285750" indent="-228600">
              <a:buFont typeface="Arial" panose="020B0604020202020204" pitchFamily="34" charset="0"/>
              <a:buChar char="•"/>
            </a:pPr>
            <a:r>
              <a:rPr lang="en-US" sz="2200" dirty="0"/>
              <a:t>Missing an Exam must have very official documentation – not just a photo of your car with the hood up.</a:t>
            </a:r>
          </a:p>
        </p:txBody>
      </p:sp>
      <p:sp>
        <p:nvSpPr>
          <p:cNvPr id="3" name="TextBox 2">
            <a:extLst>
              <a:ext uri="{FF2B5EF4-FFF2-40B4-BE49-F238E27FC236}">
                <a16:creationId xmlns:a16="http://schemas.microsoft.com/office/drawing/2014/main" id="{951DBC68-E7C3-C35F-E467-B8C2E5AD6A03}"/>
              </a:ext>
            </a:extLst>
          </p:cNvPr>
          <p:cNvSpPr txBox="1"/>
          <p:nvPr/>
        </p:nvSpPr>
        <p:spPr>
          <a:xfrm>
            <a:off x="4696690" y="727096"/>
            <a:ext cx="7079673" cy="6001643"/>
          </a:xfrm>
          <a:prstGeom prst="rect">
            <a:avLst/>
          </a:prstGeom>
          <a:noFill/>
        </p:spPr>
        <p:txBody>
          <a:bodyPr wrap="square">
            <a:spAutoFit/>
          </a:bodyPr>
          <a:lstStyle/>
          <a:p>
            <a:r>
              <a:rPr lang="en-US" sz="2400" dirty="0"/>
              <a:t> Occasionally a student must miss an exam due to illness, death of a family member, etc. You must communicate with me </a:t>
            </a:r>
            <a:r>
              <a:rPr lang="en-US" sz="2400" i="1" dirty="0"/>
              <a:t>in advance </a:t>
            </a:r>
            <a:r>
              <a:rPr lang="en-US" sz="2400" dirty="0"/>
              <a:t>to schedule an exam makeup. To receive a makeup exam, you must use the KSU exam proctoring service. </a:t>
            </a:r>
          </a:p>
          <a:p>
            <a:r>
              <a:rPr lang="en-US" sz="2400" dirty="0"/>
              <a:t> </a:t>
            </a:r>
          </a:p>
          <a:p>
            <a:r>
              <a:rPr lang="en-US" sz="2400" b="1" dirty="0"/>
              <a:t>Do not attempt to request a makeup exam by sending me a picture of your car with the hood up, claiming it broke down minutes before the exam. If your car does break down, you must have actual proof from a police officer. </a:t>
            </a:r>
            <a:r>
              <a:rPr lang="en-US" sz="2400" dirty="0"/>
              <a:t>Every semester someone performs some version of this. Please do not be that person. On days we have an exam, show up to campus early and be ready to take the exam. This will save both of us a lot of effort and frustration. The exam dates are in the syllabus… plan to be here.</a:t>
            </a:r>
          </a:p>
        </p:txBody>
      </p:sp>
    </p:spTree>
    <p:extLst>
      <p:ext uri="{BB962C8B-B14F-4D97-AF65-F5344CB8AC3E}">
        <p14:creationId xmlns:p14="http://schemas.microsoft.com/office/powerpoint/2010/main" val="347045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27E1AB-B0E0-166F-AAC0-2028A0934BB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74EF512-1C64-AD1F-D250-1DE7BB5F6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A4AB63E-3EFA-C079-AC08-21B84CEC91AA}"/>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Semester Project</a:t>
            </a:r>
          </a:p>
        </p:txBody>
      </p:sp>
      <p:sp>
        <p:nvSpPr>
          <p:cNvPr id="17" name="sketch line">
            <a:extLst>
              <a:ext uri="{FF2B5EF4-FFF2-40B4-BE49-F238E27FC236}">
                <a16:creationId xmlns:a16="http://schemas.microsoft.com/office/drawing/2014/main" id="{3DE5CAA2-A3A9-EC02-86C6-679F5761F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835183C7-FBC1-A979-D688-30293753B630}"/>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Teams of 1 or 2 students</a:t>
            </a:r>
          </a:p>
          <a:p>
            <a:pPr marL="285750" indent="-228600">
              <a:buFont typeface="Arial" panose="020B0604020202020204" pitchFamily="34" charset="0"/>
              <a:buChar char="•"/>
            </a:pPr>
            <a:r>
              <a:rPr lang="en-US" sz="2200" dirty="0"/>
              <a:t>You can work alone (always my preference)</a:t>
            </a:r>
          </a:p>
          <a:p>
            <a:pPr marL="285750" indent="-228600">
              <a:buFont typeface="Arial" panose="020B0604020202020204" pitchFamily="34" charset="0"/>
              <a:buChar char="•"/>
            </a:pPr>
            <a:r>
              <a:rPr lang="en-US" sz="2200" dirty="0"/>
              <a:t>You can work with a partner.</a:t>
            </a:r>
          </a:p>
        </p:txBody>
      </p:sp>
      <p:sp>
        <p:nvSpPr>
          <p:cNvPr id="3" name="TextBox 2">
            <a:extLst>
              <a:ext uri="{FF2B5EF4-FFF2-40B4-BE49-F238E27FC236}">
                <a16:creationId xmlns:a16="http://schemas.microsoft.com/office/drawing/2014/main" id="{7EB2CB6C-0C90-C614-0820-FAA180EE3582}"/>
              </a:ext>
            </a:extLst>
          </p:cNvPr>
          <p:cNvSpPr txBox="1"/>
          <p:nvPr/>
        </p:nvSpPr>
        <p:spPr>
          <a:xfrm>
            <a:off x="4350328" y="727096"/>
            <a:ext cx="7426036" cy="5847755"/>
          </a:xfrm>
          <a:prstGeom prst="rect">
            <a:avLst/>
          </a:prstGeom>
          <a:noFill/>
        </p:spPr>
        <p:txBody>
          <a:bodyPr wrap="square">
            <a:spAutoFit/>
          </a:bodyPr>
          <a:lstStyle/>
          <a:p>
            <a:pPr marL="0" marR="0">
              <a:buNone/>
            </a:pPr>
            <a:r>
              <a:rPr lang="en-US" sz="2200" dirty="0">
                <a:solidFill>
                  <a:srgbClr val="000000"/>
                </a:solidFill>
                <a:latin typeface="Arial" panose="020B0604020202020204" pitchFamily="34" charset="0"/>
                <a:ea typeface="Calibri" panose="020F0502020204030204" pitchFamily="34" charset="0"/>
              </a:rPr>
              <a:t>You will execute a large design and implementation project.</a:t>
            </a:r>
          </a:p>
          <a:p>
            <a:pPr marL="0" marR="0">
              <a:buNone/>
            </a:pPr>
            <a:endParaRPr lang="en-US" sz="2200" dirty="0">
              <a:solidFill>
                <a:srgbClr val="000000"/>
              </a:solidFill>
              <a:latin typeface="Arial" panose="020B0604020202020204" pitchFamily="34" charset="0"/>
              <a:ea typeface="Calibri" panose="020F0502020204030204" pitchFamily="34" charset="0"/>
            </a:endParaRPr>
          </a:p>
          <a:p>
            <a:pPr marL="342900" marR="0" indent="-342900">
              <a:buFontTx/>
              <a:buChar char="-"/>
            </a:pPr>
            <a:r>
              <a:rPr lang="en-US" sz="2200" dirty="0">
                <a:solidFill>
                  <a:srgbClr val="000000"/>
                </a:solidFill>
                <a:effectLst/>
                <a:latin typeface="Arial" panose="020B0604020202020204" pitchFamily="34" charset="0"/>
                <a:ea typeface="Calibri" panose="020F0502020204030204" pitchFamily="34" charset="0"/>
              </a:rPr>
              <a:t>C# or Java API, </a:t>
            </a:r>
            <a:r>
              <a:rPr lang="en-US" sz="2200" dirty="0">
                <a:solidFill>
                  <a:srgbClr val="000000"/>
                </a:solidFill>
                <a:latin typeface="Arial" panose="020B0604020202020204" pitchFamily="34" charset="0"/>
                <a:ea typeface="Calibri" panose="020F0502020204030204" pitchFamily="34" charset="0"/>
              </a:rPr>
              <a:t>Angular UI, </a:t>
            </a:r>
            <a:r>
              <a:rPr lang="en-US" sz="2200" dirty="0" err="1">
                <a:solidFill>
                  <a:srgbClr val="000000"/>
                </a:solidFill>
                <a:effectLst/>
                <a:latin typeface="Arial" panose="020B0604020202020204" pitchFamily="34" charset="0"/>
                <a:ea typeface="Calibri" panose="020F0502020204030204" pitchFamily="34" charset="0"/>
              </a:rPr>
              <a:t>Sql</a:t>
            </a:r>
            <a:r>
              <a:rPr lang="en-US" sz="2200" dirty="0" err="1">
                <a:solidFill>
                  <a:srgbClr val="000000"/>
                </a:solidFill>
                <a:latin typeface="Arial" panose="020B0604020202020204" pitchFamily="34" charset="0"/>
                <a:ea typeface="Calibri" panose="020F0502020204030204" pitchFamily="34" charset="0"/>
              </a:rPr>
              <a:t>ite</a:t>
            </a:r>
            <a:r>
              <a:rPr lang="en-US" sz="2200" dirty="0">
                <a:solidFill>
                  <a:srgbClr val="000000"/>
                </a:solidFill>
                <a:latin typeface="Arial" panose="020B0604020202020204" pitchFamily="34" charset="0"/>
                <a:ea typeface="Calibri" panose="020F0502020204030204" pitchFamily="34" charset="0"/>
              </a:rPr>
              <a:t> data storage, Docker (execution environment)</a:t>
            </a:r>
          </a:p>
          <a:p>
            <a:pPr marR="0"/>
            <a:endParaRPr lang="en-US" sz="2200" dirty="0">
              <a:solidFill>
                <a:srgbClr val="000000"/>
              </a:solidFill>
              <a:effectLst/>
              <a:latin typeface="Arial" panose="020B0604020202020204" pitchFamily="34" charset="0"/>
              <a:ea typeface="Calibri" panose="020F0502020204030204" pitchFamily="34" charset="0"/>
            </a:endParaRPr>
          </a:p>
          <a:p>
            <a:pPr marR="0"/>
            <a:r>
              <a:rPr lang="en-US" sz="2200" dirty="0">
                <a:solidFill>
                  <a:srgbClr val="000000"/>
                </a:solidFill>
                <a:latin typeface="Arial" panose="020B0604020202020204" pitchFamily="34" charset="0"/>
                <a:ea typeface="Calibri" panose="020F0502020204030204" pitchFamily="34" charset="0"/>
              </a:rPr>
              <a:t>If you work alone, you are responsible for the entire project.</a:t>
            </a:r>
          </a:p>
          <a:p>
            <a:pPr marR="0"/>
            <a:endParaRPr lang="en-US" sz="2200" dirty="0">
              <a:solidFill>
                <a:srgbClr val="000000"/>
              </a:solidFill>
              <a:effectLst/>
              <a:latin typeface="Arial" panose="020B0604020202020204" pitchFamily="34" charset="0"/>
              <a:ea typeface="Calibri" panose="020F0502020204030204" pitchFamily="34" charset="0"/>
            </a:endParaRPr>
          </a:p>
          <a:p>
            <a:pPr marR="0"/>
            <a:r>
              <a:rPr lang="en-US" sz="2200" dirty="0">
                <a:solidFill>
                  <a:srgbClr val="000000"/>
                </a:solidFill>
                <a:latin typeface="Arial" panose="020B0604020202020204" pitchFamily="34" charset="0"/>
                <a:ea typeface="Calibri" panose="020F0502020204030204" pitchFamily="34" charset="0"/>
              </a:rPr>
              <a:t>If you work with a partner, you both receive the same grade. If your partner drops the course, you become a team of one. You can split with your teammate if the relationship is not satisfactory. If that happens, you both are responsible for the entire project.</a:t>
            </a:r>
          </a:p>
          <a:p>
            <a:pPr marR="0"/>
            <a:endParaRPr lang="en-US" sz="2200" dirty="0">
              <a:solidFill>
                <a:srgbClr val="000000"/>
              </a:solidFill>
              <a:effectLst/>
              <a:latin typeface="Arial" panose="020B0604020202020204" pitchFamily="34" charset="0"/>
              <a:ea typeface="Calibri" panose="020F0502020204030204" pitchFamily="34" charset="0"/>
            </a:endParaRPr>
          </a:p>
          <a:p>
            <a:pPr marR="0"/>
            <a:r>
              <a:rPr lang="en-US" sz="2200" dirty="0">
                <a:solidFill>
                  <a:srgbClr val="000000"/>
                </a:solidFill>
                <a:latin typeface="Arial" panose="020B0604020202020204" pitchFamily="34" charset="0"/>
                <a:ea typeface="Calibri" panose="020F0502020204030204" pitchFamily="34" charset="0"/>
              </a:rPr>
              <a:t>I do not reduce the requirements or schedule for teams of one.</a:t>
            </a:r>
            <a:endParaRPr lang="en-US" sz="22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431547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54DF8-A3CB-CEDF-B9BC-2DFB54F420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EA9B20-A4C2-8E34-9C3A-27525C171F5B}"/>
              </a:ext>
            </a:extLst>
          </p:cNvPr>
          <p:cNvSpPr>
            <a:spLocks noGrp="1"/>
          </p:cNvSpPr>
          <p:nvPr>
            <p:ph type="title"/>
          </p:nvPr>
        </p:nvSpPr>
        <p:spPr>
          <a:xfrm>
            <a:off x="630934" y="639520"/>
            <a:ext cx="4550665" cy="1719072"/>
          </a:xfrm>
        </p:spPr>
        <p:txBody>
          <a:bodyPr vert="horz" lIns="91440" tIns="45720" rIns="91440" bIns="45720" rtlCol="0" anchor="b">
            <a:normAutofit fontScale="90000"/>
          </a:bodyPr>
          <a:lstStyle/>
          <a:p>
            <a:r>
              <a:rPr lang="en-US" sz="5400" b="1" kern="1200" dirty="0">
                <a:solidFill>
                  <a:schemeClr val="tx1"/>
                </a:solidFill>
                <a:latin typeface="+mj-lt"/>
                <a:ea typeface="+mj-ea"/>
                <a:cs typeface="+mj-cs"/>
              </a:rPr>
              <a:t>Late Project Submissions </a:t>
            </a:r>
            <a:r>
              <a:rPr lang="en-US" sz="5400" b="1" dirty="0">
                <a:sym typeface="Wingdings" pitchFamily="2" charset="2"/>
              </a:rPr>
              <a:t></a:t>
            </a:r>
            <a:endParaRPr lang="en-US" sz="5400" b="1" kern="1200" dirty="0">
              <a:solidFill>
                <a:schemeClr val="tx1"/>
              </a:solidFill>
              <a:latin typeface="+mj-lt"/>
              <a:ea typeface="+mj-ea"/>
              <a:cs typeface="+mj-cs"/>
            </a:endParaRPr>
          </a:p>
        </p:txBody>
      </p:sp>
      <p:sp>
        <p:nvSpPr>
          <p:cNvPr id="6" name="Text Placeholder 5">
            <a:extLst>
              <a:ext uri="{FF2B5EF4-FFF2-40B4-BE49-F238E27FC236}">
                <a16:creationId xmlns:a16="http://schemas.microsoft.com/office/drawing/2014/main" id="{D5F2F890-4C0A-DD97-0B81-C3C45413617E}"/>
              </a:ext>
            </a:extLst>
          </p:cNvPr>
          <p:cNvSpPr>
            <a:spLocks noGrp="1"/>
          </p:cNvSpPr>
          <p:nvPr>
            <p:ph type="body" sz="half" idx="2"/>
          </p:nvPr>
        </p:nvSpPr>
        <p:spPr>
          <a:xfrm>
            <a:off x="630936" y="2807208"/>
            <a:ext cx="3429000" cy="3787556"/>
          </a:xfrm>
        </p:spPr>
        <p:txBody>
          <a:bodyPr vert="horz" lIns="91440" tIns="45720" rIns="91440" bIns="45720" rtlCol="0" anchor="t">
            <a:normAutofit fontScale="92500"/>
          </a:bodyPr>
          <a:lstStyle/>
          <a:p>
            <a:pPr marL="285750" indent="-228600">
              <a:buFont typeface="Arial" panose="020B0604020202020204" pitchFamily="34" charset="0"/>
              <a:buChar char="•"/>
            </a:pPr>
            <a:r>
              <a:rPr lang="en-US" sz="2200" dirty="0"/>
              <a:t>There are significant penalties for late project submissions.</a:t>
            </a:r>
          </a:p>
          <a:p>
            <a:pPr marL="285750" indent="-228600">
              <a:buFont typeface="Arial" panose="020B0604020202020204" pitchFamily="34" charset="0"/>
              <a:buChar char="•"/>
            </a:pPr>
            <a:r>
              <a:rPr lang="en-US" sz="2200" dirty="0"/>
              <a:t>Please do not submit work late. It is unpleasant for everyone.</a:t>
            </a:r>
          </a:p>
          <a:p>
            <a:pPr marL="285750" indent="-228600">
              <a:buFont typeface="Arial" panose="020B0604020202020204" pitchFamily="34" charset="0"/>
              <a:buChar char="•"/>
            </a:pPr>
            <a:r>
              <a:rPr lang="en-US" sz="2200" dirty="0"/>
              <a:t>Do not wait until the last minute to do your project work. You will greatly improve your chances of failing this course.</a:t>
            </a:r>
          </a:p>
        </p:txBody>
      </p:sp>
      <p:sp>
        <p:nvSpPr>
          <p:cNvPr id="3" name="TextBox 2">
            <a:extLst>
              <a:ext uri="{FF2B5EF4-FFF2-40B4-BE49-F238E27FC236}">
                <a16:creationId xmlns:a16="http://schemas.microsoft.com/office/drawing/2014/main" id="{409020EC-EA6F-1AD6-BCE4-F4E217C112C5}"/>
              </a:ext>
            </a:extLst>
          </p:cNvPr>
          <p:cNvSpPr txBox="1"/>
          <p:nvPr/>
        </p:nvSpPr>
        <p:spPr>
          <a:xfrm>
            <a:off x="5181599" y="727096"/>
            <a:ext cx="6594764" cy="5324535"/>
          </a:xfrm>
          <a:prstGeom prst="rect">
            <a:avLst/>
          </a:prstGeom>
          <a:noFill/>
        </p:spPr>
        <p:txBody>
          <a:bodyPr wrap="square">
            <a:spAutoFit/>
          </a:bodyPr>
          <a:lstStyle/>
          <a:p>
            <a:r>
              <a:rPr lang="en-US" sz="2000" b="1" u="sng" dirty="0"/>
              <a:t>Late Project Assignments</a:t>
            </a:r>
            <a:endParaRPr lang="en-US" sz="2000" dirty="0"/>
          </a:p>
          <a:p>
            <a:r>
              <a:rPr lang="en-US" sz="2000" b="1" dirty="0"/>
              <a:t> </a:t>
            </a:r>
            <a:endParaRPr lang="en-US" sz="2000" dirty="0"/>
          </a:p>
          <a:p>
            <a:r>
              <a:rPr lang="en-US" sz="2000" dirty="0"/>
              <a:t>No work later than 72 hours will be accepted. Late work submitted within 72 hours of the deadline will be accepted </a:t>
            </a:r>
            <a:r>
              <a:rPr lang="en-US" sz="2000" i="1" dirty="0"/>
              <a:t>with penalties</a:t>
            </a:r>
            <a:r>
              <a:rPr lang="en-US" sz="2000" dirty="0"/>
              <a:t>.</a:t>
            </a:r>
          </a:p>
          <a:p>
            <a:endParaRPr lang="en-US" sz="2000" dirty="0"/>
          </a:p>
          <a:p>
            <a:pPr marL="342900" lvl="0" indent="-342900">
              <a:buFont typeface="Arial" panose="020B0604020202020204" pitchFamily="34" charset="0"/>
              <a:buChar char="•"/>
            </a:pPr>
            <a:r>
              <a:rPr lang="en-US" sz="2000" dirty="0"/>
              <a:t>Submit after the due time but within (including) 24 hours - 10% penalty</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dirty="0"/>
              <a:t>Submit after the due time but within (including) 48 hours - 25% penalty</a:t>
            </a:r>
            <a:br>
              <a:rPr lang="en-US" sz="2000" dirty="0"/>
            </a:br>
            <a:endParaRPr lang="en-US" sz="2000" dirty="0"/>
          </a:p>
          <a:p>
            <a:pPr marL="342900" indent="-342900">
              <a:buFont typeface="Arial" panose="020B0604020202020204" pitchFamily="34" charset="0"/>
              <a:buChar char="•"/>
            </a:pPr>
            <a:r>
              <a:rPr lang="en-US" sz="2000" dirty="0"/>
              <a:t>Submit after the due time but within (including) 72 hours - 50% penalty</a:t>
            </a:r>
          </a:p>
          <a:p>
            <a:pPr lvl="0"/>
            <a:endParaRPr lang="en-US" sz="2000" dirty="0"/>
          </a:p>
          <a:p>
            <a:pPr marL="342900" lvl="0" indent="-342900">
              <a:buFont typeface="Arial" panose="020B0604020202020204" pitchFamily="34" charset="0"/>
              <a:buChar char="•"/>
            </a:pPr>
            <a:r>
              <a:rPr lang="en-US" sz="2000" dirty="0"/>
              <a:t>Submit  hours after the due time - 100% penalty (zero credit).</a:t>
            </a:r>
          </a:p>
        </p:txBody>
      </p:sp>
    </p:spTree>
    <p:extLst>
      <p:ext uri="{BB962C8B-B14F-4D97-AF65-F5344CB8AC3E}">
        <p14:creationId xmlns:p14="http://schemas.microsoft.com/office/powerpoint/2010/main" val="593992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844E-54F4-D53C-0F72-5F0E3218BA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F96AF3-BF1E-F52B-F3FF-F18517E4288A}"/>
              </a:ext>
            </a:extLst>
          </p:cNvPr>
          <p:cNvSpPr>
            <a:spLocks noGrp="1"/>
          </p:cNvSpPr>
          <p:nvPr>
            <p:ph type="title"/>
          </p:nvPr>
        </p:nvSpPr>
        <p:spPr>
          <a:xfrm>
            <a:off x="630935" y="639520"/>
            <a:ext cx="4619938"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Distractions </a:t>
            </a:r>
            <a:r>
              <a:rPr lang="en-US" sz="5400" b="1" dirty="0">
                <a:sym typeface="Wingdings" pitchFamily="2" charset="2"/>
              </a:rPr>
              <a:t></a:t>
            </a:r>
            <a:r>
              <a:rPr lang="en-US" sz="5400" b="1" kern="1200" dirty="0">
                <a:solidFill>
                  <a:schemeClr val="tx1"/>
                </a:solidFill>
                <a:latin typeface="+mj-lt"/>
                <a:ea typeface="+mj-ea"/>
                <a:cs typeface="+mj-cs"/>
              </a:rPr>
              <a:t> </a:t>
            </a:r>
          </a:p>
        </p:txBody>
      </p:sp>
      <p:sp>
        <p:nvSpPr>
          <p:cNvPr id="6" name="Text Placeholder 5">
            <a:extLst>
              <a:ext uri="{FF2B5EF4-FFF2-40B4-BE49-F238E27FC236}">
                <a16:creationId xmlns:a16="http://schemas.microsoft.com/office/drawing/2014/main" id="{B28B0EBA-6DBA-7336-EDE9-39FF402BD290}"/>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Do not distract your classmates.</a:t>
            </a:r>
          </a:p>
          <a:p>
            <a:pPr marL="285750" indent="-228600">
              <a:buFont typeface="Arial" panose="020B0604020202020204" pitchFamily="34" charset="0"/>
              <a:buChar char="•"/>
            </a:pPr>
            <a:r>
              <a:rPr lang="en-US" sz="2200" dirty="0"/>
              <a:t>Do not distract me.</a:t>
            </a:r>
          </a:p>
          <a:p>
            <a:pPr marL="285750" indent="-228600">
              <a:buFont typeface="Arial" panose="020B0604020202020204" pitchFamily="34" charset="0"/>
              <a:buChar char="•"/>
            </a:pPr>
            <a:r>
              <a:rPr lang="en-US" sz="2200" dirty="0"/>
              <a:t>If you are distracting your classmates by watching videos, playing games, scrolling Instagram, etc., please leave. Otherwise, I will ask you to leave.</a:t>
            </a:r>
          </a:p>
        </p:txBody>
      </p:sp>
      <p:sp>
        <p:nvSpPr>
          <p:cNvPr id="3" name="TextBox 2">
            <a:extLst>
              <a:ext uri="{FF2B5EF4-FFF2-40B4-BE49-F238E27FC236}">
                <a16:creationId xmlns:a16="http://schemas.microsoft.com/office/drawing/2014/main" id="{86A7D666-EDD2-7AEF-C8BA-978800E02E47}"/>
              </a:ext>
            </a:extLst>
          </p:cNvPr>
          <p:cNvSpPr txBox="1"/>
          <p:nvPr/>
        </p:nvSpPr>
        <p:spPr>
          <a:xfrm>
            <a:off x="5250873" y="727096"/>
            <a:ext cx="6525490" cy="5847755"/>
          </a:xfrm>
          <a:prstGeom prst="rect">
            <a:avLst/>
          </a:prstGeom>
          <a:noFill/>
        </p:spPr>
        <p:txBody>
          <a:bodyPr wrap="square">
            <a:spAutoFit/>
          </a:bodyPr>
          <a:lstStyle/>
          <a:p>
            <a:r>
              <a:rPr lang="en-US" sz="2200" b="1" i="1" dirty="0"/>
              <a:t>If you want to waste time, do it elsewhere.</a:t>
            </a:r>
            <a:r>
              <a:rPr lang="en-US" sz="2200" b="1" dirty="0"/>
              <a:t> </a:t>
            </a:r>
          </a:p>
          <a:p>
            <a:endParaRPr lang="en-US" sz="2200" dirty="0"/>
          </a:p>
          <a:p>
            <a:r>
              <a:rPr lang="en-US" sz="2200" dirty="0"/>
              <a:t>If you are watching videos, scrolling Instagram, playing games, etc., do it elsewhere. </a:t>
            </a:r>
          </a:p>
          <a:p>
            <a:endParaRPr lang="en-US" sz="2200" dirty="0"/>
          </a:p>
          <a:p>
            <a:r>
              <a:rPr lang="en-US" sz="2200" dirty="0"/>
              <a:t>I am unlikely to notice, but the people behind you will. And many of them will be distracted. If you are distracting your classmates, I will ask you to leave. </a:t>
            </a:r>
          </a:p>
          <a:p>
            <a:endParaRPr lang="en-US" sz="2200" dirty="0"/>
          </a:p>
          <a:p>
            <a:r>
              <a:rPr lang="en-US" sz="2200" dirty="0"/>
              <a:t>If you have a classmate who is distracting you and you are uncomfortable telling them to stop, tell me after class and I will speak to the student. </a:t>
            </a:r>
          </a:p>
          <a:p>
            <a:endParaRPr lang="en-US" sz="2200" dirty="0"/>
          </a:p>
          <a:p>
            <a:r>
              <a:rPr lang="en-US" sz="2200" b="1" dirty="0"/>
              <a:t>You paid to be here. Make the most of your time.</a:t>
            </a:r>
          </a:p>
          <a:p>
            <a:endParaRPr lang="en-US" sz="2200" b="1" dirty="0"/>
          </a:p>
          <a:p>
            <a:r>
              <a:rPr lang="en-US" sz="2200" b="1" dirty="0"/>
              <a:t>Other students paid to be here. Do not waste their time.</a:t>
            </a:r>
          </a:p>
        </p:txBody>
      </p:sp>
    </p:spTree>
    <p:extLst>
      <p:ext uri="{BB962C8B-B14F-4D97-AF65-F5344CB8AC3E}">
        <p14:creationId xmlns:p14="http://schemas.microsoft.com/office/powerpoint/2010/main" val="46677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A48C-4CBF-6366-DDF5-ED479CA3D0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1DC13A-A1AD-0E0B-E590-253AA8D8DAEF}"/>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Sleeping </a:t>
            </a:r>
            <a:r>
              <a:rPr lang="en-US" sz="5400" b="1" dirty="0">
                <a:sym typeface="Wingdings" pitchFamily="2" charset="2"/>
              </a:rPr>
              <a:t></a:t>
            </a:r>
            <a:endParaRPr lang="en-US" sz="5400" b="1" kern="1200" dirty="0">
              <a:solidFill>
                <a:schemeClr val="tx1"/>
              </a:solidFill>
              <a:latin typeface="+mj-lt"/>
              <a:ea typeface="+mj-ea"/>
              <a:cs typeface="+mj-cs"/>
            </a:endParaRPr>
          </a:p>
        </p:txBody>
      </p:sp>
      <p:sp>
        <p:nvSpPr>
          <p:cNvPr id="6" name="Text Placeholder 5">
            <a:extLst>
              <a:ext uri="{FF2B5EF4-FFF2-40B4-BE49-F238E27FC236}">
                <a16:creationId xmlns:a16="http://schemas.microsoft.com/office/drawing/2014/main" id="{CD8C3ACF-6E31-0363-CAA2-1D29125277B0}"/>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This annoys me.</a:t>
            </a:r>
          </a:p>
          <a:p>
            <a:pPr marL="285750" indent="-228600">
              <a:buFont typeface="Arial" panose="020B0604020202020204" pitchFamily="34" charset="0"/>
              <a:buChar char="•"/>
            </a:pPr>
            <a:r>
              <a:rPr lang="en-US" sz="2200" dirty="0"/>
              <a:t>Do not sleep in my classroom.</a:t>
            </a:r>
          </a:p>
          <a:p>
            <a:pPr marL="285750" indent="-228600">
              <a:buFont typeface="Arial" panose="020B0604020202020204" pitchFamily="34" charset="0"/>
              <a:buChar char="•"/>
            </a:pPr>
            <a:r>
              <a:rPr lang="en-US" sz="2200" dirty="0"/>
              <a:t>Do not put your head down in my classroom.</a:t>
            </a:r>
          </a:p>
          <a:p>
            <a:pPr marL="57150"/>
            <a:endParaRPr lang="en-US" sz="2200" dirty="0"/>
          </a:p>
        </p:txBody>
      </p:sp>
      <p:sp>
        <p:nvSpPr>
          <p:cNvPr id="3" name="TextBox 2">
            <a:extLst>
              <a:ext uri="{FF2B5EF4-FFF2-40B4-BE49-F238E27FC236}">
                <a16:creationId xmlns:a16="http://schemas.microsoft.com/office/drawing/2014/main" id="{21D2033B-C164-D5A8-8C69-D20770B8E9C6}"/>
              </a:ext>
            </a:extLst>
          </p:cNvPr>
          <p:cNvSpPr txBox="1"/>
          <p:nvPr/>
        </p:nvSpPr>
        <p:spPr>
          <a:xfrm>
            <a:off x="4592229" y="2807208"/>
            <a:ext cx="7079673" cy="2677656"/>
          </a:xfrm>
          <a:prstGeom prst="rect">
            <a:avLst/>
          </a:prstGeom>
          <a:noFill/>
        </p:spPr>
        <p:txBody>
          <a:bodyPr wrap="square">
            <a:spAutoFit/>
          </a:bodyPr>
          <a:lstStyle/>
          <a:p>
            <a:r>
              <a:rPr lang="en-US" sz="2400" dirty="0"/>
              <a:t>Do not sleep in my classroom or put your head down on the desk. Just go somewhere else. </a:t>
            </a:r>
          </a:p>
          <a:p>
            <a:endParaRPr lang="en-US" sz="2400" dirty="0"/>
          </a:p>
          <a:p>
            <a:r>
              <a:rPr lang="en-US" sz="2400" dirty="0"/>
              <a:t>I do not object to you leaving or not being present. </a:t>
            </a:r>
          </a:p>
          <a:p>
            <a:endParaRPr lang="en-US" sz="2400" dirty="0"/>
          </a:p>
          <a:p>
            <a:r>
              <a:rPr lang="en-US" sz="2400" dirty="0"/>
              <a:t>But if you are present, I expect you to be aware and engaged.</a:t>
            </a:r>
          </a:p>
        </p:txBody>
      </p:sp>
    </p:spTree>
    <p:extLst>
      <p:ext uri="{BB962C8B-B14F-4D97-AF65-F5344CB8AC3E}">
        <p14:creationId xmlns:p14="http://schemas.microsoft.com/office/powerpoint/2010/main" val="1444435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C8EB8-CB17-4D70-B3FE-9579E2A5D0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0B7087-3395-1B1E-724D-68CB82A97992}"/>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Arriving Late</a:t>
            </a:r>
          </a:p>
        </p:txBody>
      </p:sp>
      <p:sp>
        <p:nvSpPr>
          <p:cNvPr id="6" name="Text Placeholder 5">
            <a:extLst>
              <a:ext uri="{FF2B5EF4-FFF2-40B4-BE49-F238E27FC236}">
                <a16:creationId xmlns:a16="http://schemas.microsoft.com/office/drawing/2014/main" id="{06FE94D0-20C0-5817-D414-DD91118A9B09}"/>
              </a:ext>
            </a:extLst>
          </p:cNvPr>
          <p:cNvSpPr>
            <a:spLocks noGrp="1"/>
          </p:cNvSpPr>
          <p:nvPr>
            <p:ph type="body" sz="half" idx="2"/>
          </p:nvPr>
        </p:nvSpPr>
        <p:spPr>
          <a:xfrm>
            <a:off x="630936" y="2807208"/>
            <a:ext cx="3429000" cy="3787556"/>
          </a:xfrm>
        </p:spPr>
        <p:txBody>
          <a:bodyPr vert="horz" lIns="91440" tIns="45720" rIns="91440" bIns="45720" rtlCol="0" anchor="t">
            <a:normAutofit/>
          </a:bodyPr>
          <a:lstStyle/>
          <a:p>
            <a:pPr marL="285750" indent="-228600">
              <a:buFont typeface="Arial" panose="020B0604020202020204" pitchFamily="34" charset="0"/>
              <a:buChar char="•"/>
            </a:pPr>
            <a:r>
              <a:rPr lang="en-US" sz="2200" dirty="0"/>
              <a:t>Do not interrupt the lecture.</a:t>
            </a:r>
          </a:p>
        </p:txBody>
      </p:sp>
      <p:sp>
        <p:nvSpPr>
          <p:cNvPr id="3" name="TextBox 2">
            <a:extLst>
              <a:ext uri="{FF2B5EF4-FFF2-40B4-BE49-F238E27FC236}">
                <a16:creationId xmlns:a16="http://schemas.microsoft.com/office/drawing/2014/main" id="{6A2EE1B8-184A-6972-CB55-C47AA89225E3}"/>
              </a:ext>
            </a:extLst>
          </p:cNvPr>
          <p:cNvSpPr txBox="1"/>
          <p:nvPr/>
        </p:nvSpPr>
        <p:spPr>
          <a:xfrm>
            <a:off x="4592229" y="2807208"/>
            <a:ext cx="7079673" cy="3416320"/>
          </a:xfrm>
          <a:prstGeom prst="rect">
            <a:avLst/>
          </a:prstGeom>
          <a:noFill/>
        </p:spPr>
        <p:txBody>
          <a:bodyPr wrap="square">
            <a:spAutoFit/>
          </a:bodyPr>
          <a:lstStyle/>
          <a:p>
            <a:r>
              <a:rPr lang="en-US" sz="2400" dirty="0"/>
              <a:t>If you arrive late, respect your classmates and me by being quiet and getting seated without making a lot of racket. </a:t>
            </a:r>
          </a:p>
          <a:p>
            <a:endParaRPr lang="en-US" sz="2400" dirty="0"/>
          </a:p>
          <a:p>
            <a:r>
              <a:rPr lang="en-US" sz="2400" dirty="0"/>
              <a:t>If you routinely arrive late, work on your priorities and stop doing that.</a:t>
            </a:r>
          </a:p>
          <a:p>
            <a:endParaRPr lang="en-US" sz="2400" dirty="0"/>
          </a:p>
          <a:p>
            <a:r>
              <a:rPr lang="en-US" sz="2400" b="1" dirty="0"/>
              <a:t>You paid to be here. You paid me to be here.</a:t>
            </a:r>
          </a:p>
          <a:p>
            <a:r>
              <a:rPr lang="en-US" sz="2400" b="1" dirty="0"/>
              <a:t>So be here and be here on time.</a:t>
            </a:r>
          </a:p>
        </p:txBody>
      </p:sp>
    </p:spTree>
    <p:extLst>
      <p:ext uri="{BB962C8B-B14F-4D97-AF65-F5344CB8AC3E}">
        <p14:creationId xmlns:p14="http://schemas.microsoft.com/office/powerpoint/2010/main" val="819921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13B1F-7B5E-6E10-5217-0B74858E3F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CFA551-A921-77D9-27C6-DCACE047F538}"/>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AI Usage</a:t>
            </a:r>
          </a:p>
        </p:txBody>
      </p:sp>
      <p:sp>
        <p:nvSpPr>
          <p:cNvPr id="6" name="Text Placeholder 5">
            <a:extLst>
              <a:ext uri="{FF2B5EF4-FFF2-40B4-BE49-F238E27FC236}">
                <a16:creationId xmlns:a16="http://schemas.microsoft.com/office/drawing/2014/main" id="{177123E0-5194-1C5E-3479-379A1818B30D}"/>
              </a:ext>
            </a:extLst>
          </p:cNvPr>
          <p:cNvSpPr>
            <a:spLocks noGrp="1"/>
          </p:cNvSpPr>
          <p:nvPr>
            <p:ph type="body" sz="half" idx="2"/>
          </p:nvPr>
        </p:nvSpPr>
        <p:spPr>
          <a:xfrm>
            <a:off x="630936" y="2807208"/>
            <a:ext cx="3636264" cy="3787556"/>
          </a:xfrm>
        </p:spPr>
        <p:txBody>
          <a:bodyPr vert="horz" lIns="91440" tIns="45720" rIns="91440" bIns="45720" rtlCol="0" anchor="t">
            <a:normAutofit lnSpcReduction="10000"/>
          </a:bodyPr>
          <a:lstStyle/>
          <a:p>
            <a:pPr marL="285750" indent="-228600">
              <a:buFont typeface="Arial" panose="020B0604020202020204" pitchFamily="34" charset="0"/>
              <a:buChar char="•"/>
            </a:pPr>
            <a:r>
              <a:rPr lang="en-US" sz="2200" dirty="0"/>
              <a:t>You can use AI.</a:t>
            </a:r>
          </a:p>
          <a:p>
            <a:pPr marL="285750" indent="-228600">
              <a:buFont typeface="Arial" panose="020B0604020202020204" pitchFamily="34" charset="0"/>
              <a:buChar char="•"/>
            </a:pPr>
            <a:r>
              <a:rPr lang="en-US" sz="2200" dirty="0"/>
              <a:t>I advise against it, other than to perhaps verify your work.</a:t>
            </a:r>
          </a:p>
          <a:p>
            <a:pPr marL="285750" indent="-228600">
              <a:buFont typeface="Arial" panose="020B0604020202020204" pitchFamily="34" charset="0"/>
              <a:buChar char="•"/>
            </a:pPr>
            <a:r>
              <a:rPr lang="en-US" sz="2200" dirty="0"/>
              <a:t>You are here to learn - not write prompts.</a:t>
            </a:r>
          </a:p>
          <a:p>
            <a:pPr marL="285750" indent="-228600">
              <a:buFont typeface="Arial" panose="020B0604020202020204" pitchFamily="34" charset="0"/>
              <a:buChar char="•"/>
            </a:pPr>
            <a:r>
              <a:rPr lang="en-US" sz="2200" dirty="0"/>
              <a:t>Grades mean nothing in the real world, so earning a grade via expert AI usage likely will not advance your career much.</a:t>
            </a:r>
          </a:p>
        </p:txBody>
      </p:sp>
      <p:sp>
        <p:nvSpPr>
          <p:cNvPr id="3" name="TextBox 2">
            <a:extLst>
              <a:ext uri="{FF2B5EF4-FFF2-40B4-BE49-F238E27FC236}">
                <a16:creationId xmlns:a16="http://schemas.microsoft.com/office/drawing/2014/main" id="{01495A64-9085-0CE9-0134-487C2A71AC64}"/>
              </a:ext>
            </a:extLst>
          </p:cNvPr>
          <p:cNvSpPr txBox="1"/>
          <p:nvPr/>
        </p:nvSpPr>
        <p:spPr>
          <a:xfrm>
            <a:off x="4696690" y="727096"/>
            <a:ext cx="7079673" cy="5170646"/>
          </a:xfrm>
          <a:prstGeom prst="rect">
            <a:avLst/>
          </a:prstGeom>
          <a:noFill/>
        </p:spPr>
        <p:txBody>
          <a:bodyPr wrap="square">
            <a:spAutoFit/>
          </a:bodyPr>
          <a:lstStyle/>
          <a:p>
            <a:r>
              <a:rPr lang="en-US" sz="2000" b="1" u="sng" dirty="0"/>
              <a:t>AI Use Allowed, but Not Required</a:t>
            </a:r>
          </a:p>
          <a:p>
            <a:endParaRPr lang="en-US" dirty="0"/>
          </a:p>
          <a:p>
            <a:r>
              <a:rPr lang="en-US" dirty="0"/>
              <a:t>In this class, you are welcome to use AI for any purpose outside of written (in-person) exams. </a:t>
            </a:r>
          </a:p>
          <a:p>
            <a:endParaRPr lang="en-US" dirty="0"/>
          </a:p>
          <a:p>
            <a:r>
              <a:rPr lang="en-US" dirty="0"/>
              <a:t>However, you should note that all AI generative tools still tend to make up incorrect facts and fake citations, code generation models tend to produce inaccurate outputs, and image/art generation tools can produce copied work or offensive products. </a:t>
            </a:r>
          </a:p>
          <a:p>
            <a:endParaRPr lang="en-US" dirty="0"/>
          </a:p>
          <a:p>
            <a:r>
              <a:rPr lang="en-US" dirty="0"/>
              <a:t>You will be responsible for any inaccurate, biased, offensive, or otherwise unethical content you submit regardless of whether it originally comes from you or an AI tool. </a:t>
            </a:r>
          </a:p>
          <a:p>
            <a:endParaRPr lang="en-US" dirty="0"/>
          </a:p>
          <a:p>
            <a:r>
              <a:rPr lang="en-US" dirty="0">
                <a:highlight>
                  <a:srgbClr val="FFFF00"/>
                </a:highlight>
              </a:rPr>
              <a:t>If you use an AI tool, its contribution must be credited in your submission. </a:t>
            </a:r>
            <a:r>
              <a:rPr lang="en-US" b="1" dirty="0">
                <a:highlight>
                  <a:srgbClr val="FFFF00"/>
                </a:highlight>
              </a:rPr>
              <a:t>The use of an AI tool without acknowledgement is cheating and constitutes a violation of the KSU Code of Academic Integrity</a:t>
            </a:r>
            <a:r>
              <a:rPr lang="en-US" sz="2400" dirty="0">
                <a:effectLst/>
                <a:highlight>
                  <a:srgbClr val="FFFF00"/>
                </a:highlight>
              </a:rPr>
              <a:t> </a:t>
            </a:r>
            <a:endParaRPr lang="en-US" sz="2400" b="1" dirty="0">
              <a:highlight>
                <a:srgbClr val="FFFF00"/>
              </a:highlight>
            </a:endParaRPr>
          </a:p>
        </p:txBody>
      </p:sp>
    </p:spTree>
    <p:extLst>
      <p:ext uri="{BB962C8B-B14F-4D97-AF65-F5344CB8AC3E}">
        <p14:creationId xmlns:p14="http://schemas.microsoft.com/office/powerpoint/2010/main" val="2959143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52507E7-D67D-43FE-4E44-94338964A411}"/>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D2L</a:t>
            </a:r>
          </a:p>
        </p:txBody>
      </p:sp>
      <p:pic>
        <p:nvPicPr>
          <p:cNvPr id="2" name="Picture 1">
            <a:extLst>
              <a:ext uri="{FF2B5EF4-FFF2-40B4-BE49-F238E27FC236}">
                <a16:creationId xmlns:a16="http://schemas.microsoft.com/office/drawing/2014/main" id="{05A58804-ECEC-99CB-4AD8-A4C547DE0A26}"/>
              </a:ext>
            </a:extLst>
          </p:cNvPr>
          <p:cNvPicPr>
            <a:picLocks noChangeAspect="1"/>
          </p:cNvPicPr>
          <p:nvPr/>
        </p:nvPicPr>
        <p:blipFill>
          <a:blip r:embed="rId2"/>
          <a:stretch>
            <a:fillRect/>
          </a:stretch>
        </p:blipFill>
        <p:spPr>
          <a:xfrm>
            <a:off x="2481878" y="1126194"/>
            <a:ext cx="9232746" cy="4605612"/>
          </a:xfrm>
          <a:prstGeom prst="rect">
            <a:avLst/>
          </a:prstGeom>
        </p:spPr>
      </p:pic>
      <p:sp>
        <p:nvSpPr>
          <p:cNvPr id="3" name="TextBox 2">
            <a:extLst>
              <a:ext uri="{FF2B5EF4-FFF2-40B4-BE49-F238E27FC236}">
                <a16:creationId xmlns:a16="http://schemas.microsoft.com/office/drawing/2014/main" id="{8CB02633-C031-D025-779B-B5446E0A0094}"/>
              </a:ext>
            </a:extLst>
          </p:cNvPr>
          <p:cNvSpPr txBox="1"/>
          <p:nvPr/>
        </p:nvSpPr>
        <p:spPr>
          <a:xfrm>
            <a:off x="6981293" y="6033814"/>
            <a:ext cx="3487479" cy="369332"/>
          </a:xfrm>
          <a:prstGeom prst="rect">
            <a:avLst/>
          </a:prstGeom>
          <a:noFill/>
        </p:spPr>
        <p:txBody>
          <a:bodyPr wrap="square" rtlCol="0">
            <a:spAutoFit/>
          </a:bodyPr>
          <a:lstStyle/>
          <a:p>
            <a:r>
              <a:rPr lang="en-US" b="1" dirty="0"/>
              <a:t>Do not use D2L email! I hate it!</a:t>
            </a:r>
          </a:p>
        </p:txBody>
      </p:sp>
    </p:spTree>
    <p:extLst>
      <p:ext uri="{BB962C8B-B14F-4D97-AF65-F5344CB8AC3E}">
        <p14:creationId xmlns:p14="http://schemas.microsoft.com/office/powerpoint/2010/main" val="852732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844C8-3D51-20CB-F40C-311E93BAF171}"/>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DA4DC08D-2BCE-AD1E-28A4-BCBB44A55F2A}"/>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dirty="0"/>
              <a:t>Schedule</a:t>
            </a:r>
            <a:br>
              <a:rPr lang="en-US" sz="5400" b="1" dirty="0"/>
            </a:br>
            <a:r>
              <a:rPr lang="en-US" b="1" dirty="0"/>
              <a:t>as of </a:t>
            </a:r>
            <a:r>
              <a:rPr lang="en-US" sz="4000" b="1" dirty="0"/>
              <a:t>Jan 11</a:t>
            </a:r>
            <a:endParaRPr lang="en-US" b="1" kern="1200" dirty="0">
              <a:solidFill>
                <a:schemeClr val="tx1"/>
              </a:solidFill>
              <a:latin typeface="+mj-lt"/>
              <a:ea typeface="+mj-ea"/>
              <a:cs typeface="+mj-cs"/>
            </a:endParaRPr>
          </a:p>
        </p:txBody>
      </p:sp>
      <p:sp>
        <p:nvSpPr>
          <p:cNvPr id="3" name="Text Placeholder 5">
            <a:extLst>
              <a:ext uri="{FF2B5EF4-FFF2-40B4-BE49-F238E27FC236}">
                <a16:creationId xmlns:a16="http://schemas.microsoft.com/office/drawing/2014/main" id="{17EA4919-9F6C-6FEE-7E3C-885A84A09E67}"/>
              </a:ext>
            </a:extLst>
          </p:cNvPr>
          <p:cNvSpPr txBox="1">
            <a:spLocks/>
          </p:cNvSpPr>
          <p:nvPr/>
        </p:nvSpPr>
        <p:spPr>
          <a:xfrm>
            <a:off x="630936" y="2807208"/>
            <a:ext cx="3636264" cy="37875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a:r>
              <a:rPr lang="en-US" sz="2200" dirty="0"/>
              <a:t>The schedule may change.</a:t>
            </a:r>
          </a:p>
          <a:p>
            <a:pPr marL="285750"/>
            <a:r>
              <a:rPr lang="en-US" sz="2200" dirty="0"/>
              <a:t>If it changes, I will announce the change on D2L.</a:t>
            </a:r>
          </a:p>
          <a:p>
            <a:pPr marL="285750"/>
            <a:r>
              <a:rPr lang="en-US" sz="2200" dirty="0"/>
              <a:t>I typically do not update the syllabus when the schedule changes.</a:t>
            </a:r>
          </a:p>
        </p:txBody>
      </p:sp>
      <p:pic>
        <p:nvPicPr>
          <p:cNvPr id="4" name="Picture 3">
            <a:extLst>
              <a:ext uri="{FF2B5EF4-FFF2-40B4-BE49-F238E27FC236}">
                <a16:creationId xmlns:a16="http://schemas.microsoft.com/office/drawing/2014/main" id="{847D919C-B58B-467B-E96E-9E55FE998D5D}"/>
              </a:ext>
            </a:extLst>
          </p:cNvPr>
          <p:cNvPicPr>
            <a:picLocks noChangeAspect="1"/>
          </p:cNvPicPr>
          <p:nvPr/>
        </p:nvPicPr>
        <p:blipFill>
          <a:blip r:embed="rId2"/>
          <a:stretch>
            <a:fillRect/>
          </a:stretch>
        </p:blipFill>
        <p:spPr>
          <a:xfrm>
            <a:off x="4907677" y="608910"/>
            <a:ext cx="6653387" cy="5640180"/>
          </a:xfrm>
          <a:prstGeom prst="rect">
            <a:avLst/>
          </a:prstGeom>
        </p:spPr>
      </p:pic>
    </p:spTree>
    <p:extLst>
      <p:ext uri="{BB962C8B-B14F-4D97-AF65-F5344CB8AC3E}">
        <p14:creationId xmlns:p14="http://schemas.microsoft.com/office/powerpoint/2010/main" val="3886550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C847-7DDA-E169-14D4-495898BBCD35}"/>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213F1189-6767-5C66-E2D5-31BF4485872C}"/>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GitHub</a:t>
            </a:r>
          </a:p>
        </p:txBody>
      </p:sp>
      <p:pic>
        <p:nvPicPr>
          <p:cNvPr id="4" name="Picture 3">
            <a:extLst>
              <a:ext uri="{FF2B5EF4-FFF2-40B4-BE49-F238E27FC236}">
                <a16:creationId xmlns:a16="http://schemas.microsoft.com/office/drawing/2014/main" id="{B01B9F9A-AA85-14A9-640E-511BB3C09701}"/>
              </a:ext>
            </a:extLst>
          </p:cNvPr>
          <p:cNvPicPr>
            <a:picLocks noChangeAspect="1"/>
          </p:cNvPicPr>
          <p:nvPr/>
        </p:nvPicPr>
        <p:blipFill>
          <a:blip r:embed="rId2"/>
          <a:stretch>
            <a:fillRect/>
          </a:stretch>
        </p:blipFill>
        <p:spPr>
          <a:xfrm>
            <a:off x="3581400" y="1499056"/>
            <a:ext cx="7772400" cy="4385415"/>
          </a:xfrm>
          <a:prstGeom prst="rect">
            <a:avLst/>
          </a:prstGeom>
        </p:spPr>
      </p:pic>
      <p:sp>
        <p:nvSpPr>
          <p:cNvPr id="7" name="TextBox 6">
            <a:extLst>
              <a:ext uri="{FF2B5EF4-FFF2-40B4-BE49-F238E27FC236}">
                <a16:creationId xmlns:a16="http://schemas.microsoft.com/office/drawing/2014/main" id="{739AEA8E-E3CD-F62A-B4C6-B9C82F477A23}"/>
              </a:ext>
            </a:extLst>
          </p:cNvPr>
          <p:cNvSpPr txBox="1"/>
          <p:nvPr/>
        </p:nvSpPr>
        <p:spPr>
          <a:xfrm>
            <a:off x="1169582" y="6218480"/>
            <a:ext cx="10770781" cy="369332"/>
          </a:xfrm>
          <a:prstGeom prst="rect">
            <a:avLst/>
          </a:prstGeom>
          <a:noFill/>
        </p:spPr>
        <p:txBody>
          <a:bodyPr wrap="square">
            <a:spAutoFit/>
          </a:bodyPr>
          <a:lstStyle/>
          <a:p>
            <a:r>
              <a:rPr lang="en-US" b="1" dirty="0">
                <a:hlinkClick r:id="rId3"/>
              </a:rPr>
              <a:t>https://github.com/jeff-adkisson/swe-4743-spring-2026-oo-design/blob/main/README.md</a:t>
            </a:r>
            <a:r>
              <a:rPr lang="en-US" b="1" dirty="0"/>
              <a:t> </a:t>
            </a:r>
          </a:p>
        </p:txBody>
      </p:sp>
    </p:spTree>
    <p:extLst>
      <p:ext uri="{BB962C8B-B14F-4D97-AF65-F5344CB8AC3E}">
        <p14:creationId xmlns:p14="http://schemas.microsoft.com/office/powerpoint/2010/main" val="3154951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59D07-C20E-A919-045B-10D3D61A3578}"/>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C0FF60D3-09AD-CDEA-FE14-6DB7C2DE74EC}"/>
              </a:ext>
            </a:extLst>
          </p:cNvPr>
          <p:cNvSpPr>
            <a:spLocks noGrp="1"/>
          </p:cNvSpPr>
          <p:nvPr>
            <p:ph type="title"/>
          </p:nvPr>
        </p:nvSpPr>
        <p:spPr>
          <a:xfrm>
            <a:off x="630935" y="639520"/>
            <a:ext cx="3913355" cy="1719072"/>
          </a:xfrm>
        </p:spPr>
        <p:txBody>
          <a:bodyPr vert="horz" lIns="91440" tIns="45720" rIns="91440" bIns="45720" rtlCol="0" anchor="b">
            <a:normAutofit/>
          </a:bodyPr>
          <a:lstStyle/>
          <a:p>
            <a:r>
              <a:rPr lang="en-US" sz="5400" b="1" kern="1200" dirty="0">
                <a:solidFill>
                  <a:schemeClr val="tx1"/>
                </a:solidFill>
                <a:latin typeface="+mj-lt"/>
                <a:ea typeface="+mj-ea"/>
                <a:cs typeface="+mj-cs"/>
              </a:rPr>
              <a:t>GitHub</a:t>
            </a:r>
          </a:p>
        </p:txBody>
      </p:sp>
      <p:sp>
        <p:nvSpPr>
          <p:cNvPr id="7" name="TextBox 6">
            <a:extLst>
              <a:ext uri="{FF2B5EF4-FFF2-40B4-BE49-F238E27FC236}">
                <a16:creationId xmlns:a16="http://schemas.microsoft.com/office/drawing/2014/main" id="{5B9840F4-DC84-75C9-8D09-D8C014635F59}"/>
              </a:ext>
            </a:extLst>
          </p:cNvPr>
          <p:cNvSpPr txBox="1"/>
          <p:nvPr/>
        </p:nvSpPr>
        <p:spPr>
          <a:xfrm>
            <a:off x="1169582" y="6218480"/>
            <a:ext cx="10770781" cy="369332"/>
          </a:xfrm>
          <a:prstGeom prst="rect">
            <a:avLst/>
          </a:prstGeom>
          <a:noFill/>
        </p:spPr>
        <p:txBody>
          <a:bodyPr wrap="square">
            <a:spAutoFit/>
          </a:bodyPr>
          <a:lstStyle/>
          <a:p>
            <a:r>
              <a:rPr lang="en-US" b="1" dirty="0">
                <a:hlinkClick r:id="rId2"/>
              </a:rPr>
              <a:t>https://github.com/jeff-adkisson/swe-4743-spring-2026-oo-design/blob/main/README.md</a:t>
            </a:r>
            <a:r>
              <a:rPr lang="en-US" b="1" dirty="0"/>
              <a:t> </a:t>
            </a:r>
          </a:p>
        </p:txBody>
      </p:sp>
      <p:pic>
        <p:nvPicPr>
          <p:cNvPr id="2" name="Picture 1">
            <a:extLst>
              <a:ext uri="{FF2B5EF4-FFF2-40B4-BE49-F238E27FC236}">
                <a16:creationId xmlns:a16="http://schemas.microsoft.com/office/drawing/2014/main" id="{A7D61C90-A55C-D0E4-0534-096DDAEF8000}"/>
              </a:ext>
            </a:extLst>
          </p:cNvPr>
          <p:cNvPicPr>
            <a:picLocks noChangeAspect="1"/>
          </p:cNvPicPr>
          <p:nvPr/>
        </p:nvPicPr>
        <p:blipFill>
          <a:blip r:embed="rId3"/>
          <a:stretch>
            <a:fillRect/>
          </a:stretch>
        </p:blipFill>
        <p:spPr>
          <a:xfrm>
            <a:off x="3475075" y="1499056"/>
            <a:ext cx="7772400" cy="3342967"/>
          </a:xfrm>
          <a:prstGeom prst="rect">
            <a:avLst/>
          </a:prstGeom>
        </p:spPr>
      </p:pic>
    </p:spTree>
    <p:extLst>
      <p:ext uri="{BB962C8B-B14F-4D97-AF65-F5344CB8AC3E}">
        <p14:creationId xmlns:p14="http://schemas.microsoft.com/office/powerpoint/2010/main" val="2237852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EE61B-70A4-194F-584B-5146B39A2EEB}"/>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60085578-A05C-E085-809E-AD8712A0DBDD}"/>
              </a:ext>
            </a:extLst>
          </p:cNvPr>
          <p:cNvSpPr>
            <a:spLocks noGrp="1"/>
          </p:cNvSpPr>
          <p:nvPr>
            <p:ph type="title"/>
          </p:nvPr>
        </p:nvSpPr>
        <p:spPr>
          <a:xfrm>
            <a:off x="641568" y="1447594"/>
            <a:ext cx="3913355" cy="1719072"/>
          </a:xfrm>
        </p:spPr>
        <p:txBody>
          <a:bodyPr vert="horz" lIns="91440" tIns="45720" rIns="91440" bIns="45720" rtlCol="0" anchor="b">
            <a:normAutofit/>
          </a:bodyPr>
          <a:lstStyle/>
          <a:p>
            <a:r>
              <a:rPr lang="en-US" sz="5400" b="1" dirty="0"/>
              <a:t>Coding</a:t>
            </a:r>
            <a:br>
              <a:rPr lang="en-US" sz="5400" b="1" dirty="0"/>
            </a:br>
            <a:r>
              <a:rPr lang="en-US" sz="5400" b="1" dirty="0"/>
              <a:t>Assistance</a:t>
            </a:r>
            <a:endParaRPr lang="en-US" sz="5400" b="1"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14EA2541-5A30-264D-E565-9576EE18F354}"/>
              </a:ext>
            </a:extLst>
          </p:cNvPr>
          <p:cNvSpPr txBox="1"/>
          <p:nvPr/>
        </p:nvSpPr>
        <p:spPr>
          <a:xfrm>
            <a:off x="4554923" y="1447594"/>
            <a:ext cx="7079673" cy="4893647"/>
          </a:xfrm>
          <a:prstGeom prst="rect">
            <a:avLst/>
          </a:prstGeom>
          <a:noFill/>
        </p:spPr>
        <p:txBody>
          <a:bodyPr wrap="square">
            <a:spAutoFit/>
          </a:bodyPr>
          <a:lstStyle/>
          <a:p>
            <a:r>
              <a:rPr lang="en-US" sz="2400" dirty="0"/>
              <a:t>If you need help with an assignment or your project, always include a link to the code in your personal or team GitHub repository.</a:t>
            </a:r>
          </a:p>
          <a:p>
            <a:endParaRPr lang="en-US" sz="2400" dirty="0"/>
          </a:p>
          <a:p>
            <a:r>
              <a:rPr lang="en-US" sz="2400" dirty="0"/>
              <a:t>Do not email me code!</a:t>
            </a:r>
          </a:p>
          <a:p>
            <a:endParaRPr lang="en-US" sz="2400" dirty="0"/>
          </a:p>
          <a:p>
            <a:r>
              <a:rPr lang="en-US" sz="2400" dirty="0"/>
              <a:t>Do not zip code and post it to D2L!</a:t>
            </a:r>
          </a:p>
          <a:p>
            <a:endParaRPr lang="en-US" sz="2400" dirty="0"/>
          </a:p>
          <a:p>
            <a:r>
              <a:rPr lang="en-US" sz="2400" dirty="0"/>
              <a:t>Share code the way industry professionals share it – via a source control system.</a:t>
            </a:r>
          </a:p>
          <a:p>
            <a:endParaRPr lang="en-US" sz="2400" dirty="0"/>
          </a:p>
          <a:p>
            <a:r>
              <a:rPr lang="en-US" sz="2400" dirty="0"/>
              <a:t>This saves time (I can clone and go), enables me to review the code online or on my phone, etc.</a:t>
            </a:r>
          </a:p>
        </p:txBody>
      </p:sp>
      <p:sp>
        <p:nvSpPr>
          <p:cNvPr id="4" name="Text Placeholder 5">
            <a:extLst>
              <a:ext uri="{FF2B5EF4-FFF2-40B4-BE49-F238E27FC236}">
                <a16:creationId xmlns:a16="http://schemas.microsoft.com/office/drawing/2014/main" id="{C25F2804-5318-63F2-BFED-40F48F6121FC}"/>
              </a:ext>
            </a:extLst>
          </p:cNvPr>
          <p:cNvSpPr txBox="1">
            <a:spLocks/>
          </p:cNvSpPr>
          <p:nvPr/>
        </p:nvSpPr>
        <p:spPr>
          <a:xfrm>
            <a:off x="557404" y="3429000"/>
            <a:ext cx="3636264" cy="37875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a:r>
              <a:rPr lang="en-US" sz="2200" dirty="0"/>
              <a:t>I enjoy helping you with your code.</a:t>
            </a:r>
          </a:p>
          <a:p>
            <a:pPr marL="285750"/>
            <a:r>
              <a:rPr lang="en-US" sz="2200" dirty="0"/>
              <a:t>My code reviews are often done with a Loom video.</a:t>
            </a:r>
          </a:p>
          <a:p>
            <a:pPr marL="285750"/>
            <a:r>
              <a:rPr lang="en-US" sz="2200" dirty="0"/>
              <a:t>I require your code to be in GitHub.</a:t>
            </a:r>
          </a:p>
        </p:txBody>
      </p:sp>
    </p:spTree>
    <p:extLst>
      <p:ext uri="{BB962C8B-B14F-4D97-AF65-F5344CB8AC3E}">
        <p14:creationId xmlns:p14="http://schemas.microsoft.com/office/powerpoint/2010/main" val="369591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D926-84AC-D83A-C18E-604B137D1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E0698-03E1-7AF5-EEEC-6F5871B6299D}"/>
              </a:ext>
            </a:extLst>
          </p:cNvPr>
          <p:cNvSpPr>
            <a:spLocks noGrp="1"/>
          </p:cNvSpPr>
          <p:nvPr>
            <p:ph type="ctrTitle"/>
          </p:nvPr>
        </p:nvSpPr>
        <p:spPr/>
        <p:txBody>
          <a:bodyPr/>
          <a:lstStyle/>
          <a:p>
            <a:r>
              <a:rPr lang="en-US" dirty="0"/>
              <a:t>SWE 4743: </a:t>
            </a:r>
            <a:br>
              <a:rPr lang="en-US" dirty="0"/>
            </a:br>
            <a:r>
              <a:rPr lang="en-US" dirty="0"/>
              <a:t>Object Oriented Design </a:t>
            </a:r>
          </a:p>
        </p:txBody>
      </p:sp>
      <p:sp>
        <p:nvSpPr>
          <p:cNvPr id="3" name="Subtitle 2">
            <a:extLst>
              <a:ext uri="{FF2B5EF4-FFF2-40B4-BE49-F238E27FC236}">
                <a16:creationId xmlns:a16="http://schemas.microsoft.com/office/drawing/2014/main" id="{B455AB69-0763-BDB8-521C-395E81114A43}"/>
              </a:ext>
            </a:extLst>
          </p:cNvPr>
          <p:cNvSpPr>
            <a:spLocks noGrp="1"/>
          </p:cNvSpPr>
          <p:nvPr>
            <p:ph type="subTitle" idx="1"/>
          </p:nvPr>
        </p:nvSpPr>
        <p:spPr/>
        <p:txBody>
          <a:bodyPr/>
          <a:lstStyle/>
          <a:p>
            <a:r>
              <a:rPr lang="en-US" dirty="0"/>
              <a:t>Jeff Adkisson</a:t>
            </a:r>
          </a:p>
          <a:p>
            <a:r>
              <a:rPr lang="en-US" dirty="0"/>
              <a:t>Monday, Wednesday at 6:30 PM</a:t>
            </a:r>
            <a:br>
              <a:rPr lang="en-US" dirty="0"/>
            </a:br>
            <a:r>
              <a:rPr lang="en-US" dirty="0"/>
              <a:t>Architecture, 175</a:t>
            </a:r>
          </a:p>
        </p:txBody>
      </p:sp>
    </p:spTree>
    <p:extLst>
      <p:ext uri="{BB962C8B-B14F-4D97-AF65-F5344CB8AC3E}">
        <p14:creationId xmlns:p14="http://schemas.microsoft.com/office/powerpoint/2010/main" val="2565009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9506</TotalTime>
  <Words>1896</Words>
  <Application>Microsoft Macintosh PowerPoint</Application>
  <PresentationFormat>Widescreen</PresentationFormat>
  <Paragraphs>188</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-apple-system</vt:lpstr>
      <vt:lpstr>Aptos</vt:lpstr>
      <vt:lpstr>Aptos Display</vt:lpstr>
      <vt:lpstr>Arial</vt:lpstr>
      <vt:lpstr>Calibri</vt:lpstr>
      <vt:lpstr>Wingdings</vt:lpstr>
      <vt:lpstr>Office Theme</vt:lpstr>
      <vt:lpstr>SWE 4743:  Object Oriented Design </vt:lpstr>
      <vt:lpstr>Course Materials</vt:lpstr>
      <vt:lpstr>ContactingMe</vt:lpstr>
      <vt:lpstr>Office Hours</vt:lpstr>
      <vt:lpstr>Grading</vt:lpstr>
      <vt:lpstr>Rounding Policy</vt:lpstr>
      <vt:lpstr>Attendance</vt:lpstr>
      <vt:lpstr>Textbooks</vt:lpstr>
      <vt:lpstr>Coding</vt:lpstr>
      <vt:lpstr>Computer Science Prerequisites</vt:lpstr>
      <vt:lpstr>Exam Dates</vt:lpstr>
      <vt:lpstr>Exam Makeups </vt:lpstr>
      <vt:lpstr>Semester Project</vt:lpstr>
      <vt:lpstr>Late Project Submissions </vt:lpstr>
      <vt:lpstr>Distractions  </vt:lpstr>
      <vt:lpstr>Sleeping </vt:lpstr>
      <vt:lpstr>Arriving Late</vt:lpstr>
      <vt:lpstr>AI Usage</vt:lpstr>
      <vt:lpstr>D2L</vt:lpstr>
      <vt:lpstr>Schedule as of Jan 11</vt:lpstr>
      <vt:lpstr>GitHub</vt:lpstr>
      <vt:lpstr>GitHub</vt:lpstr>
      <vt:lpstr>Coding Assistance</vt:lpstr>
      <vt:lpstr>SWE 4743:  Object Oriented Design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 Adkisson</dc:creator>
  <cp:lastModifiedBy>Jeff Adkisson</cp:lastModifiedBy>
  <cp:revision>127</cp:revision>
  <dcterms:created xsi:type="dcterms:W3CDTF">2018-02-20T23:25:10Z</dcterms:created>
  <dcterms:modified xsi:type="dcterms:W3CDTF">2026-01-13T22:04:35Z</dcterms:modified>
</cp:coreProperties>
</file>