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91" r:id="rId4"/>
    <p:sldId id="282" r:id="rId5"/>
    <p:sldId id="258" r:id="rId6"/>
    <p:sldId id="272" r:id="rId7"/>
    <p:sldId id="281" r:id="rId8"/>
    <p:sldId id="260" r:id="rId9"/>
    <p:sldId id="273" r:id="rId10"/>
    <p:sldId id="283" r:id="rId11"/>
    <p:sldId id="274" r:id="rId12"/>
    <p:sldId id="284" r:id="rId13"/>
    <p:sldId id="265" r:id="rId14"/>
    <p:sldId id="267" r:id="rId15"/>
    <p:sldId id="268" r:id="rId16"/>
    <p:sldId id="275" r:id="rId17"/>
    <p:sldId id="276" r:id="rId18"/>
    <p:sldId id="277" r:id="rId19"/>
    <p:sldId id="285" r:id="rId20"/>
    <p:sldId id="262" r:id="rId21"/>
    <p:sldId id="278" r:id="rId22"/>
    <p:sldId id="286" r:id="rId23"/>
    <p:sldId id="264" r:id="rId24"/>
    <p:sldId id="279" r:id="rId25"/>
    <p:sldId id="287" r:id="rId26"/>
    <p:sldId id="288" r:id="rId27"/>
    <p:sldId id="269" r:id="rId28"/>
    <p:sldId id="270" r:id="rId29"/>
    <p:sldId id="289" r:id="rId30"/>
    <p:sldId id="290" r:id="rId31"/>
    <p:sldId id="271" r:id="rId32"/>
    <p:sldId id="280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7"/>
    <p:restoredTop sz="94744"/>
  </p:normalViewPr>
  <p:slideViewPr>
    <p:cSldViewPr snapToGrid="0" snapToObjects="1">
      <p:cViewPr varScale="1">
        <p:scale>
          <a:sx n="116" d="100"/>
          <a:sy n="116" d="100"/>
        </p:scale>
        <p:origin x="19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930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that this is a fast refresher to establish shared vocabulary before design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Reassure students this is a reset, not a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88341-58B0-1028-5369-5C354FE4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5BD29-920D-79DE-07C6-5F9ABC5C1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72552-62F6-6472-4615-EAB67F401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Reassure students this is a reset, not a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F07D9-DE69-1B6F-F894-EF1935D5B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5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1D68C-441D-4A8E-41B6-B2165C77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459DC-0F7D-D51D-40FF-42E165C9A2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56F2F-0FC1-078E-923F-1585AEADD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Reassure students this is a reset, not a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21FD4-D817-0542-6835-154418D64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68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Keep neutral: what it is and why 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Stress usage, not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 design tradeoffs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Students often confuse these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Highlight intent vs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Many students struggle here—slow down slightly.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00921-BC76-2148-37FC-0F77B802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26EDB-F635-47B2-E3FC-ED411F1C4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B643B-0697-7B31-9F39-A07CA07D9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Many students struggle here—slow down slightly.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23881-E3ED-693E-A5E4-44DE534B7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948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Tie modifiers to encapsulation.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BA9DC-EA6E-833F-3987-B98447E2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C0473-4114-887C-BAA0-228FB7B20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C3A56-5A16-7D58-ED61-38FEF3B2E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Many students struggle here—slow down slightly.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BE9EF-B914-5CBD-AF61-9E38A6DDF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265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this is for humans, not compilers.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Encourage logical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Bridge to design and diagramming lectures.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383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60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07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39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2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77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38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4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586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529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5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0118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OO Foundations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1615859"/>
            <a:ext cx="3966114" cy="1813142"/>
          </a:xfrm>
        </p:spPr>
        <p:txBody>
          <a:bodyPr/>
          <a:lstStyle/>
          <a:p>
            <a:r>
              <a:rPr lang="en-US" dirty="0"/>
              <a:t>SWE 4743: </a:t>
            </a:r>
            <a:br>
              <a:rPr lang="en-US" dirty="0"/>
            </a:br>
            <a:r>
              <a:rPr lang="en-US" dirty="0"/>
              <a:t>Object-Oriented Design </a:t>
            </a:r>
          </a:p>
          <a:p>
            <a:r>
              <a:rPr lang="en-US" dirty="0"/>
              <a:t>Jeff Adkisson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</a:t>
            </a:r>
            <a:r>
              <a:rPr lang="en-US" dirty="0"/>
              <a:t>Review OO Concepts?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Students arrive with uneven OO backgrounds</a:t>
            </a:r>
          </a:p>
          <a:p>
            <a:r>
              <a:rPr dirty="0"/>
              <a:t>We need shared terminology</a:t>
            </a:r>
          </a:p>
          <a:p>
            <a:r>
              <a:rPr dirty="0"/>
              <a:t>Design discussions assume these concepts</a:t>
            </a:r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following</a:t>
            </a:r>
            <a:r>
              <a:rPr lang="en-US" dirty="0"/>
              <a:t> lecture demonstrates how to diagram OO relationships using Mermaid.js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3629D-CECB-3EC5-E6C0-C89A710E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3A5C8-9D88-AA6C-5005-7768ED00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B4A9C-6201-8957-145D-968690AED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Polymorphism, encapsulation, inheritance, interfaces</a:t>
            </a:r>
          </a:p>
          <a:p>
            <a:r>
              <a:rPr lang="en-US" dirty="0"/>
              <a:t>Access modifiers and visibility boundaries</a:t>
            </a:r>
          </a:p>
          <a:p>
            <a:r>
              <a:rPr lang="en-US" dirty="0"/>
              <a:t>Classes, fields, methods, properties</a:t>
            </a:r>
          </a:p>
          <a:p>
            <a:r>
              <a:rPr lang="en-US" dirty="0"/>
              <a:t>Primitive, abstract, and concrete types</a:t>
            </a:r>
          </a:p>
          <a:p>
            <a:r>
              <a:rPr lang="en-US" dirty="0"/>
              <a:t>Namespaces, modules, and basic organizational structure</a:t>
            </a:r>
          </a:p>
        </p:txBody>
      </p:sp>
    </p:spTree>
    <p:extLst>
      <p:ext uri="{BB962C8B-B14F-4D97-AF65-F5344CB8AC3E}">
        <p14:creationId xmlns:p14="http://schemas.microsoft.com/office/powerpoint/2010/main" val="172807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B4A4D-EEC2-2E47-E69E-BC2A38EA4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ACA5-BAD1-1062-24B2-64D1D8AF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Code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E3BC3-9619-D2DC-D743-898E0DD1D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 code is located in the course repository under </a:t>
            </a:r>
            <a:r>
              <a:rPr lang="en-US" b="1" dirty="0"/>
              <a:t>demos/02-foundations-review</a:t>
            </a:r>
            <a:endParaRPr lang="en-US" dirty="0"/>
          </a:p>
          <a:p>
            <a:r>
              <a:rPr lang="en-US" dirty="0"/>
              <a:t>Most demo code is in C#.</a:t>
            </a:r>
          </a:p>
          <a:p>
            <a:r>
              <a:rPr lang="en-US" dirty="0"/>
              <a:t>There is one version of Progam-01.cs in Java to demonstrate the difference in how Java handles namespaces (must be in separate folders and files).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1486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Allows one class to reuse another class’s behavior</a:t>
            </a:r>
          </a:p>
          <a:p>
            <a:r>
              <a:rPr dirty="0"/>
              <a:t>Represents an "is-a" relationship</a:t>
            </a:r>
          </a:p>
          <a:p>
            <a:r>
              <a:rPr dirty="0"/>
              <a:t>Creates a relationship between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D2AC1-AFEA-463D-A265-AC719D5BD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  <a:br>
              <a:rPr lang="en-US" dirty="0"/>
            </a:br>
            <a:r>
              <a:rPr lang="en-US" dirty="0"/>
              <a:t>Program-01.cs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9F2F70-E968-6E58-AFB0-7CF4C9EDC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69" y="2061574"/>
            <a:ext cx="8179600" cy="437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004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F098-8EDC-0C60-F555-E6F1D50FA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CE08-712A-72D8-499D-0308A4E5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  <a:br>
              <a:rPr lang="en-US" dirty="0"/>
            </a:br>
            <a:r>
              <a:rPr lang="en-US" dirty="0"/>
              <a:t>Program-01.cs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4437F-9D7E-4F00-17F2-52D93629A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</a:p>
          <a:p>
            <a:r>
              <a:rPr lang="en-US" sz="1400" dirty="0"/>
              <a:t>Defines an </a:t>
            </a:r>
            <a:r>
              <a:rPr lang="en-US" sz="1400" b="1" dirty="0"/>
              <a:t>abstract base class (Publication)</a:t>
            </a:r>
            <a:r>
              <a:rPr lang="en-US" sz="1400" dirty="0"/>
              <a:t> that represents a general domain concept.</a:t>
            </a:r>
          </a:p>
          <a:p>
            <a:r>
              <a:rPr lang="en-US" sz="1400" dirty="0"/>
              <a:t>Concrete subclasses (PaperbackBook, Scroll) </a:t>
            </a:r>
            <a:r>
              <a:rPr lang="en-US" sz="1400" b="1" dirty="0"/>
              <a:t>inherit shared state</a:t>
            </a:r>
            <a:r>
              <a:rPr lang="en-US" sz="1400" dirty="0"/>
              <a:t> from the base class.</a:t>
            </a:r>
          </a:p>
          <a:p>
            <a:r>
              <a:rPr lang="en-US" sz="1400" dirty="0"/>
              <a:t>The base class provides </a:t>
            </a:r>
            <a:r>
              <a:rPr lang="en-US" sz="1400" b="1" dirty="0"/>
              <a:t>non-abstract shared behavior</a:t>
            </a:r>
            <a:r>
              <a:rPr lang="en-US" sz="1400" dirty="0"/>
              <a:t> (GetDetails) that subclasses may override.</a:t>
            </a:r>
          </a:p>
          <a:p>
            <a:r>
              <a:rPr lang="en-US" sz="1400" dirty="0"/>
              <a:t>Client code operates on a </a:t>
            </a:r>
            <a:r>
              <a:rPr lang="en-US" sz="1400" b="1" dirty="0"/>
              <a:t>collection of the base type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OO Concepts Illustrated</a:t>
            </a:r>
            <a:endParaRPr lang="en-US" sz="1400" dirty="0"/>
          </a:p>
          <a:p>
            <a:r>
              <a:rPr lang="en-US" sz="1400" dirty="0"/>
              <a:t>Abstract classes</a:t>
            </a:r>
          </a:p>
          <a:p>
            <a:r>
              <a:rPr lang="en-US" sz="1400" dirty="0"/>
              <a:t>Inheritance</a:t>
            </a:r>
          </a:p>
          <a:p>
            <a:r>
              <a:rPr lang="en-US" sz="1400" dirty="0"/>
              <a:t>Code reuse through shared base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7C9FB-54F8-BD13-BCA4-755476CE4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46" y="383960"/>
            <a:ext cx="5173712" cy="68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7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Code works with many related types</a:t>
            </a:r>
          </a:p>
          <a:p>
            <a:r>
              <a:rPr dirty="0"/>
              <a:t>Uses a base type reference</a:t>
            </a:r>
          </a:p>
          <a:p>
            <a:r>
              <a:rPr dirty="0"/>
              <a:t>Enables flexible behavior</a:t>
            </a:r>
            <a:endParaRPr lang="en-US" dirty="0"/>
          </a:p>
          <a:p>
            <a:r>
              <a:rPr lang="en-US" dirty="0"/>
              <a:t>There are various polymorphic techniques</a:t>
            </a:r>
          </a:p>
          <a:p>
            <a:pPr lvl="1"/>
            <a:r>
              <a:rPr lang="en-US" dirty="0"/>
              <a:t>Abstract classes</a:t>
            </a:r>
          </a:p>
          <a:p>
            <a:pPr lvl="1"/>
            <a:r>
              <a:rPr lang="en-US" dirty="0"/>
              <a:t>Interfaces</a:t>
            </a:r>
          </a:p>
          <a:p>
            <a:pPr lvl="1"/>
            <a:r>
              <a:rPr lang="en-US" dirty="0"/>
              <a:t>Abstract methods (children must implement)</a:t>
            </a:r>
          </a:p>
          <a:p>
            <a:pPr lvl="1"/>
            <a:r>
              <a:rPr lang="en-US" dirty="0"/>
              <a:t>Virtual methods (descendants </a:t>
            </a:r>
            <a:r>
              <a:rPr lang="en-US" i="1" dirty="0"/>
              <a:t>can</a:t>
            </a:r>
            <a:r>
              <a:rPr lang="en-US" dirty="0"/>
              <a:t> override parent implementation)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37A77-4E04-B11E-6A04-0F91C354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116D-9BEC-9B11-187C-85D788BF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1</a:t>
            </a:r>
            <a:br>
              <a:rPr lang="en-US" dirty="0"/>
            </a:br>
            <a:r>
              <a:rPr lang="en-US" dirty="0"/>
              <a:t>Program-02.cs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17EB55-CEDF-21CF-9F6B-545801199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5" y="1750330"/>
            <a:ext cx="8353310" cy="478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43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4953-22B3-D132-EEE6-F58D18AC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6DC2-B153-BDDA-AE8E-A8719828B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1</a:t>
            </a:r>
            <a:br>
              <a:rPr lang="en-US" dirty="0"/>
            </a:br>
            <a:r>
              <a:rPr lang="en-US" dirty="0"/>
              <a:t>Program-02.cs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C21E9-659D-83A2-F48D-171252FDA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  <a:endParaRPr lang="en-US" sz="1400" dirty="0"/>
          </a:p>
          <a:p>
            <a:r>
              <a:rPr lang="en-US" sz="1400" dirty="0"/>
              <a:t>Evolves the base class by introducing an </a:t>
            </a:r>
            <a:r>
              <a:rPr lang="en-US" sz="1400" b="1" dirty="0"/>
              <a:t>abstract method</a:t>
            </a:r>
            <a:r>
              <a:rPr lang="en-US" sz="1400" dirty="0"/>
              <a:t>.</a:t>
            </a:r>
          </a:p>
          <a:p>
            <a:r>
              <a:rPr lang="en-US" sz="1400" dirty="0"/>
              <a:t>Subclasses are now </a:t>
            </a:r>
            <a:r>
              <a:rPr lang="en-US" sz="1400" b="1" dirty="0"/>
              <a:t>required to implement behavior</a:t>
            </a:r>
            <a:r>
              <a:rPr lang="en-US" sz="1400" dirty="0"/>
              <a:t> specific to their type.</a:t>
            </a:r>
          </a:p>
          <a:p>
            <a:r>
              <a:rPr lang="en-US" sz="1400" dirty="0"/>
              <a:t>Polymorphism is exercised by calling the abstract method through a </a:t>
            </a:r>
            <a:r>
              <a:rPr lang="en-US" sz="1400" b="1" dirty="0"/>
              <a:t>base-class reference</a:t>
            </a:r>
            <a:r>
              <a:rPr lang="en-US" sz="1400" dirty="0"/>
              <a:t>.</a:t>
            </a:r>
          </a:p>
          <a:p>
            <a:r>
              <a:rPr lang="en-US" sz="1400" dirty="0"/>
              <a:t>Shared data remains in the base class; behavior diverges in subclasses.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OO Concepts Illustrated</a:t>
            </a:r>
            <a:endParaRPr lang="en-US" sz="1400" dirty="0"/>
          </a:p>
          <a:p>
            <a:r>
              <a:rPr lang="en-US" sz="1400" dirty="0"/>
              <a:t>Polymorphism</a:t>
            </a:r>
          </a:p>
          <a:p>
            <a:r>
              <a:rPr lang="en-US" sz="1400" dirty="0"/>
              <a:t>Abstract methods</a:t>
            </a:r>
          </a:p>
          <a:p>
            <a:r>
              <a:rPr lang="en-US" sz="1400" dirty="0"/>
              <a:t>Method overriding</a:t>
            </a:r>
          </a:p>
          <a:p>
            <a:r>
              <a:rPr lang="en-US" sz="1400" dirty="0"/>
              <a:t>Dynamic dispatch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3E1B74-260F-28D7-79D8-FC79C0B1C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09" y="358368"/>
            <a:ext cx="4492755" cy="57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6DE9D-026F-DA61-B8FC-FAD83E54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92833-7D60-3B65-670C-C651575D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895" y="808057"/>
            <a:ext cx="5878011" cy="1077229"/>
          </a:xfrm>
        </p:spPr>
        <p:txBody>
          <a:bodyPr/>
          <a:lstStyle/>
          <a:p>
            <a:r>
              <a:rPr lang="en-US" dirty="0"/>
              <a:t>Polymorphism 2</a:t>
            </a:r>
            <a:br>
              <a:rPr lang="en-US" dirty="0"/>
            </a:br>
            <a:r>
              <a:rPr lang="en-US" dirty="0"/>
              <a:t>Program-03.cs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1199EE-060B-5A4B-2E35-FC8F7E0E78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2463" y="2103649"/>
            <a:ext cx="8459071" cy="352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08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6755B-C60A-750B-BD61-090035DA3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DA52-3512-A216-A70C-5B21E6DE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2</a:t>
            </a:r>
            <a:br>
              <a:rPr lang="en-US" dirty="0"/>
            </a:br>
            <a:r>
              <a:rPr lang="en-US" dirty="0"/>
              <a:t>Program-03.cs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9D716-6B01-33B5-A762-2DD6F84C5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  <a:endParaRPr lang="en-US" sz="1400" dirty="0"/>
          </a:p>
          <a:p>
            <a:r>
              <a:rPr lang="en-US" sz="1400" dirty="0"/>
              <a:t>Introduces an </a:t>
            </a:r>
            <a:r>
              <a:rPr lang="en-US" sz="1400" b="1" dirty="0"/>
              <a:t>interface (IPublication)</a:t>
            </a:r>
            <a:r>
              <a:rPr lang="en-US" sz="1400" dirty="0"/>
              <a:t> to define behavioral contracts.</a:t>
            </a:r>
          </a:p>
          <a:p>
            <a:r>
              <a:rPr lang="en-US" sz="1400" dirty="0"/>
              <a:t>Abstract base class is no longer responsible for polymorphic behavior.</a:t>
            </a:r>
          </a:p>
          <a:p>
            <a:r>
              <a:rPr lang="en-US" sz="1400" dirty="0"/>
              <a:t>Concrete classes implement the interface directly.</a:t>
            </a:r>
          </a:p>
          <a:p>
            <a:r>
              <a:rPr lang="en-US" sz="1400" dirty="0"/>
              <a:t>Base class (if present) is now focused on </a:t>
            </a:r>
            <a:r>
              <a:rPr lang="en-US" sz="1400" b="1" dirty="0"/>
              <a:t>shared state only</a:t>
            </a:r>
            <a:r>
              <a:rPr lang="en-US" sz="1400" dirty="0"/>
              <a:t>.</a:t>
            </a: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OO Concepts Illustrated</a:t>
            </a:r>
            <a:endParaRPr lang="en-US" sz="1400" dirty="0"/>
          </a:p>
          <a:p>
            <a:r>
              <a:rPr lang="en-US" sz="1400" dirty="0"/>
              <a:t>Interfaces</a:t>
            </a:r>
          </a:p>
          <a:p>
            <a:r>
              <a:rPr lang="en-US" sz="1400" dirty="0"/>
              <a:t>Interface-based polymorphism</a:t>
            </a:r>
          </a:p>
          <a:p>
            <a:r>
              <a:rPr lang="en-US" sz="1400" dirty="0"/>
              <a:t>Separation of concerns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83750D-ADB5-F8B0-F2EC-9DA41CD43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2" y="312803"/>
            <a:ext cx="4597154" cy="157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78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Define what a class can do</a:t>
            </a:r>
          </a:p>
          <a:p>
            <a:r>
              <a:rPr dirty="0"/>
              <a:t>Do not contain implementation details</a:t>
            </a:r>
          </a:p>
          <a:p>
            <a:r>
              <a:rPr dirty="0"/>
              <a:t>Allow multiple implementations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Kinds of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Primitive types: built-in values</a:t>
            </a:r>
          </a:p>
          <a:p>
            <a:r>
              <a:rPr dirty="0"/>
              <a:t>Concrete types: instantiable classes</a:t>
            </a:r>
          </a:p>
          <a:p>
            <a:r>
              <a:rPr dirty="0"/>
              <a:t>Abstract types: interfaces </a:t>
            </a:r>
            <a:r>
              <a:rPr lang="en-US" dirty="0"/>
              <a:t>and</a:t>
            </a:r>
            <a:r>
              <a:rPr dirty="0"/>
              <a:t> abstract classes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6236" y="2049878"/>
            <a:ext cx="6303780" cy="4000066"/>
          </a:xfrm>
        </p:spPr>
        <p:txBody>
          <a:bodyPr/>
          <a:lstStyle/>
          <a:p>
            <a:pPr marL="0" indent="0">
              <a:buNone/>
            </a:pPr>
            <a:r>
              <a:rPr sz="1400" dirty="0">
                <a:latin typeface="Consolas"/>
              </a:rPr>
              <a:t>int count;              // primitive</a:t>
            </a:r>
          </a:p>
          <a:p>
            <a:endParaRPr sz="1400" dirty="0">
              <a:latin typeface="Consolas"/>
            </a:endParaRPr>
          </a:p>
          <a:p>
            <a:pPr marL="0" indent="0">
              <a:buNone/>
            </a:pPr>
            <a:r>
              <a:rPr sz="1400" dirty="0">
                <a:latin typeface="Consolas"/>
              </a:rPr>
              <a:t>class User { }           // concrete</a:t>
            </a:r>
          </a:p>
          <a:p>
            <a:endParaRPr sz="1400" dirty="0">
              <a:latin typeface="Consolas"/>
            </a:endParaRPr>
          </a:p>
          <a:p>
            <a:pPr marL="0" indent="0">
              <a:buNone/>
            </a:pPr>
            <a:r>
              <a:rPr sz="1400" dirty="0">
                <a:latin typeface="Consolas"/>
              </a:rPr>
              <a:t>interface IRepository { } // abstract</a:t>
            </a:r>
            <a:endParaRPr lang="en-US" sz="1400" dirty="0">
              <a:latin typeface="Consolas"/>
            </a:endParaRPr>
          </a:p>
          <a:p>
            <a:pPr marL="0" indent="0">
              <a:buNone/>
            </a:pPr>
            <a:endParaRPr lang="en-US" sz="1400" dirty="0"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abstract class UserBase { }  // abstract with implementation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1D0CA-2A82-F9FD-6457-9475EB17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21E3-DCD2-706B-75FD-D220B1D18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895" y="808057"/>
            <a:ext cx="5878011" cy="1077229"/>
          </a:xfrm>
        </p:spPr>
        <p:txBody>
          <a:bodyPr/>
          <a:lstStyle/>
          <a:p>
            <a:r>
              <a:rPr lang="en-US" dirty="0"/>
              <a:t>Polymorphism 3</a:t>
            </a:r>
            <a:br>
              <a:rPr lang="en-US" dirty="0"/>
            </a:br>
            <a:r>
              <a:rPr lang="en-US" dirty="0"/>
              <a:t>Program-04.cs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0F791D-9355-EEB6-4D2A-377DD6544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39" y="1885286"/>
            <a:ext cx="8312112" cy="393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88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253EB-B85B-F785-9EFF-64051A1E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C96D-7F5C-2F87-06AA-A670D0E2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895" y="808057"/>
            <a:ext cx="5878011" cy="1077229"/>
          </a:xfrm>
        </p:spPr>
        <p:txBody>
          <a:bodyPr/>
          <a:lstStyle/>
          <a:p>
            <a:r>
              <a:rPr lang="en-US" dirty="0"/>
              <a:t>Polymorphism 3</a:t>
            </a:r>
            <a:br>
              <a:rPr lang="en-US" dirty="0"/>
            </a:br>
            <a:r>
              <a:rPr lang="en-US" dirty="0"/>
              <a:t>Program-04.cs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AC4E2C-F03B-21D4-62F9-84A5F27D29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8780" y="2103236"/>
            <a:ext cx="7886440" cy="307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05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5BD2C-85D2-5F56-A8FF-33AAB8393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B303-C7FC-6EA6-662C-3328DA29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895" y="808057"/>
            <a:ext cx="5878011" cy="1077229"/>
          </a:xfrm>
        </p:spPr>
        <p:txBody>
          <a:bodyPr/>
          <a:lstStyle/>
          <a:p>
            <a:r>
              <a:rPr lang="en-US" dirty="0"/>
              <a:t>Polymorphism 3</a:t>
            </a:r>
            <a:br>
              <a:rPr lang="en-US" dirty="0"/>
            </a:br>
            <a:r>
              <a:rPr lang="en-US" dirty="0"/>
              <a:t>Program-04.cs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F590F-3171-1DE0-A95B-90E6772119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98895" y="1885286"/>
            <a:ext cx="5159491" cy="42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892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70F6C-0551-9F92-A14A-8D8F123F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39342C-DB8A-88DB-F120-CA955B967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219207"/>
            <a:ext cx="3847491" cy="2474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AFFE04-04C6-4456-5FD7-7C01E4F26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3</a:t>
            </a:r>
            <a:br>
              <a:rPr lang="en-US" dirty="0"/>
            </a:br>
            <a:r>
              <a:rPr lang="en-US" dirty="0"/>
              <a:t>Program-04.cs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8C20C-C00A-72BF-E750-9B9FBF9A2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  <a:endParaRPr lang="en-US" sz="1400" dirty="0"/>
          </a:p>
          <a:p>
            <a:r>
              <a:rPr lang="en-US" sz="1400" dirty="0"/>
              <a:t>Introduces a </a:t>
            </a:r>
            <a:r>
              <a:rPr lang="en-US" sz="1400" b="1" dirty="0"/>
              <a:t>top-level interface</a:t>
            </a:r>
            <a:r>
              <a:rPr lang="en-US" sz="1400" dirty="0"/>
              <a:t> (ICollectionItem) representing a broad capability.</a:t>
            </a:r>
          </a:p>
          <a:p>
            <a:r>
              <a:rPr lang="en-US" sz="1400" dirty="0"/>
              <a:t>Specialized interfaces (IPublication) </a:t>
            </a:r>
            <a:r>
              <a:rPr lang="en-US" sz="1400" b="1" dirty="0"/>
              <a:t>extend the top-level interface</a:t>
            </a:r>
            <a:r>
              <a:rPr lang="en-US" sz="1400" dirty="0"/>
              <a:t>.</a:t>
            </a:r>
          </a:p>
          <a:p>
            <a:r>
              <a:rPr lang="en-US" sz="1400" dirty="0"/>
              <a:t>Concrete classes implement the </a:t>
            </a:r>
            <a:r>
              <a:rPr lang="en-US" sz="1400" b="1" dirty="0"/>
              <a:t>most specific interface</a:t>
            </a:r>
            <a:r>
              <a:rPr lang="en-US" sz="1400" dirty="0"/>
              <a:t> appropriate to them.</a:t>
            </a:r>
          </a:p>
          <a:p>
            <a:r>
              <a:rPr lang="en-US" sz="1400" dirty="0"/>
              <a:t>Client code works against </a:t>
            </a:r>
            <a:r>
              <a:rPr lang="en-US" sz="1400" b="1" dirty="0"/>
              <a:t>multiple abstraction levels</a:t>
            </a:r>
            <a:r>
              <a:rPr lang="en-US" sz="1400" dirty="0"/>
              <a:t>.</a:t>
            </a: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OO Concepts Illustrated</a:t>
            </a:r>
            <a:endParaRPr lang="en-US" sz="1400" dirty="0"/>
          </a:p>
          <a:p>
            <a:r>
              <a:rPr lang="en-US" sz="1400" dirty="0"/>
              <a:t>Interface inheritance</a:t>
            </a:r>
          </a:p>
          <a:p>
            <a:r>
              <a:rPr lang="en-US" sz="1400" dirty="0"/>
              <a:t>Liskov Substitution Principle (LSP)</a:t>
            </a:r>
          </a:p>
          <a:p>
            <a:r>
              <a:rPr lang="en-US" sz="1400" dirty="0"/>
              <a:t>Deep polymorphism</a:t>
            </a:r>
          </a:p>
        </p:txBody>
      </p:sp>
    </p:spTree>
    <p:extLst>
      <p:ext uri="{BB962C8B-B14F-4D97-AF65-F5344CB8AC3E}">
        <p14:creationId xmlns:p14="http://schemas.microsoft.com/office/powerpoint/2010/main" val="3801478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class controls its own data</a:t>
            </a:r>
          </a:p>
          <a:p>
            <a:r>
              <a:rPr dirty="0"/>
              <a:t>State is accessed through methods</a:t>
            </a:r>
          </a:p>
          <a:p>
            <a:r>
              <a:rPr dirty="0"/>
              <a:t>Protects internal consistency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190F8-D100-C359-E439-DBB9DF580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350D-AF4D-7CCB-FA2F-0FECB1B0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Encapsulation</a:t>
            </a:r>
            <a:r>
              <a:rPr lang="en-US" dirty="0"/>
              <a:t> 1</a:t>
            </a:r>
            <a:br>
              <a:rPr lang="en-US" dirty="0"/>
            </a:br>
            <a:r>
              <a:rPr lang="en-US" dirty="0"/>
              <a:t>Program-05.cs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6E24B-3023-28FB-7459-F9125C0B6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97" y="1985494"/>
            <a:ext cx="8443206" cy="355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45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6236-F32D-4017-1EDC-5FBF40FE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42051E-4C80-AA10-F8A5-E284FEABD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33" y="181506"/>
            <a:ext cx="5141723" cy="21483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850C96-F4AC-F8B8-76F6-473282FA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1</a:t>
            </a:r>
            <a:br>
              <a:rPr lang="en-US" dirty="0"/>
            </a:br>
            <a:r>
              <a:rPr lang="en-US" dirty="0"/>
              <a:t>Program-05.cs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E5771-9148-7D1A-0268-44584B38D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  <a:endParaRPr lang="en-US" sz="1400" dirty="0"/>
          </a:p>
          <a:p>
            <a:r>
              <a:rPr lang="en-US" sz="1400" dirty="0"/>
              <a:t>Introduces </a:t>
            </a:r>
            <a:r>
              <a:rPr lang="en-US" sz="1400" b="1" dirty="0"/>
              <a:t>private fields</a:t>
            </a:r>
            <a:r>
              <a:rPr lang="en-US" sz="1400" dirty="0"/>
              <a:t> to encapsulate internal state.</a:t>
            </a:r>
          </a:p>
          <a:p>
            <a:r>
              <a:rPr lang="en-US" sz="1400" dirty="0"/>
              <a:t>State changes are controlled via </a:t>
            </a:r>
            <a:r>
              <a:rPr lang="en-US" sz="1400" b="1" dirty="0"/>
              <a:t>methods and properties</a:t>
            </a:r>
            <a:r>
              <a:rPr lang="en-US" sz="1400" dirty="0"/>
              <a:t>.</a:t>
            </a:r>
          </a:p>
          <a:p>
            <a:r>
              <a:rPr lang="en-US" sz="1400" dirty="0"/>
              <a:t>Demonstrates </a:t>
            </a:r>
            <a:r>
              <a:rPr lang="en-US" sz="1400" b="1" dirty="0"/>
              <a:t>casting between interfaces and concrete types</a:t>
            </a:r>
            <a:r>
              <a:rPr lang="en-US" sz="1400" dirty="0"/>
              <a:t> where appropriate.</a:t>
            </a:r>
          </a:p>
          <a:p>
            <a:r>
              <a:rPr lang="en-US" sz="1400" dirty="0"/>
              <a:t>Maintains polymorphism while protecting object invariants.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OO Concepts Illustrated</a:t>
            </a:r>
            <a:endParaRPr lang="en-US" sz="1400" dirty="0"/>
          </a:p>
          <a:p>
            <a:r>
              <a:rPr lang="en-US" sz="1400" dirty="0"/>
              <a:t>Encapsulation</a:t>
            </a:r>
          </a:p>
          <a:p>
            <a:r>
              <a:rPr lang="en-US" sz="1400" dirty="0"/>
              <a:t>Information hiding</a:t>
            </a:r>
          </a:p>
          <a:p>
            <a:r>
              <a:rPr lang="en-US" sz="1400" dirty="0"/>
              <a:t>Controlled access to state</a:t>
            </a:r>
          </a:p>
          <a:p>
            <a:r>
              <a:rPr lang="en-US" sz="1400" dirty="0"/>
              <a:t>Safe downcasting</a:t>
            </a:r>
          </a:p>
        </p:txBody>
      </p:sp>
    </p:spTree>
    <p:extLst>
      <p:ext uri="{BB962C8B-B14F-4D97-AF65-F5344CB8AC3E}">
        <p14:creationId xmlns:p14="http://schemas.microsoft.com/office/powerpoint/2010/main" val="464639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Access Modifiers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private: accessible only inside the class</a:t>
            </a:r>
          </a:p>
          <a:p>
            <a:r>
              <a:rPr dirty="0"/>
              <a:t>public: accessible everywhere</a:t>
            </a:r>
          </a:p>
          <a:p>
            <a:r>
              <a:rPr dirty="0"/>
              <a:t>protected: accessible to subclasses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52D3F-4C86-9E49-F1A4-8E3AA48B2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54F6-3FE8-6BD5-3C02-20F450D0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Encapsulation</a:t>
            </a:r>
            <a:r>
              <a:rPr lang="en-US" dirty="0"/>
              <a:t> 2</a:t>
            </a:r>
            <a:br>
              <a:rPr lang="en-US" dirty="0"/>
            </a:br>
            <a:r>
              <a:rPr lang="en-US" dirty="0"/>
              <a:t>Program-06.cs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077662-2C61-B395-82A7-B9916CD7F2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4672" y="1753731"/>
            <a:ext cx="6726476" cy="484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27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90A2-797F-C99C-6CC6-1BADDD27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6636D5-2255-0674-142E-461A026A2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34" y="219206"/>
            <a:ext cx="5878012" cy="24052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BBE533-530D-AB54-0B09-99252E3E9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2</a:t>
            </a:r>
            <a:br>
              <a:rPr lang="en-US" dirty="0"/>
            </a:br>
            <a:r>
              <a:rPr lang="en-US" dirty="0"/>
              <a:t>Program-06.cs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F3396-D71C-8FA1-687C-B6B2145B4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  <a:endParaRPr lang="en-US" sz="1400" dirty="0"/>
          </a:p>
          <a:p>
            <a:r>
              <a:rPr lang="en-US" sz="1400" dirty="0"/>
              <a:t>Keeps the </a:t>
            </a:r>
            <a:r>
              <a:rPr lang="en-US" sz="1400" b="1" dirty="0"/>
              <a:t>interface-first design</a:t>
            </a:r>
            <a:r>
              <a:rPr lang="en-US" sz="1400" dirty="0"/>
              <a:t>:</a:t>
            </a:r>
          </a:p>
          <a:p>
            <a:pPr lvl="1"/>
            <a:r>
              <a:rPr lang="en-US" sz="1200" dirty="0"/>
              <a:t>ICollectionItem remains the base interface for anything in the collection.</a:t>
            </a:r>
          </a:p>
          <a:p>
            <a:pPr lvl="1"/>
            <a:r>
              <a:rPr lang="en-US" sz="1200" dirty="0"/>
              <a:t>IPublication : ICollectionItem still defines “publication” capabilities (e.g., estimated time remaining + progress updates).</a:t>
            </a:r>
          </a:p>
          <a:p>
            <a:pPr lvl="1"/>
            <a:r>
              <a:rPr lang="en-US" sz="1200" dirty="0"/>
              <a:t>IArtifact : ICollectionItem continues to represent non-reading/listening collection items.</a:t>
            </a:r>
          </a:p>
          <a:p>
            <a:r>
              <a:rPr lang="en-US" sz="1400" dirty="0"/>
              <a:t>Introduces a new </a:t>
            </a:r>
            <a:r>
              <a:rPr lang="en-US" sz="1400" b="1" dirty="0"/>
              <a:t>abstract class beneath the interface</a:t>
            </a:r>
            <a:r>
              <a:rPr lang="en-US" sz="1400" dirty="0"/>
              <a:t>:</a:t>
            </a:r>
          </a:p>
          <a:p>
            <a:pPr lvl="1"/>
            <a:r>
              <a:rPr lang="en-US" sz="1200" dirty="0"/>
              <a:t>PublicationBase : IPublication acts as a shared implementation layer.</a:t>
            </a:r>
          </a:p>
          <a:p>
            <a:pPr lvl="1"/>
            <a:r>
              <a:rPr lang="en-US" sz="1200" dirty="0"/>
              <a:t>Holds common state for publication progress using </a:t>
            </a:r>
            <a:r>
              <a:rPr lang="en-US" sz="1200" b="1" dirty="0"/>
              <a:t>protected fields</a:t>
            </a:r>
            <a:r>
              <a:rPr lang="en-US" sz="1200" dirty="0"/>
              <a:t> (teaching-focused encapsulation).</a:t>
            </a:r>
          </a:p>
          <a:p>
            <a:r>
              <a:rPr lang="en-US" sz="1400" dirty="0"/>
              <a:t>Centralizes shared progress behavior:</a:t>
            </a:r>
          </a:p>
          <a:p>
            <a:pPr lvl="1"/>
            <a:r>
              <a:rPr lang="en-US" sz="1200" dirty="0"/>
              <a:t>A single implementation of progress mutation logic (e.g., “add % read/listened”) now lives in the abstract base.</a:t>
            </a:r>
          </a:p>
          <a:p>
            <a:pPr lvl="1"/>
            <a:r>
              <a:rPr lang="en-US" sz="1200" dirty="0"/>
              <a:t>Concrete publication types override only what varies (e.g., how “remaining” is computed and how details are presented).</a:t>
            </a:r>
          </a:p>
        </p:txBody>
      </p:sp>
    </p:spTree>
    <p:extLst>
      <p:ext uri="{BB962C8B-B14F-4D97-AF65-F5344CB8AC3E}">
        <p14:creationId xmlns:p14="http://schemas.microsoft.com/office/powerpoint/2010/main" val="2016426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CF6B-84EF-33F0-C090-EFCA9D90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F69CC-7640-2898-33B5-23E4E8F3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2</a:t>
            </a:r>
            <a:br>
              <a:rPr lang="en-US" dirty="0"/>
            </a:br>
            <a:r>
              <a:rPr lang="en-US" dirty="0"/>
              <a:t>Program-06.cs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B2868-2568-2068-8F32-31EBD1AE9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OO Concepts Illustrated</a:t>
            </a:r>
            <a:endParaRPr lang="en-US" sz="1400" dirty="0"/>
          </a:p>
          <a:p>
            <a:r>
              <a:rPr lang="en-US" sz="1400" dirty="0"/>
              <a:t>Encapsulation via protected (and what it exposes vs private)</a:t>
            </a:r>
          </a:p>
          <a:p>
            <a:r>
              <a:rPr lang="en-US" sz="1400" dirty="0"/>
              <a:t>Interfaces + abstract classes together (“contract + partial implementation”)</a:t>
            </a:r>
          </a:p>
          <a:p>
            <a:r>
              <a:rPr lang="en-US" sz="1400" dirty="0"/>
              <a:t>Reuse without duplicating state/logic</a:t>
            </a:r>
          </a:p>
          <a:p>
            <a:r>
              <a:rPr lang="en-US" sz="1400" dirty="0"/>
              <a:t>Template-style variation: base handles common mechanics, subclasses specialize specifics</a:t>
            </a:r>
          </a:p>
        </p:txBody>
      </p:sp>
    </p:spTree>
    <p:extLst>
      <p:ext uri="{BB962C8B-B14F-4D97-AF65-F5344CB8AC3E}">
        <p14:creationId xmlns:p14="http://schemas.microsoft.com/office/powerpoint/2010/main" val="1340810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Namespaces and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Group related classes</a:t>
            </a:r>
          </a:p>
          <a:p>
            <a:r>
              <a:rPr dirty="0"/>
              <a:t>Prevent naming conflicts</a:t>
            </a:r>
          </a:p>
          <a:p>
            <a:r>
              <a:rPr dirty="0"/>
              <a:t>Improve readability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  <a:br>
              <a:rPr lang="en-US" dirty="0"/>
            </a:br>
            <a:r>
              <a:rPr lang="en-US" dirty="0"/>
              <a:t>Program-07.cs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D8155-EF7B-FB73-9706-63B94C5BE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218" y="1778696"/>
            <a:ext cx="3894531" cy="48037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A89A3-8AB8-90D3-EF89-E8C4210F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57BB02-B11F-5253-7374-0C50917BD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11" y="300535"/>
            <a:ext cx="6178463" cy="2519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CB535F-AE18-025E-5572-CA90CE704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  <a:br>
              <a:rPr lang="en-US" dirty="0"/>
            </a:br>
            <a:r>
              <a:rPr lang="en-US" dirty="0"/>
              <a:t>Program-07.cs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75A9A-277C-05AA-8F84-F0BC7D57A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</a:p>
          <a:p>
            <a:r>
              <a:rPr lang="en-US" sz="1400" dirty="0"/>
              <a:t>Refactors the “main program” responsibilities into </a:t>
            </a:r>
            <a:r>
              <a:rPr lang="en-US" sz="1400" b="1" dirty="0"/>
              <a:t>focused helper classes</a:t>
            </a:r>
            <a:r>
              <a:rPr lang="en-US" sz="1400" dirty="0"/>
              <a:t>:</a:t>
            </a:r>
          </a:p>
          <a:p>
            <a:pPr lvl="1"/>
            <a:r>
              <a:rPr lang="en-US" sz="1200" dirty="0"/>
              <a:t>CollectionInitializer (builds the collection)</a:t>
            </a:r>
          </a:p>
          <a:p>
            <a:pPr lvl="1"/>
            <a:r>
              <a:rPr lang="en-US" sz="1200" dirty="0"/>
              <a:t>CollectionPrinter (prints all items)</a:t>
            </a:r>
          </a:p>
          <a:p>
            <a:pPr lvl="1"/>
            <a:r>
              <a:rPr lang="en-US" sz="1200" dirty="0"/>
              <a:t>ReadingPlanPrinter (prints reading plan view)</a:t>
            </a:r>
          </a:p>
          <a:p>
            <a:pPr lvl="1"/>
            <a:r>
              <a:rPr lang="en-US" sz="1200" dirty="0"/>
              <a:t>ShortReadsPrinter (filters and prints short reads)</a:t>
            </a:r>
          </a:p>
          <a:p>
            <a:pPr lvl="1"/>
            <a:r>
              <a:rPr lang="en-US" sz="1200" dirty="0"/>
              <a:t>ArtifactsByCultureMaterialNamePrinter (grouping/sorting/reporting)</a:t>
            </a:r>
          </a:p>
          <a:p>
            <a:r>
              <a:rPr lang="en-US" sz="1400" dirty="0"/>
              <a:t>Program.Main() becomes a small coordinator:</a:t>
            </a:r>
          </a:p>
          <a:p>
            <a:pPr lvl="1"/>
            <a:r>
              <a:rPr lang="en-US" sz="1200" dirty="0"/>
              <a:t>Instantiates helpers</a:t>
            </a:r>
          </a:p>
          <a:p>
            <a:pPr lvl="1"/>
            <a:r>
              <a:rPr lang="en-US" sz="1200" dirty="0"/>
              <a:t>Orchestrates the workflow</a:t>
            </a:r>
          </a:p>
          <a:p>
            <a:pPr lvl="1"/>
            <a:r>
              <a:rPr lang="en-US" sz="1200" dirty="0"/>
              <a:t>No longer contains all the logic itself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46468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59BDD-3497-3078-DB55-C5F7671A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7B98D-1747-BF51-F2D0-1ECDF6F0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  <a:br>
              <a:rPr lang="en-US" dirty="0"/>
            </a:br>
            <a:r>
              <a:rPr lang="en-US" dirty="0"/>
              <a:t>Program-07.cs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2F3A8-BDA5-0F0D-D559-25E2E6435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OO Concepts Illustrated</a:t>
            </a:r>
          </a:p>
          <a:p>
            <a:r>
              <a:rPr lang="en-US" sz="1400" dirty="0"/>
              <a:t>Avoiding a </a:t>
            </a:r>
            <a:r>
              <a:rPr lang="en-US" sz="1400" b="1" dirty="0"/>
              <a:t>God class</a:t>
            </a:r>
            <a:endParaRPr lang="en-US" sz="1400" dirty="0"/>
          </a:p>
          <a:p>
            <a:r>
              <a:rPr lang="en-US" sz="1400" dirty="0"/>
              <a:t>Single Responsibility Principle (SRP)</a:t>
            </a:r>
          </a:p>
          <a:p>
            <a:r>
              <a:rPr lang="en-US" sz="1400" dirty="0"/>
              <a:t>Basic “composition of services” (Main composes small collaborators)</a:t>
            </a:r>
          </a:p>
          <a:p>
            <a:r>
              <a:rPr lang="en-US" sz="1400" dirty="0"/>
              <a:t>“Namespace/storytelling” benefits:</a:t>
            </a:r>
          </a:p>
          <a:p>
            <a:pPr lvl="1"/>
            <a:r>
              <a:rPr lang="en-US" sz="1200" dirty="0"/>
              <a:t>Code layout communicates intent (main entry + helpers + entities)</a:t>
            </a:r>
          </a:p>
        </p:txBody>
      </p:sp>
    </p:spTree>
    <p:extLst>
      <p:ext uri="{BB962C8B-B14F-4D97-AF65-F5344CB8AC3E}">
        <p14:creationId xmlns:p14="http://schemas.microsoft.com/office/powerpoint/2010/main" val="3977964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You Should Take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OO concepts give us shared language</a:t>
            </a:r>
          </a:p>
          <a:p>
            <a:r>
              <a:rPr dirty="0"/>
              <a:t>Each concept solves a specific problem</a:t>
            </a:r>
          </a:p>
          <a:p>
            <a:r>
              <a:rPr lang="en-US" dirty="0"/>
              <a:t>The following lecture goes into diagramming with Mermaid.</a:t>
            </a:r>
          </a:p>
          <a:p>
            <a:r>
              <a:rPr lang="en-US" dirty="0"/>
              <a:t>Following the diagramming lecture, we go on to how to make good OO design decisions.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71E3-C1C4-4175-42C0-4B84A2CE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63683-04B5-A829-D7E9-820A18628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148" y="2049877"/>
            <a:ext cx="5713092" cy="4000066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A Philosophy of Software Design</a:t>
            </a:r>
            <a:r>
              <a:rPr lang="en-US" dirty="0"/>
              <a:t> - Ousterhout</a:t>
            </a:r>
          </a:p>
          <a:p>
            <a:pPr lvl="1"/>
            <a:r>
              <a:rPr lang="en-US" dirty="0"/>
              <a:t>Preface</a:t>
            </a:r>
          </a:p>
          <a:p>
            <a:pPr lvl="1"/>
            <a:r>
              <a:rPr lang="en-US" dirty="0"/>
              <a:t>Chapter 1: Introduction</a:t>
            </a:r>
          </a:p>
          <a:p>
            <a:pPr lvl="1"/>
            <a:r>
              <a:rPr lang="en-US" dirty="0"/>
              <a:t>Chapter 2: The Nature of Complexity</a:t>
            </a:r>
          </a:p>
        </p:txBody>
      </p:sp>
      <p:pic>
        <p:nvPicPr>
          <p:cNvPr id="1026" name="Picture 2" descr="A Philosophy of Software Design, 2nd Edition: Ousterhout ...">
            <a:extLst>
              <a:ext uri="{FF2B5EF4-FFF2-40B4-BE49-F238E27FC236}">
                <a16:creationId xmlns:a16="http://schemas.microsoft.com/office/drawing/2014/main" id="{658E8F65-9996-6563-EB69-803C834F7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664" y="3316266"/>
            <a:ext cx="1762229" cy="217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341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777</TotalTime>
  <Words>1171</Words>
  <Application>Microsoft Macintosh PowerPoint</Application>
  <PresentationFormat>On-screen Show (4:3)</PresentationFormat>
  <Paragraphs>186</Paragraphs>
  <Slides>32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Consolas</vt:lpstr>
      <vt:lpstr>MS Shell Dlg 2</vt:lpstr>
      <vt:lpstr>Wingdings</vt:lpstr>
      <vt:lpstr>Wingdings 3</vt:lpstr>
      <vt:lpstr>Madison</vt:lpstr>
      <vt:lpstr>OO Foundations Review</vt:lpstr>
      <vt:lpstr>Why Review OO Concepts?</vt:lpstr>
      <vt:lpstr>Agenda</vt:lpstr>
      <vt:lpstr>Demo Code</vt:lpstr>
      <vt:lpstr>Inheritance</vt:lpstr>
      <vt:lpstr>Inheritance Program-01.cs</vt:lpstr>
      <vt:lpstr>Inheritance Program-01.cs</vt:lpstr>
      <vt:lpstr>Polymorphism</vt:lpstr>
      <vt:lpstr>Polymorphism 1 Program-02.cs</vt:lpstr>
      <vt:lpstr>Polymorphism 1 Program-02.cs</vt:lpstr>
      <vt:lpstr>Polymorphism 2 Program-03.cs</vt:lpstr>
      <vt:lpstr>Polymorphism 2 Program-03.cs</vt:lpstr>
      <vt:lpstr>Interfaces</vt:lpstr>
      <vt:lpstr>Kinds of Types</vt:lpstr>
      <vt:lpstr>Type Examples</vt:lpstr>
      <vt:lpstr>Polymorphism 3 Program-04.cs</vt:lpstr>
      <vt:lpstr>Polymorphism 3 Program-04.cs</vt:lpstr>
      <vt:lpstr>Polymorphism 3 Program-04.cs</vt:lpstr>
      <vt:lpstr>Polymorphism 3 Program-04.cs</vt:lpstr>
      <vt:lpstr>Encapsulation</vt:lpstr>
      <vt:lpstr>Encapsulation 1 Program-05.cs</vt:lpstr>
      <vt:lpstr>Encapsulation 1 Program-05.cs</vt:lpstr>
      <vt:lpstr>Access Modifiers</vt:lpstr>
      <vt:lpstr>Encapsulation 2 Program-06.cs</vt:lpstr>
      <vt:lpstr>Encapsulation 2 Program-06.cs</vt:lpstr>
      <vt:lpstr>Encapsulation 2 Program-06.cs</vt:lpstr>
      <vt:lpstr>Namespaces and Organization</vt:lpstr>
      <vt:lpstr>Namespaces Program-07.cs</vt:lpstr>
      <vt:lpstr>Namespaces Program-07.cs</vt:lpstr>
      <vt:lpstr>Namespaces Program-07.cs</vt:lpstr>
      <vt:lpstr>What You Should Take Away</vt:lpstr>
      <vt:lpstr>Assigned Readings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 Adkisson</cp:lastModifiedBy>
  <cp:revision>7</cp:revision>
  <dcterms:created xsi:type="dcterms:W3CDTF">2013-01-27T09:14:16Z</dcterms:created>
  <dcterms:modified xsi:type="dcterms:W3CDTF">2026-01-14T22:30:27Z</dcterms:modified>
  <cp:category/>
</cp:coreProperties>
</file>