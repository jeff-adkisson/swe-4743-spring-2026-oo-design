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83" r:id="rId1"/>
  </p:sldMasterIdLst>
  <p:notesMasterIdLst>
    <p:notesMasterId r:id="rId21"/>
  </p:notesMasterIdLst>
  <p:sldIdLst>
    <p:sldId id="345" r:id="rId2"/>
    <p:sldId id="387" r:id="rId3"/>
    <p:sldId id="388" r:id="rId4"/>
    <p:sldId id="372" r:id="rId5"/>
    <p:sldId id="374" r:id="rId6"/>
    <p:sldId id="375" r:id="rId7"/>
    <p:sldId id="376" r:id="rId8"/>
    <p:sldId id="377" r:id="rId9"/>
    <p:sldId id="378" r:id="rId10"/>
    <p:sldId id="379" r:id="rId11"/>
    <p:sldId id="385" r:id="rId12"/>
    <p:sldId id="383" r:id="rId13"/>
    <p:sldId id="384" r:id="rId14"/>
    <p:sldId id="382" r:id="rId15"/>
    <p:sldId id="381" r:id="rId16"/>
    <p:sldId id="380" r:id="rId17"/>
    <p:sldId id="389" r:id="rId18"/>
    <p:sldId id="390" r:id="rId19"/>
    <p:sldId id="3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Adkisson" initials="JA" lastIdx="2" clrIdx="0">
    <p:extLst>
      <p:ext uri="{19B8F6BF-5375-455C-9EA6-DF929625EA0E}">
        <p15:presenceInfo xmlns:p15="http://schemas.microsoft.com/office/powerpoint/2012/main" userId="5306256a9e0779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40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C0DDD-0B52-4641-B06C-4696385AC0BD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34090-79BF-F644-A2E2-0966EB1CB4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2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A585-3FDD-4D27-67E4-7C1D46C31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74944-859B-DD35-5864-48175F7E4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E315D-B82C-209C-86B8-56CC96EF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C6E1-37F3-1677-7FE2-5CF08FCE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DBB2-704A-5E38-E1FE-1451303B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8018-85CB-1478-A7BF-AB678FD6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F7396-4E83-6C48-D444-020F7CCD7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5FE2-5E47-362E-4548-9E73E0A0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10858-6524-C5A0-672B-696E6D81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2D40D-AEDB-7CD1-336B-496D8267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7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3CBC-55A5-FA71-6368-9B99287D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6709-9D0B-5C05-AA61-BFE4BC96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A091-A4BF-BBD2-B071-B14985FB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8C261-0839-EF02-AF9C-73170BD9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C003-974C-B2A4-2044-433A76CC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5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43F9-0C70-88FD-CAFD-735032AA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7B0D6-BC5F-8697-0998-F331CD378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D66DF-0494-C266-8F28-656F90E8F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BEB9F-EB68-D0F3-6352-B06ADED1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34D8E-1D61-5D8E-3B3F-19528921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928D3-F9A4-20E0-676E-BEE48AAC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00AD-6C08-D69F-40F7-62DF1799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7EB1-4DEE-3967-338A-15D36F42E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95C0A-2BBB-8B8E-DBCF-857397B0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0A95E-2188-2123-A7F2-3927966FB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2165A-20B1-353E-D3E3-159496781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9EC96-75FA-BC24-DFBE-F1AC55EE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7EF75-ED18-0537-98F7-A0C21495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47B63-6F6F-5776-4DF1-C5A25F38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4C2F-156E-A47A-C2F5-8F70A7E0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0AD5F-AC89-1656-93B4-A50EF6F6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A2988-AFDC-F197-361C-64D14DDF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AFEA-6182-D36C-9FE1-C68B15E1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1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C400E-819A-0644-E426-0D258704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2A474-E0EA-0A10-013C-45EEA97D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E164-7115-2C33-27CD-BD3016F1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9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F455-793B-7073-E0FB-A08D4D82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AC26-B82C-F7CE-6634-D24BEDEEA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FECCE-418E-B254-BCB2-AE5F4696D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A5EB6-D21D-3A39-E0D0-FA344EE0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ECE62-2245-B45A-5859-060FFF2D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6C0F8-FD16-59C3-C870-D5CD32DA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82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AFBD-EC7E-B074-1F79-F1AFB3A2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ADFE3-B186-66CF-538A-4BDEF83AA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5F899-CD07-141B-0774-8EAECB3EF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934F4-D11B-CE7F-5630-63C0C0CB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E4E44-905F-2039-96E2-4AFDA98F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91A9-93F4-D8A8-AECB-992A9D96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7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CC70-F60F-4AB6-B51E-6040B46B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53D69-BB92-B251-DFA3-D340800EF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3ED7-41AC-823C-53BE-2C35DD9B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8974C-CB52-71BE-38EF-6B4FBCAE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591F7-18B5-486F-22A3-B5424BF5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0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1E0E1-A4C4-013E-8010-61383E84D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999A8-47D8-0C95-8598-516C36B50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41BC-336F-3BA2-E29A-A26DC57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4167-99BB-F2CA-ABEB-5EE10AC9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42538-C371-B572-732C-447379F4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1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203C7-F609-CE62-5C59-95355042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1016F-4714-0C8C-7599-9C8DF6722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D1CCF-D740-8620-E19E-679B033CD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F416-DB3A-B30A-85F6-756794B80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9DD0-1EA0-9D03-8B08-97361F450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8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8A2F9-C64C-7830-7132-A54765DC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317" y="1354819"/>
            <a:ext cx="10361531" cy="2678363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SWE 4743: </a:t>
            </a:r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Object-Oriented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C6FC0-F012-7EC4-953D-2AA9D9AE6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88" y="4414180"/>
            <a:ext cx="7006691" cy="88453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chemeClr val="bg1"/>
                </a:solidFill>
              </a:rPr>
              <a:t>Jeff Adkisson</a:t>
            </a:r>
          </a:p>
          <a:p>
            <a:pPr algn="l"/>
            <a:r>
              <a:rPr lang="en-US" sz="1500">
                <a:solidFill>
                  <a:schemeClr val="bg1"/>
                </a:solidFill>
              </a:rPr>
              <a:t>Monday, Wednesday at 6:30 PM</a:t>
            </a: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Architecture, 175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0785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38E27-270C-2EC5-9163-72A761DC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8" name="Rectangle 11277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0" name="Rectangle 11279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2" name="Rectangle 11281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79" name="Oval 11278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A0910-FC89-8F57-8802-4C884601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48" y="857251"/>
            <a:ext cx="6219582" cy="31601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“Good design is actually a lot harder to notice than poor design, in part because good designs fit our needs so well that the design is invisible.</a:t>
            </a:r>
          </a:p>
        </p:txBody>
      </p:sp>
      <p:sp>
        <p:nvSpPr>
          <p:cNvPr id="11281" name="Rectangle 11280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8F9B4-E2EA-6838-F39D-CDDDD29B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5661" y="4800600"/>
            <a:ext cx="5179879" cy="1200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     </a:t>
            </a:r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Don Norman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     </a:t>
            </a:r>
            <a:r>
              <a:rPr lang="en-US" b="1" i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Design of Everyday Things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266" name="Picture 2" descr="Paperback The Design of Everyday Things Book">
            <a:extLst>
              <a:ext uri="{FF2B5EF4-FFF2-40B4-BE49-F238E27FC236}">
                <a16:creationId xmlns:a16="http://schemas.microsoft.com/office/drawing/2014/main" id="{FF2BFB05-965C-1290-C7E3-B4D87EA79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0981" y="1055417"/>
            <a:ext cx="3173819" cy="474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44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Norman Doors">
            <a:extLst>
              <a:ext uri="{FF2B5EF4-FFF2-40B4-BE49-F238E27FC236}">
                <a16:creationId xmlns:a16="http://schemas.microsoft.com/office/drawing/2014/main" id="{7CA9E3C3-B567-34CD-2FB1-BE936F2E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80875" cy="692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12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35622-29C6-17D7-1BA3-4E29E966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/>
              <a:t>Code makes things work. </a:t>
            </a:r>
            <a:br>
              <a:rPr lang="en-US" sz="4000"/>
            </a:br>
            <a:r>
              <a:rPr lang="en-US" sz="4000"/>
              <a:t>Design makes things </a:t>
            </a:r>
            <a:r>
              <a:rPr lang="en-US" sz="4000" i="1"/>
              <a:t>last</a:t>
            </a:r>
            <a:r>
              <a:rPr lang="en-US" sz="400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82499-6C7F-5717-5779-E00AF7B1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Two identical features implemented: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Version A: shipped fast, hard to change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Version B: shipped thoughtfully, adapts for years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Most software cost is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not writing code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—it’s </a:t>
            </a: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changing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it.</a:t>
            </a: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Design choices compound over time, for better or worse.</a:t>
            </a: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Good design lets </a:t>
            </a: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average developers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produce </a:t>
            </a: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excellent systems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462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537C8-B031-74D6-1F08-C7B32C41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300">
                <a:solidFill>
                  <a:schemeClr val="bg1"/>
                </a:solidFill>
              </a:rPr>
              <a:t>Why do so many successful systems</a:t>
            </a:r>
            <a:br>
              <a:rPr lang="en-US" sz="3300">
                <a:solidFill>
                  <a:schemeClr val="bg1"/>
                </a:solidFill>
              </a:rPr>
            </a:br>
            <a:r>
              <a:rPr lang="en-US" sz="3300">
                <a:solidFill>
                  <a:schemeClr val="bg1"/>
                </a:solidFill>
              </a:rPr>
              <a:t>still get rewritten?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B633-0CF8-D006-99BA-5CD1D65E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Month 1 - Works! We shipped so fast! Vibe coding ROCKS!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Month 6 - Still okay, slightly difficult to maintain…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Year 2 - Pain, every ”enhancement” breaks something, so buggy…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Year 5 ─── Rewrite discussion, so brittle nothing can be added, ugh…</a:t>
            </a: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/>
              <a:t>Design debt doesn’t hurt immediately—</a:t>
            </a:r>
            <a:r>
              <a:rPr lang="en-US" sz="2200" i="1" dirty="0"/>
              <a:t>that’s why it’s dangerous</a:t>
            </a:r>
            <a:r>
              <a:rPr lang="en-US" sz="2200" dirty="0"/>
              <a:t>.</a:t>
            </a:r>
          </a:p>
          <a:p>
            <a:r>
              <a:rPr lang="en-US" sz="2200" dirty="0"/>
              <a:t>Early success often masks structural problems.</a:t>
            </a:r>
          </a:p>
          <a:p>
            <a:r>
              <a:rPr lang="en-US" sz="2200" dirty="0"/>
              <a:t>OO design exists to manage </a:t>
            </a:r>
            <a:r>
              <a:rPr lang="en-US" sz="2200" b="1" dirty="0"/>
              <a:t>long-lived complexity</a:t>
            </a:r>
            <a:r>
              <a:rPr lang="en-US" sz="2200" dirty="0"/>
              <a:t>, not toy programs.</a:t>
            </a: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7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5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6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238902-4FDA-B6B9-2FDA-44665282B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en-US" sz="4000"/>
              <a:t>Design Is About Change, Not Features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1F2A7-7201-A9C4-2C6B-E66D27B9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Initial requirements don’t kill systems - </a:t>
            </a:r>
            <a:r>
              <a:rPr lang="en-US" sz="2200" b="1" dirty="0">
                <a:solidFill>
                  <a:schemeClr val="tx1">
                    <a:alpha val="80000"/>
                  </a:schemeClr>
                </a:solidFill>
              </a:rPr>
              <a:t>changing requirements do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Object oriented design techniques exist to </a:t>
            </a:r>
            <a:r>
              <a:rPr lang="en-US" sz="2200" i="1" dirty="0">
                <a:solidFill>
                  <a:schemeClr val="tx1">
                    <a:alpha val="80000"/>
                  </a:schemeClr>
                </a:solidFill>
              </a:rPr>
              <a:t>localize change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Single responsibility, open-closed principle, dependency inversion all answer the same question:</a:t>
            </a:r>
            <a:br>
              <a:rPr lang="en-US" sz="2200" dirty="0">
                <a:solidFill>
                  <a:schemeClr val="tx1">
                    <a:alpha val="80000"/>
                  </a:schemeClr>
                </a:solidFill>
              </a:rPr>
            </a:br>
            <a:br>
              <a:rPr lang="en-US" sz="2200" i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200" i="1" dirty="0">
                <a:solidFill>
                  <a:schemeClr val="tx1">
                    <a:alpha val="80000"/>
                  </a:schemeClr>
                </a:solidFill>
              </a:rPr>
              <a:t>       “Where should this change go?”</a:t>
            </a:r>
          </a:p>
          <a:p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0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75AD-1B40-F8B8-5538-EA7FFDEB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most important reader is </a:t>
            </a:r>
            <a:br>
              <a:rPr lang="en-US" dirty="0"/>
            </a:br>
            <a:r>
              <a:rPr lang="en-US" i="1" dirty="0"/>
              <a:t>future developers</a:t>
            </a:r>
            <a:r>
              <a:rPr lang="en-US" dirty="0"/>
              <a:t>, not the compiler.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B0246-C700-FD6E-7C44-0598D513D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is </a:t>
            </a:r>
            <a:r>
              <a:rPr lang="en-US" b="1" dirty="0"/>
              <a:t>read far more </a:t>
            </a:r>
            <a:r>
              <a:rPr lang="en-US" dirty="0"/>
              <a:t>than it is written.</a:t>
            </a:r>
          </a:p>
          <a:p>
            <a:r>
              <a:rPr lang="en-US" dirty="0"/>
              <a:t>Good design communicates intent, boundaries, and invariants.</a:t>
            </a:r>
          </a:p>
          <a:p>
            <a:r>
              <a:rPr lang="en-US" dirty="0"/>
              <a:t>Classes and interfaces are </a:t>
            </a:r>
            <a:r>
              <a:rPr lang="en-US" i="1" dirty="0"/>
              <a:t>sentences</a:t>
            </a:r>
            <a:r>
              <a:rPr lang="en-US" dirty="0"/>
              <a:t>, not just containers.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50C2E-2A72-0C27-6731-91E7FA058264}"/>
              </a:ext>
            </a:extLst>
          </p:cNvPr>
          <p:cNvSpPr txBox="1"/>
          <p:nvPr/>
        </p:nvSpPr>
        <p:spPr>
          <a:xfrm>
            <a:off x="838200" y="355083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>
                <a:solidFill>
                  <a:srgbClr val="0E0E0E"/>
                </a:solidFill>
                <a:effectLst/>
                <a:latin typeface=".AppleSystemUIFont"/>
              </a:rPr>
              <a:t>Design is how you talk to people you’ll never meet.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58218-A542-2C9B-6B28-518813D15AFE}"/>
              </a:ext>
            </a:extLst>
          </p:cNvPr>
          <p:cNvSpPr txBox="1"/>
          <p:nvPr/>
        </p:nvSpPr>
        <p:spPr>
          <a:xfrm>
            <a:off x="6318738" y="539481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>
                <a:solidFill>
                  <a:srgbClr val="0E0E0E"/>
                </a:solidFill>
                <a:effectLst/>
                <a:latin typeface=".AppleSystemUIFont"/>
              </a:rPr>
              <a:t>Design is how </a:t>
            </a:r>
            <a:r>
              <a:rPr lang="en-US" sz="3600" i="1" dirty="0">
                <a:solidFill>
                  <a:srgbClr val="0E0E0E"/>
                </a:solidFill>
                <a:effectLst/>
                <a:latin typeface=".AppleSystemUIFont"/>
              </a:rPr>
              <a:t>future you </a:t>
            </a:r>
          </a:p>
          <a:p>
            <a:pPr>
              <a:buNone/>
            </a:pPr>
            <a:r>
              <a:rPr lang="en-US" sz="3600" dirty="0">
                <a:solidFill>
                  <a:srgbClr val="0E0E0E"/>
                </a:solidFill>
                <a:effectLst/>
                <a:latin typeface=".AppleSystemUIFont"/>
              </a:rPr>
              <a:t>can avoid hating </a:t>
            </a:r>
            <a:r>
              <a:rPr lang="en-US" sz="3600" i="1" dirty="0">
                <a:solidFill>
                  <a:srgbClr val="0E0E0E"/>
                </a:solidFill>
                <a:effectLst/>
                <a:latin typeface=".AppleSystemUIFont"/>
              </a:rPr>
              <a:t>past you</a:t>
            </a:r>
            <a:r>
              <a:rPr lang="en-US" sz="36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E1BF94-F154-E86E-C183-9964820FE273}"/>
              </a:ext>
            </a:extLst>
          </p:cNvPr>
          <p:cNvSpPr txBox="1"/>
          <p:nvPr/>
        </p:nvSpPr>
        <p:spPr>
          <a:xfrm>
            <a:off x="3372730" y="48421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i="1" dirty="0">
                <a:solidFill>
                  <a:srgbClr val="0E0E0E"/>
                </a:solidFill>
                <a:effectLst/>
                <a:latin typeface=".AppleSystemUIFont"/>
              </a:rPr>
              <a:t>--- or if you stick around long enough ---</a:t>
            </a:r>
          </a:p>
        </p:txBody>
      </p:sp>
    </p:spTree>
    <p:extLst>
      <p:ext uri="{BB962C8B-B14F-4D97-AF65-F5344CB8AC3E}">
        <p14:creationId xmlns:p14="http://schemas.microsoft.com/office/powerpoint/2010/main" val="80103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E762B-2565-FF55-E2A2-917CB2CF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 dirty="0"/>
              <a:t>Good design </a:t>
            </a:r>
            <a:r>
              <a:rPr lang="en-US" sz="4000" i="1" dirty="0"/>
              <a:t>limits</a:t>
            </a:r>
            <a:r>
              <a:rPr lang="en-US" sz="4000" dirty="0"/>
              <a:t> what you can do… </a:t>
            </a:r>
            <a:br>
              <a:rPr lang="en-US" sz="4000" dirty="0"/>
            </a:br>
            <a:r>
              <a:rPr lang="en-US" sz="4000" dirty="0"/>
              <a:t>on purpose!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964A-257F-70A3-0A29-FABB6404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Encapsulation is about </a:t>
            </a:r>
            <a:r>
              <a:rPr lang="en-US" sz="2400" i="1" dirty="0">
                <a:solidFill>
                  <a:schemeClr val="tx1">
                    <a:alpha val="80000"/>
                  </a:schemeClr>
                </a:solidFill>
              </a:rPr>
              <a:t>preventing misuse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Constraints reduce cognitive load.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Well-designed systems make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wrong code hard to write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3947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BA10F-3EED-5C70-A985-6BF4D133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Tragedy of “Just One More If”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11BA-8CD4-D0FF-79F2-67790AB9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dirty="0"/>
              <a:t>Most design failures start small and seem reasonable.</a:t>
            </a:r>
          </a:p>
          <a:p>
            <a:pPr marL="0"/>
            <a:endParaRPr lang="en-US" sz="2000" dirty="0"/>
          </a:p>
          <a:p>
            <a:pPr marL="0"/>
            <a:r>
              <a:rPr lang="en-US" sz="2000" b="1" dirty="0"/>
              <a:t>Today</a:t>
            </a:r>
            <a:r>
              <a:rPr lang="en-US" sz="2000" dirty="0"/>
              <a:t>:</a:t>
            </a:r>
          </a:p>
          <a:p>
            <a:pPr marL="457200" lvl="1"/>
            <a:r>
              <a:rPr lang="en-US" sz="2000" dirty="0"/>
              <a:t>if (type == A) { ... }</a:t>
            </a:r>
          </a:p>
          <a:p>
            <a:pPr marL="457200" lvl="1"/>
            <a:r>
              <a:rPr lang="en-US" sz="2000" dirty="0"/>
              <a:t>else if (type == B) { ... }</a:t>
            </a:r>
          </a:p>
          <a:p>
            <a:pPr marL="457200" lvl="1"/>
            <a:r>
              <a:rPr lang="en-US" sz="2000" dirty="0"/>
              <a:t>else if (type == C) { ... }</a:t>
            </a:r>
          </a:p>
          <a:p>
            <a:pPr marL="0"/>
            <a:endParaRPr lang="en-US" sz="2000" dirty="0"/>
          </a:p>
          <a:p>
            <a:pPr marL="0"/>
            <a:r>
              <a:rPr lang="en-US" sz="2000" b="1" dirty="0"/>
              <a:t>Soon</a:t>
            </a:r>
            <a:r>
              <a:rPr lang="en-US" sz="2000" dirty="0"/>
              <a:t>:</a:t>
            </a:r>
          </a:p>
          <a:p>
            <a:pPr marL="457200" lvl="1"/>
            <a:r>
              <a:rPr lang="en-US" sz="1600" i="1" dirty="0"/>
              <a:t>18 more conditions, cases, </a:t>
            </a:r>
            <a:br>
              <a:rPr lang="en-US" sz="1600" i="1" dirty="0"/>
            </a:br>
            <a:r>
              <a:rPr lang="en-US" sz="1600" i="1" dirty="0"/>
              <a:t>      tweaks, requirements, etc.</a:t>
            </a:r>
          </a:p>
          <a:p>
            <a:pPr marL="0"/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B1B1DE-F0AE-8341-B2F3-719E44D415C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Design erosion happens incrementally.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OO design provides </a:t>
            </a:r>
            <a:r>
              <a:rPr lang="en-US" sz="2000" i="1"/>
              <a:t>escape hatches</a:t>
            </a:r>
            <a:r>
              <a:rPr lang="en-US" sz="2000"/>
              <a:t> before conditionals explode.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Patterns often emerge </a:t>
            </a:r>
            <a:r>
              <a:rPr lang="en-US" sz="2000" i="1"/>
              <a:t>after</a:t>
            </a:r>
            <a:r>
              <a:rPr lang="en-US" sz="2000"/>
              <a:t> pain—this course helps you see them earlier.</a:t>
            </a:r>
          </a:p>
        </p:txBody>
      </p:sp>
    </p:spTree>
    <p:extLst>
      <p:ext uri="{BB962C8B-B14F-4D97-AF65-F5344CB8AC3E}">
        <p14:creationId xmlns:p14="http://schemas.microsoft.com/office/powerpoint/2010/main" val="405152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D5820-6A8A-7D04-748D-9E9B946C1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 distinguishes </a:t>
            </a:r>
            <a:r>
              <a:rPr lang="en-US" sz="37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programmers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</a:t>
            </a:r>
            <a:r>
              <a:rPr lang="en-US" sz="37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software engineers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FDF9-C666-8C28-0BDC-C7E6C058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Industry rewards people who can manage complexity.</a:t>
            </a:r>
          </a:p>
          <a:p>
            <a:r>
              <a:rPr lang="en-US" sz="2000" dirty="0"/>
              <a:t>Design skill is what scales your impact.</a:t>
            </a:r>
          </a:p>
          <a:p>
            <a:r>
              <a:rPr lang="en-US" sz="2000" dirty="0"/>
              <a:t>Languages and frameworks change—design principles do not.</a:t>
            </a:r>
          </a:p>
          <a:p>
            <a:r>
              <a:rPr lang="en-US" sz="2000" dirty="0"/>
              <a:t>Compare:</a:t>
            </a:r>
            <a:br>
              <a:rPr lang="en-US" sz="2000" dirty="0"/>
            </a:br>
            <a:r>
              <a:rPr lang="en-US" sz="1800" dirty="0"/>
              <a:t> </a:t>
            </a:r>
            <a:r>
              <a:rPr lang="en-US" sz="1800" i="1" dirty="0"/>
              <a:t>“Can you implement this?”</a:t>
            </a:r>
            <a:br>
              <a:rPr lang="en-US" sz="1800" i="1" dirty="0"/>
            </a:br>
            <a:r>
              <a:rPr lang="en-US" sz="1800" i="1" dirty="0"/>
              <a:t> “Can you evolve this safely?”</a:t>
            </a:r>
          </a:p>
          <a:p>
            <a:endParaRPr lang="en-US" sz="2000" i="1" dirty="0"/>
          </a:p>
          <a:p>
            <a:pPr lvl="1"/>
            <a:endParaRPr lang="en-US" sz="2000" dirty="0"/>
          </a:p>
          <a:p>
            <a:pPr marL="0"/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A43FE0-76ED-3533-58C1-A801FB607E0F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Job title progression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   Junior →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      Senior →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         Architect</a:t>
            </a:r>
          </a:p>
        </p:txBody>
      </p:sp>
    </p:spTree>
    <p:extLst>
      <p:ext uri="{BB962C8B-B14F-4D97-AF65-F5344CB8AC3E}">
        <p14:creationId xmlns:p14="http://schemas.microsoft.com/office/powerpoint/2010/main" val="104292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B090-BB80-5FBF-995E-FEA1342F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0E4F-A28C-FBDB-CF10-B4E11A23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 Is Choosing </a:t>
            </a:r>
            <a:br>
              <a:rPr lang="en-US" dirty="0"/>
            </a:br>
            <a:r>
              <a:rPr lang="en-US" dirty="0"/>
              <a:t>What Not to Care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999C-C1C3-E71D-0818-DE9D8640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808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Without Abstraction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Every detail is visible everywhere</a:t>
            </a:r>
            <a:br>
              <a:rPr lang="en-US" dirty="0"/>
            </a:b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More things to think about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Harder to change safely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529B8F-0CA7-8DE9-0DBB-574A70B8555B}"/>
              </a:ext>
            </a:extLst>
          </p:cNvPr>
          <p:cNvSpPr txBox="1">
            <a:spLocks/>
          </p:cNvSpPr>
          <p:nvPr/>
        </p:nvSpPr>
        <p:spPr>
          <a:xfrm>
            <a:off x="6652845" y="214153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/>
              <a:t>With Abstraction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Important ideas are </a:t>
            </a:r>
            <a:r>
              <a:rPr lang="en-US" i="1" dirty="0"/>
              <a:t>visible and</a:t>
            </a:r>
          </a:p>
          <a:p>
            <a:pPr marL="0" indent="0">
              <a:buNone/>
            </a:pPr>
            <a:r>
              <a:rPr lang="en-US" dirty="0"/>
              <a:t>unimportant details are </a:t>
            </a:r>
            <a:r>
              <a:rPr lang="en-US" i="1" dirty="0"/>
              <a:t>hidden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Fewer things to think about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Changes stay localized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0F9B37-4C29-C88F-98C2-AB248C1E039C}"/>
              </a:ext>
            </a:extLst>
          </p:cNvPr>
          <p:cNvCxnSpPr/>
          <p:nvPr/>
        </p:nvCxnSpPr>
        <p:spPr>
          <a:xfrm>
            <a:off x="6096000" y="2215662"/>
            <a:ext cx="0" cy="3434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132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5DF5-CB1C-E8F5-5D75-F4A338B3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22EA5AA-FCE9-0A78-B7E5-041C8B2B5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2000"/>
                    </a14:imgEffect>
                    <a14:imgEffect>
                      <a14:brightnessContrast bright="31000" contrast="10000"/>
                    </a14:imgEffect>
                  </a14:imgLayer>
                </a14:imgProps>
              </a:ext>
            </a:extLst>
          </a:blip>
          <a:srcRect l="9760" t="8242" r="10200"/>
          <a:stretch>
            <a:fillRect/>
          </a:stretch>
        </p:blipFill>
        <p:spPr bwMode="auto">
          <a:xfrm>
            <a:off x="4147401" y="661181"/>
            <a:ext cx="3392882" cy="584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75405C-AF38-6D63-1FA8-177DC823FB93}"/>
              </a:ext>
            </a:extLst>
          </p:cNvPr>
          <p:cNvSpPr txBox="1"/>
          <p:nvPr/>
        </p:nvSpPr>
        <p:spPr>
          <a:xfrm rot="5400000">
            <a:off x="5042096" y="3294855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Korean War Veterans Memorial, 1995</a:t>
            </a: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Frank Gaylord</a:t>
            </a:r>
            <a:endParaRPr lang="en-US" sz="1600" i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Washington, DC</a:t>
            </a:r>
            <a:endParaRPr lang="en-US" sz="1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295E6B-C09E-7EAE-E25D-0992BA921EC9}"/>
              </a:ext>
            </a:extLst>
          </p:cNvPr>
          <p:cNvSpPr txBox="1"/>
          <p:nvPr/>
        </p:nvSpPr>
        <p:spPr>
          <a:xfrm rot="5400000">
            <a:off x="9046698" y="2564508"/>
            <a:ext cx="4637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941488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4A89-27BD-6AA4-C9DB-534FF75A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1CC6707-E4CD-69C0-E6C4-B3A723787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547494" y="661181"/>
            <a:ext cx="4311841" cy="577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9F692-4BA5-56CC-7D38-117568EAD707}"/>
              </a:ext>
            </a:extLst>
          </p:cNvPr>
          <p:cNvSpPr txBox="1"/>
          <p:nvPr/>
        </p:nvSpPr>
        <p:spPr>
          <a:xfrm rot="5400000">
            <a:off x="5546188" y="3294855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Walking Man, 1960</a:t>
            </a: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Alberto Giacometti</a:t>
            </a:r>
            <a:endParaRPr lang="en-US" sz="1600" i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Museum of Modern Art (MoMA), New York</a:t>
            </a:r>
            <a:endParaRPr lang="en-US" sz="1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967EC0-42CF-A5DA-21C4-B0A3A130453D}"/>
              </a:ext>
            </a:extLst>
          </p:cNvPr>
          <p:cNvSpPr txBox="1"/>
          <p:nvPr/>
        </p:nvSpPr>
        <p:spPr>
          <a:xfrm rot="5400000">
            <a:off x="9046698" y="2564508"/>
            <a:ext cx="4637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127762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DA8C8F3F-A9B9-E02F-F5D9-34611654F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479" y="661181"/>
            <a:ext cx="4635871" cy="577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02D64C-AA55-A6D8-F232-6D902F31667B}"/>
              </a:ext>
            </a:extLst>
          </p:cNvPr>
          <p:cNvSpPr txBox="1"/>
          <p:nvPr/>
        </p:nvSpPr>
        <p:spPr>
          <a:xfrm rot="5400000">
            <a:off x="5546188" y="3294855"/>
            <a:ext cx="609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Unique Forms of Continuity in Space (1913)</a:t>
            </a: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Umberto Boccioni</a:t>
            </a:r>
            <a:endParaRPr lang="en-US" sz="1600" i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Museum of Modern Art (MoMA), New York</a:t>
            </a:r>
            <a:endParaRPr lang="en-US" sz="16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C2DC7-8148-0C78-E599-334C472D3299}"/>
              </a:ext>
            </a:extLst>
          </p:cNvPr>
          <p:cNvSpPr txBox="1"/>
          <p:nvPr/>
        </p:nvSpPr>
        <p:spPr>
          <a:xfrm rot="5400000">
            <a:off x="9046698" y="2564508"/>
            <a:ext cx="4637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150570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0620-A9FF-29A0-04D3-7D46E1EC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 Is Choosing </a:t>
            </a:r>
            <a:br>
              <a:rPr lang="en-US" dirty="0"/>
            </a:br>
            <a:r>
              <a:rPr lang="en-US" dirty="0"/>
              <a:t>What Not to Care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E8DC-50FD-5CF0-4931-45ABC7DBC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808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Without Abstraction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Every detail is visible everywhere</a:t>
            </a:r>
            <a:br>
              <a:rPr lang="en-US" dirty="0"/>
            </a:b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More things to think about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Harder to change safely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17B7FB-4C7D-3B28-05BB-B3294A164B75}"/>
              </a:ext>
            </a:extLst>
          </p:cNvPr>
          <p:cNvSpPr txBox="1">
            <a:spLocks/>
          </p:cNvSpPr>
          <p:nvPr/>
        </p:nvSpPr>
        <p:spPr>
          <a:xfrm>
            <a:off x="6652845" y="2141537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/>
              <a:t>With Abstraction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Important ideas are </a:t>
            </a:r>
            <a:r>
              <a:rPr lang="en-US" i="1" dirty="0"/>
              <a:t>visible</a:t>
            </a:r>
          </a:p>
          <a:p>
            <a:pPr marL="0" indent="0">
              <a:buNone/>
            </a:pPr>
            <a:r>
              <a:rPr lang="en-US" dirty="0"/>
              <a:t>Unimportant details are </a:t>
            </a:r>
            <a:r>
              <a:rPr lang="en-US" i="1" dirty="0"/>
              <a:t>hidden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Fewer things to think about</a:t>
            </a:r>
          </a:p>
          <a:p>
            <a:pPr marL="0" indent="0">
              <a:buNone/>
            </a:pPr>
            <a:r>
              <a:rPr lang="en-US"/>
              <a:t>   ↓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Changes stay localized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2D8CA-66C8-FB52-BB21-1A2B8B071F48}"/>
              </a:ext>
            </a:extLst>
          </p:cNvPr>
          <p:cNvCxnSpPr/>
          <p:nvPr/>
        </p:nvCxnSpPr>
        <p:spPr>
          <a:xfrm>
            <a:off x="6096000" y="2215662"/>
            <a:ext cx="0" cy="3434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831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6C635-62FA-AAE1-0D71-997762D7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you </a:t>
            </a:r>
            <a:r>
              <a:rPr lang="en-US" sz="40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 not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see is the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CF536-C49D-0841-79DE-FE6DBE118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Every abstraction hides or eliminates irrelevant information.</a:t>
            </a:r>
          </a:p>
          <a:p>
            <a:r>
              <a:rPr lang="en-US" sz="2000" dirty="0"/>
              <a:t>In other words, good design discards the </a:t>
            </a:r>
            <a:r>
              <a:rPr lang="en-US" sz="2000" i="1" dirty="0"/>
              <a:t>right</a:t>
            </a:r>
            <a:r>
              <a:rPr lang="en-US" sz="2000" dirty="0"/>
              <a:t> details.</a:t>
            </a:r>
          </a:p>
          <a:p>
            <a:r>
              <a:rPr lang="en-US" sz="2000" dirty="0"/>
              <a:t>Bad design discards the wrong ones—or none at all.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01EA5B-239C-B5B9-180D-57F9F95A9EC2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Abstraction is selective blindness.</a:t>
            </a:r>
          </a:p>
        </p:txBody>
      </p:sp>
    </p:spTree>
    <p:extLst>
      <p:ext uri="{BB962C8B-B14F-4D97-AF65-F5344CB8AC3E}">
        <p14:creationId xmlns:p14="http://schemas.microsoft.com/office/powerpoint/2010/main" val="1565545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10FC-C51C-6247-5D54-EBB3EB43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Abstraction Comparison: The Linux File System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0A16-FB2A-1456-B7E6-B67596F2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5"/>
            <a:ext cx="54922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The Actual Linux API…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open("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", O_RDONLY);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buffer, 4096);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write(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buffer, 4096);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close(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AD1ED-0B5F-0E57-7F54-7865978E790B}"/>
              </a:ext>
            </a:extLst>
          </p:cNvPr>
          <p:cNvSpPr txBox="1"/>
          <p:nvPr/>
        </p:nvSpPr>
        <p:spPr>
          <a:xfrm>
            <a:off x="838200" y="3733947"/>
            <a:ext cx="2889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abstracts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Persistent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&amp; random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Naming (paths)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E12CB-25ED-C2E2-529D-B925704C6481}"/>
              </a:ext>
            </a:extLst>
          </p:cNvPr>
          <p:cNvSpPr txBox="1"/>
          <p:nvPr/>
        </p:nvSpPr>
        <p:spPr>
          <a:xfrm>
            <a:off x="3446585" y="3733947"/>
            <a:ext cx="2649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hides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Disk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SSD vs HDD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Journaling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 recovery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BD8A94-4D6C-09F8-0A23-D0E866F19A33}"/>
              </a:ext>
            </a:extLst>
          </p:cNvPr>
          <p:cNvSpPr txBox="1">
            <a:spLocks/>
          </p:cNvSpPr>
          <p:nvPr/>
        </p:nvSpPr>
        <p:spPr>
          <a:xfrm>
            <a:off x="6559062" y="1591165"/>
            <a:ext cx="54922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Hypothetical Bad Abstraction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int disk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openDisk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int block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allocateBlock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(disk);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writeBlock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(disk, block, buffer);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flushCache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(disk);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BB284-69B5-EC15-43ED-2C516E87FBFE}"/>
              </a:ext>
            </a:extLst>
          </p:cNvPr>
          <p:cNvSpPr txBox="1"/>
          <p:nvPr/>
        </p:nvSpPr>
        <p:spPr>
          <a:xfrm>
            <a:off x="6559062" y="3733947"/>
            <a:ext cx="22449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it exposes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 sizes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Disk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Caching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ordering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E4ECB-26B1-41F9-5C6B-48482D03276E}"/>
              </a:ext>
            </a:extLst>
          </p:cNvPr>
          <p:cNvSpPr txBox="1"/>
          <p:nvPr/>
        </p:nvSpPr>
        <p:spPr>
          <a:xfrm>
            <a:off x="8938847" y="3737672"/>
            <a:ext cx="31124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it forces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program to manage storage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Widespread changes when hardware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cognitive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Fragile code</a:t>
            </a:r>
          </a:p>
        </p:txBody>
      </p:sp>
    </p:spTree>
    <p:extLst>
      <p:ext uri="{BB962C8B-B14F-4D97-AF65-F5344CB8AC3E}">
        <p14:creationId xmlns:p14="http://schemas.microsoft.com/office/powerpoint/2010/main" val="2065856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7413-F5D7-45AF-F97E-F21CA92A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DEB1-4C26-459E-4274-C3D5243D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Abstraction Comparison: The Linux File System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548B-94E0-F297-6814-F43A53040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5"/>
            <a:ext cx="54922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The Actual Linux API…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open("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", O_RDONLY);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buffer, 4096);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write(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buffer, 4096);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close(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222B0-C097-7B9D-C24D-FD15FEE4EDD8}"/>
              </a:ext>
            </a:extLst>
          </p:cNvPr>
          <p:cNvSpPr txBox="1"/>
          <p:nvPr/>
        </p:nvSpPr>
        <p:spPr>
          <a:xfrm>
            <a:off x="838200" y="3733947"/>
            <a:ext cx="2889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abstracts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Persistent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&amp; random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Naming (paths)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E40BA-BC98-E071-BDA2-0AF7365C4B6E}"/>
              </a:ext>
            </a:extLst>
          </p:cNvPr>
          <p:cNvSpPr txBox="1"/>
          <p:nvPr/>
        </p:nvSpPr>
        <p:spPr>
          <a:xfrm>
            <a:off x="3446585" y="3733947"/>
            <a:ext cx="2649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hides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Disk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SSD vs HDD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Journaling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 recovery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A2398-634C-CF71-FDA1-E9479CDBD0BF}"/>
              </a:ext>
            </a:extLst>
          </p:cNvPr>
          <p:cNvSpPr txBox="1"/>
          <p:nvPr/>
        </p:nvSpPr>
        <p:spPr>
          <a:xfrm>
            <a:off x="6846278" y="1591165"/>
            <a:ext cx="42437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Good abstractions let you reason about </a:t>
            </a:r>
            <a:r>
              <a:rPr lang="en-US" sz="3200" b="1" i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what</a:t>
            </a:r>
            <a:r>
              <a:rPr lang="en-US" sz="3200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you want to accomplish…</a:t>
            </a:r>
          </a:p>
          <a:p>
            <a:pPr>
              <a:buNone/>
            </a:pPr>
            <a:r>
              <a:rPr lang="en-US" sz="3200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not </a:t>
            </a:r>
            <a:r>
              <a:rPr lang="en-US" sz="3200" b="1" i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how</a:t>
            </a:r>
            <a:r>
              <a:rPr lang="en-US" sz="3200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it is achieved.</a:t>
            </a:r>
          </a:p>
        </p:txBody>
      </p:sp>
    </p:spTree>
    <p:extLst>
      <p:ext uri="{BB962C8B-B14F-4D97-AF65-F5344CB8AC3E}">
        <p14:creationId xmlns:p14="http://schemas.microsoft.com/office/powerpoint/2010/main" val="1949188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F1E05A-7539-5AB7-1380-5D5BA5D0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“Any fool can write code that a computer can understand. Good programmers write code that humans can understand.”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2185F-D62B-C448-E58E-9E2B441F0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Martin Fowler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4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9507</TotalTime>
  <Words>984</Words>
  <Application>Microsoft Macintosh PowerPoint</Application>
  <PresentationFormat>Widescreen</PresentationFormat>
  <Paragraphs>170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.AppleSystemUIFont</vt:lpstr>
      <vt:lpstr>Aptos</vt:lpstr>
      <vt:lpstr>Aptos Display</vt:lpstr>
      <vt:lpstr>Arial</vt:lpstr>
      <vt:lpstr>Calibri</vt:lpstr>
      <vt:lpstr>Consolas</vt:lpstr>
      <vt:lpstr>Helvetica Neue</vt:lpstr>
      <vt:lpstr>Office Theme</vt:lpstr>
      <vt:lpstr>SWE 4743:  Object-Oriented Design </vt:lpstr>
      <vt:lpstr>“Good design is actually a lot harder to notice than poor design, in part because good designs fit our needs so well that the design is invisible.</vt:lpstr>
      <vt:lpstr>PowerPoint Presentation</vt:lpstr>
      <vt:lpstr>Code makes things work.  Design makes things last.</vt:lpstr>
      <vt:lpstr>Why do so many successful systems still get rewritten?</vt:lpstr>
      <vt:lpstr>Design Is About Change, Not Features</vt:lpstr>
      <vt:lpstr>Your most important reader is  future developers, not the compiler.</vt:lpstr>
      <vt:lpstr>Good design limits what you can do…  on purpose!</vt:lpstr>
      <vt:lpstr>The Tragedy of “Just One More If”</vt:lpstr>
      <vt:lpstr>Design distinguishes programmers  from software engineers.</vt:lpstr>
      <vt:lpstr>Abstraction Is Choosing  What Not to Care About</vt:lpstr>
      <vt:lpstr>PowerPoint Presentation</vt:lpstr>
      <vt:lpstr>PowerPoint Presentation</vt:lpstr>
      <vt:lpstr>PowerPoint Presentation</vt:lpstr>
      <vt:lpstr>Abstraction Is Choosing  What Not to Care About</vt:lpstr>
      <vt:lpstr>What you do not see is the point</vt:lpstr>
      <vt:lpstr>Abstraction Comparison: The Linux File System API</vt:lpstr>
      <vt:lpstr>Abstraction Comparison: The Linux File System API</vt:lpstr>
      <vt:lpstr>“Any fool can write code that a computer can understand. Good programmers write code that humans can understand.”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Adkisson</dc:creator>
  <cp:lastModifiedBy>Jeff Adkisson</cp:lastModifiedBy>
  <cp:revision>128</cp:revision>
  <dcterms:created xsi:type="dcterms:W3CDTF">2018-02-20T23:25:10Z</dcterms:created>
  <dcterms:modified xsi:type="dcterms:W3CDTF">2026-01-13T22:16:28Z</dcterms:modified>
</cp:coreProperties>
</file>