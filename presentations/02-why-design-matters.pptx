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83" r:id="rId1"/>
  </p:sldMasterIdLst>
  <p:notesMasterIdLst>
    <p:notesMasterId r:id="rId22"/>
  </p:notesMasterIdLst>
  <p:sldIdLst>
    <p:sldId id="345" r:id="rId2"/>
    <p:sldId id="387" r:id="rId3"/>
    <p:sldId id="388" r:id="rId4"/>
    <p:sldId id="372" r:id="rId5"/>
    <p:sldId id="374" r:id="rId6"/>
    <p:sldId id="375" r:id="rId7"/>
    <p:sldId id="376" r:id="rId8"/>
    <p:sldId id="377" r:id="rId9"/>
    <p:sldId id="378" r:id="rId10"/>
    <p:sldId id="379" r:id="rId11"/>
    <p:sldId id="385" r:id="rId12"/>
    <p:sldId id="383" r:id="rId13"/>
    <p:sldId id="384" r:id="rId14"/>
    <p:sldId id="382" r:id="rId15"/>
    <p:sldId id="381" r:id="rId16"/>
    <p:sldId id="380" r:id="rId17"/>
    <p:sldId id="389" r:id="rId18"/>
    <p:sldId id="390" r:id="rId19"/>
    <p:sldId id="373" r:id="rId20"/>
    <p:sldId id="3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ff Adkisson" initials="JA" lastIdx="2" clrIdx="0">
    <p:extLst>
      <p:ext uri="{19B8F6BF-5375-455C-9EA6-DF929625EA0E}">
        <p15:presenceInfo xmlns:p15="http://schemas.microsoft.com/office/powerpoint/2012/main" userId="5306256a9e0779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55" autoAdjust="0"/>
    <p:restoredTop sz="94660"/>
  </p:normalViewPr>
  <p:slideViewPr>
    <p:cSldViewPr snapToGrid="0">
      <p:cViewPr varScale="1">
        <p:scale>
          <a:sx n="84" d="100"/>
          <a:sy n="84" d="100"/>
        </p:scale>
        <p:origin x="19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9C0DDD-0B52-4641-B06C-4696385AC0BD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034090-79BF-F644-A2E2-0966EB1CB48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327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6A585-3FDD-4D27-67E4-7C1D46C31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E74944-859B-DD35-5864-48175F7E4E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E315D-B82C-209C-86B8-56CC96EF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3F103-BC34-4FE4-A40E-EDDEECFDA5D0}" type="datetimeFigureOut">
              <a:rPr lang="en-US" smtClean="0"/>
              <a:pPr/>
              <a:t>1/13/26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7AC6E1-37F3-1677-7FE2-5CF08FCE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69DBB2-704A-5E38-E1FE-1451303BA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791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18018-85CB-1478-A7BF-AB678FD64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F7396-4E83-6C48-D444-020F7CCD7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15FE2-5E47-362E-4548-9E73E0A0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10858-6524-C5A0-672B-696E6D817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D40D-AEDB-7CD1-336B-496D8267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71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C3CBC-55A5-FA71-6368-9B99287D8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B6709-9D0B-5C05-AA61-BFE4BC962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BA091-A4BF-BBD2-B071-B14985FB9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8C261-0839-EF02-AF9C-73170BD97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F7C003-974C-B2A4-2044-433A76CC6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958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243F9-0C70-88FD-CAFD-735032AA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7B0D6-BC5F-8697-0998-F331CD3780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D66DF-0494-C266-8F28-656F90E8FC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BEB9F-EB68-D0F3-6352-B06ADED1F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934D8E-1D61-5D8E-3B3F-195289217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928D3-F9A4-20E0-676E-BEE48AACA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731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C00AD-6C08-D69F-40F7-62DF17994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E67EB1-4DEE-3967-338A-15D36F42E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D95C0A-2BBB-8B8E-DBCF-857397B036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70A95E-2188-2123-A7F2-3927966FB9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12165A-20B1-353E-D3E3-159496781C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49EC96-75FA-BC24-DFBE-F1AC55EE9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67EF75-ED18-0537-98F7-A0C21495F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547B63-6F6F-5776-4DF1-C5A25F387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093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E4C2F-156E-A47A-C2F5-8F70A7E09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0AD5F-AC89-1656-93B4-A50EF6F60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FA2988-AFDC-F197-361C-64D14DDFA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3AAFEA-6182-D36C-9FE1-C68B15E1D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17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AC400E-819A-0644-E426-0D2587042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D2A474-E0EA-0A10-013C-45EEA97D7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FE164-7115-2C33-27CD-BD3016F13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8696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F455-793B-7073-E0FB-A08D4D82B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3AC26-B82C-F7CE-6634-D24BEDEEA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BFECCE-418E-B254-BCB2-AE5F4696D3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9A5EB6-D21D-3A39-E0D0-FA344EE00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5ECE62-2245-B45A-5859-060FFF2DB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D6C0F8-FD16-59C3-C870-D5CD32DA0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826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4AFBD-EC7E-B074-1F79-F1AFB3A20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1ADFE3-B186-66CF-538A-4BDEF83AA4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F5F899-CD07-141B-0774-8EAECB3EF4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934F4-D11B-CE7F-5630-63C0C0CBC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8E4E44-905F-2039-96E2-4AFDA98F5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B91A9-93F4-D8A8-AECB-992A9D96A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973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0CC70-F60F-4AB6-B51E-6040B46B9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253D69-BB92-B251-DFA3-D340800EF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33ED7-41AC-823C-53BE-2C35DD9BB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6D93-FCAC-47E0-A2EE-787E62CA814C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C8974C-CB52-71BE-38EF-6B4FBCAE2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591F7-18B5-486F-22A3-B5424BF50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00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41E0E1-A4C4-013E-8010-61383E84DB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E999A8-47D8-0C95-8598-516C36B503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41BC-336F-3BA2-E29A-A26DC576B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79A6-0FD0-4734-A311-86BFCA472E6E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D4167-99BB-F2CA-ABEB-5EE10AC9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42538-C371-B572-732C-447379F4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18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7203C7-F609-CE62-5C59-95355042A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01016F-4714-0C8C-7599-9C8DF6722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BD1CCF-D740-8620-E19E-679B033CDA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E451C3-0FF4-47C4-B829-773ADF60F88C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0F416-DB3A-B30A-85F6-756794B806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09DD0-1EA0-9D03-8B08-97361F450A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1883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4" r:id="rId1"/>
    <p:sldLayoutId id="2147483985" r:id="rId2"/>
    <p:sldLayoutId id="2147483986" r:id="rId3"/>
    <p:sldLayoutId id="2147483987" r:id="rId4"/>
    <p:sldLayoutId id="2147483988" r:id="rId5"/>
    <p:sldLayoutId id="2147483989" r:id="rId6"/>
    <p:sldLayoutId id="2147483990" r:id="rId7"/>
    <p:sldLayoutId id="2147483991" r:id="rId8"/>
    <p:sldLayoutId id="2147483992" r:id="rId9"/>
    <p:sldLayoutId id="2147483993" r:id="rId10"/>
    <p:sldLayoutId id="214748399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8A2F9-C64C-7830-7132-A54765DC12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SWE 4743: </a:t>
            </a:r>
            <a:br>
              <a:rPr lang="en-US" dirty="0"/>
            </a:br>
            <a:r>
              <a:rPr lang="en-US" dirty="0"/>
              <a:t>Object Oriented Design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EC6FC0-F012-7EC4-953D-2AA9D9AE68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Jeff Adkisson</a:t>
            </a:r>
          </a:p>
          <a:p>
            <a:r>
              <a:rPr lang="en-US" dirty="0"/>
              <a:t>Monday, Wednesday at 6:30 PM</a:t>
            </a:r>
            <a:br>
              <a:rPr lang="en-US" dirty="0"/>
            </a:br>
            <a:r>
              <a:rPr lang="en-US" dirty="0"/>
              <a:t>Architecture, 175</a:t>
            </a:r>
          </a:p>
        </p:txBody>
      </p:sp>
    </p:spTree>
    <p:extLst>
      <p:ext uri="{BB962C8B-B14F-4D97-AF65-F5344CB8AC3E}">
        <p14:creationId xmlns:p14="http://schemas.microsoft.com/office/powerpoint/2010/main" val="1710785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E38E27-270C-2EC5-9163-72A761DC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78" name="Rectangle 11277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80" name="Rectangle 11279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82" name="Rectangle 11281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277" name="Rectangle 11276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279" name="Oval 11278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BA0910-FC89-8F57-8802-4C884601A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“Good design is actually a lot harder to notice than poor design, in part because good designs fit our needs so well that the design is invisible.</a:t>
            </a:r>
          </a:p>
        </p:txBody>
      </p:sp>
      <p:sp>
        <p:nvSpPr>
          <p:cNvPr id="11281" name="Rectangle 11280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88F9B4-E2EA-6838-F39D-CDDDD29BF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5661" y="4800600"/>
            <a:ext cx="5179879" cy="120014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     </a:t>
            </a:r>
            <a:r>
              <a:rPr lang="en-US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Don Norman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     </a:t>
            </a:r>
            <a:r>
              <a:rPr lang="en-US" b="1" i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The Design of Everyday Things</a:t>
            </a:r>
            <a:endParaRPr lang="en-US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1266" name="Picture 2" descr="Paperback The Design of Everyday Things Book">
            <a:extLst>
              <a:ext uri="{FF2B5EF4-FFF2-40B4-BE49-F238E27FC236}">
                <a16:creationId xmlns:a16="http://schemas.microsoft.com/office/drawing/2014/main" id="{FF2BFB05-965C-1290-C7E3-B4D87EA797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60981" y="1055417"/>
            <a:ext cx="3173819" cy="4747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4449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Norman Doors">
            <a:extLst>
              <a:ext uri="{FF2B5EF4-FFF2-40B4-BE49-F238E27FC236}">
                <a16:creationId xmlns:a16="http://schemas.microsoft.com/office/drawing/2014/main" id="{7CA9E3C3-B567-34CD-2FB1-BE936F2E9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080875" cy="692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11275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35622-29C6-17D7-1BA3-4E29E966D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US" sz="4000"/>
              <a:t>Code makes things work. </a:t>
            </a:r>
            <a:br>
              <a:rPr lang="en-US" sz="4000"/>
            </a:br>
            <a:r>
              <a:rPr lang="en-US" sz="4000"/>
              <a:t>Design makes things </a:t>
            </a:r>
            <a:r>
              <a:rPr lang="en-US" sz="4000" i="1"/>
              <a:t>last</a:t>
            </a:r>
            <a:r>
              <a:rPr lang="en-US" sz="400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82499-6C7F-5717-5779-E00AF7B15C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5260975" cy="396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Two identical features implemented:</a:t>
            </a:r>
          </a:p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Version A: shipped fast, hard to change</a:t>
            </a:r>
          </a:p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Version B: shipped thoughtfully, adapts for years</a:t>
            </a:r>
          </a:p>
          <a:p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Most software cost is </a:t>
            </a:r>
            <a:r>
              <a:rPr lang="en-US" sz="2000" b="1">
                <a:solidFill>
                  <a:schemeClr val="tx1">
                    <a:alpha val="80000"/>
                  </a:schemeClr>
                </a:solidFill>
              </a:rPr>
              <a:t>not writing code</a:t>
            </a: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—it’s </a:t>
            </a:r>
            <a:r>
              <a:rPr lang="en-US" sz="2000" i="1">
                <a:solidFill>
                  <a:schemeClr val="tx1">
                    <a:alpha val="80000"/>
                  </a:schemeClr>
                </a:solidFill>
              </a:rPr>
              <a:t>changing</a:t>
            </a: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 it.</a:t>
            </a:r>
          </a:p>
          <a:p>
            <a:pPr marL="0" indent="0">
              <a:buNone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Design choices compound over time, for better or worse.</a:t>
            </a:r>
          </a:p>
          <a:p>
            <a:pPr marL="0" indent="0">
              <a:buNone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Good design lets </a:t>
            </a:r>
            <a:r>
              <a:rPr lang="en-US" sz="2000" i="1">
                <a:solidFill>
                  <a:schemeClr val="tx1">
                    <a:alpha val="80000"/>
                  </a:schemeClr>
                </a:solidFill>
              </a:rPr>
              <a:t>average developers</a:t>
            </a: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 produce </a:t>
            </a:r>
            <a:r>
              <a:rPr lang="en-US" sz="2000" i="1">
                <a:solidFill>
                  <a:schemeClr val="tx1">
                    <a:alpha val="80000"/>
                  </a:schemeClr>
                </a:solidFill>
              </a:rPr>
              <a:t>excellent systems</a:t>
            </a: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endParaRPr lang="en-US" sz="200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814620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0383" y="0"/>
            <a:ext cx="8451607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3745177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8537C8-B031-74D6-1F08-C7B32C410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2" y="637762"/>
            <a:ext cx="2190782" cy="5576770"/>
          </a:xfrm>
        </p:spPr>
        <p:txBody>
          <a:bodyPr anchor="t">
            <a:normAutofit/>
          </a:bodyPr>
          <a:lstStyle/>
          <a:p>
            <a:r>
              <a:rPr lang="en-US" sz="3300">
                <a:solidFill>
                  <a:schemeClr val="bg1"/>
                </a:solidFill>
              </a:rPr>
              <a:t>Why do so many successful systems</a:t>
            </a:r>
            <a:br>
              <a:rPr lang="en-US" sz="3300">
                <a:solidFill>
                  <a:schemeClr val="bg1"/>
                </a:solidFill>
              </a:rPr>
            </a:br>
            <a:r>
              <a:rPr lang="en-US" sz="3300">
                <a:solidFill>
                  <a:schemeClr val="bg1"/>
                </a:solidFill>
              </a:rPr>
              <a:t>still get rewritten?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733" y="643465"/>
            <a:ext cx="4572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6B633-0CF8-D006-99BA-5CD1D65EA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732" y="850052"/>
            <a:ext cx="6390623" cy="5326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Month 1 - Works! We shipped so fast! Vibe coding ROCKS!</a:t>
            </a:r>
          </a:p>
          <a:p>
            <a:pPr marL="0" indent="0">
              <a:buNone/>
            </a:pP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Month 6 - Still okay, slightly difficult to maintain…</a:t>
            </a:r>
          </a:p>
          <a:p>
            <a:pPr marL="0" indent="0">
              <a:buNone/>
            </a:pP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Year 2 - Pain, every ”enhancement” breaks something, so buggy…</a:t>
            </a:r>
          </a:p>
          <a:p>
            <a:pPr marL="0" indent="0">
              <a:buNone/>
            </a:pP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Year 5 ─── Rewrite discussion, so brittle nothing can be added, ugh…</a:t>
            </a:r>
          </a:p>
          <a:p>
            <a:pPr marL="0" indent="0">
              <a:buNone/>
            </a:pPr>
            <a:endParaRPr lang="en-US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200" dirty="0"/>
              <a:t>Design debt doesn’t hurt immediately—</a:t>
            </a:r>
            <a:r>
              <a:rPr lang="en-US" sz="2200" i="1" dirty="0"/>
              <a:t>that’s why it’s dangerous</a:t>
            </a:r>
            <a:r>
              <a:rPr lang="en-US" sz="2200" dirty="0"/>
              <a:t>.</a:t>
            </a:r>
          </a:p>
          <a:p>
            <a:r>
              <a:rPr lang="en-US" sz="2200" dirty="0"/>
              <a:t>Early success often masks structural problems.</a:t>
            </a:r>
          </a:p>
          <a:p>
            <a:r>
              <a:rPr lang="en-US" sz="2200" dirty="0"/>
              <a:t>OO design exists to manage </a:t>
            </a:r>
            <a:r>
              <a:rPr lang="en-US" sz="2200" b="1" dirty="0"/>
              <a:t>long-lived complexity</a:t>
            </a:r>
            <a:r>
              <a:rPr lang="en-US" sz="2200" dirty="0"/>
              <a:t>, not toy programs.</a:t>
            </a:r>
          </a:p>
          <a:p>
            <a:pPr marL="0" indent="0">
              <a:buNone/>
            </a:pPr>
            <a:endParaRPr lang="en-US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7876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FEF463D-EE6B-46FF-B7C7-74B09A96C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1A27B3A-460C-4100-99B5-817F25979F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7089" y="1498602"/>
            <a:ext cx="4403345" cy="3940174"/>
            <a:chOff x="827089" y="1498602"/>
            <a:chExt cx="4403345" cy="3940174"/>
          </a:xfrm>
          <a:effectLst>
            <a:outerShdw blurRad="381000" dist="152400" dir="5400000" algn="ctr" rotWithShape="0">
              <a:srgbClr val="000000">
                <a:alpha val="10000"/>
              </a:srgbClr>
            </a:outerShdw>
          </a:effectLst>
        </p:grpSpPr>
        <p:sp>
          <p:nvSpPr>
            <p:cNvPr id="5" name="Freeform: Shape 10">
              <a:extLst>
                <a:ext uri="{FF2B5EF4-FFF2-40B4-BE49-F238E27FC236}">
                  <a16:creationId xmlns:a16="http://schemas.microsoft.com/office/drawing/2014/main" id="{35450488-7F33-43E4-B4DA-CAB50A1CC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27089" y="1498602"/>
              <a:ext cx="4403345" cy="3940174"/>
            </a:xfrm>
            <a:custGeom>
              <a:avLst/>
              <a:gdLst>
                <a:gd name="connsiteX0" fmla="*/ 0 w 5260975"/>
                <a:gd name="connsiteY0" fmla="*/ 0 h 4707593"/>
                <a:gd name="connsiteX1" fmla="*/ 5260975 w 5260975"/>
                <a:gd name="connsiteY1" fmla="*/ 0 h 4707593"/>
                <a:gd name="connsiteX2" fmla="*/ 5260975 w 5260975"/>
                <a:gd name="connsiteY2" fmla="*/ 3296937 h 4707593"/>
                <a:gd name="connsiteX3" fmla="*/ 5260975 w 5260975"/>
                <a:gd name="connsiteY3" fmla="*/ 3518571 h 4707593"/>
                <a:gd name="connsiteX4" fmla="*/ 5226504 w 5260975"/>
                <a:gd name="connsiteY4" fmla="*/ 3534000 h 4707593"/>
                <a:gd name="connsiteX5" fmla="*/ 5206341 w 5260975"/>
                <a:gd name="connsiteY5" fmla="*/ 3542065 h 4707593"/>
                <a:gd name="connsiteX6" fmla="*/ 5123287 w 5260975"/>
                <a:gd name="connsiteY6" fmla="*/ 3594010 h 4707593"/>
                <a:gd name="connsiteX7" fmla="*/ 5048107 w 5260975"/>
                <a:gd name="connsiteY7" fmla="*/ 3658244 h 4707593"/>
                <a:gd name="connsiteX8" fmla="*/ 4992899 w 5260975"/>
                <a:gd name="connsiteY8" fmla="*/ 3734479 h 4707593"/>
                <a:gd name="connsiteX9" fmla="*/ 4977440 w 5260975"/>
                <a:gd name="connsiteY9" fmla="*/ 3752627 h 4707593"/>
                <a:gd name="connsiteX10" fmla="*/ 4935194 w 5260975"/>
                <a:gd name="connsiteY10" fmla="*/ 3775382 h 4707593"/>
                <a:gd name="connsiteX11" fmla="*/ 4897844 w 5260975"/>
                <a:gd name="connsiteY11" fmla="*/ 3792472 h 4707593"/>
                <a:gd name="connsiteX12" fmla="*/ 4870767 w 5260975"/>
                <a:gd name="connsiteY12" fmla="*/ 3811388 h 4707593"/>
                <a:gd name="connsiteX13" fmla="*/ 4847917 w 5260975"/>
                <a:gd name="connsiteY13" fmla="*/ 3828767 h 4707593"/>
                <a:gd name="connsiteX14" fmla="*/ 4796163 w 5260975"/>
                <a:gd name="connsiteY14" fmla="*/ 3873702 h 4707593"/>
                <a:gd name="connsiteX15" fmla="*/ 4738843 w 5260975"/>
                <a:gd name="connsiteY15" fmla="*/ 3911628 h 4707593"/>
                <a:gd name="connsiteX16" fmla="*/ 4692755 w 5260975"/>
                <a:gd name="connsiteY16" fmla="*/ 3958099 h 4707593"/>
                <a:gd name="connsiteX17" fmla="*/ 4673744 w 5260975"/>
                <a:gd name="connsiteY17" fmla="*/ 3983255 h 4707593"/>
                <a:gd name="connsiteX18" fmla="*/ 4633801 w 5260975"/>
                <a:gd name="connsiteY18" fmla="*/ 4000442 h 4707593"/>
                <a:gd name="connsiteX19" fmla="*/ 4590499 w 5260975"/>
                <a:gd name="connsiteY19" fmla="*/ 4027326 h 4707593"/>
                <a:gd name="connsiteX20" fmla="*/ 4559773 w 5260975"/>
                <a:gd name="connsiteY20" fmla="*/ 4054018 h 4707593"/>
                <a:gd name="connsiteX21" fmla="*/ 4536059 w 5260975"/>
                <a:gd name="connsiteY21" fmla="*/ 4071877 h 4707593"/>
                <a:gd name="connsiteX22" fmla="*/ 4502550 w 5260975"/>
                <a:gd name="connsiteY22" fmla="*/ 4089832 h 4707593"/>
                <a:gd name="connsiteX23" fmla="*/ 4468944 w 5260975"/>
                <a:gd name="connsiteY23" fmla="*/ 4113356 h 4707593"/>
                <a:gd name="connsiteX24" fmla="*/ 4452623 w 5260975"/>
                <a:gd name="connsiteY24" fmla="*/ 4127854 h 4707593"/>
                <a:gd name="connsiteX25" fmla="*/ 4421032 w 5260975"/>
                <a:gd name="connsiteY25" fmla="*/ 4151953 h 4707593"/>
                <a:gd name="connsiteX26" fmla="*/ 4388483 w 5260975"/>
                <a:gd name="connsiteY26" fmla="*/ 4174421 h 4707593"/>
                <a:gd name="connsiteX27" fmla="*/ 4327321 w 5260975"/>
                <a:gd name="connsiteY27" fmla="*/ 4200153 h 4707593"/>
                <a:gd name="connsiteX28" fmla="*/ 4271633 w 5260975"/>
                <a:gd name="connsiteY28" fmla="*/ 4237983 h 4707593"/>
                <a:gd name="connsiteX29" fmla="*/ 4227465 w 5260975"/>
                <a:gd name="connsiteY29" fmla="*/ 4265635 h 4707593"/>
                <a:gd name="connsiteX30" fmla="*/ 4201733 w 5260975"/>
                <a:gd name="connsiteY30" fmla="*/ 4283783 h 4707593"/>
                <a:gd name="connsiteX31" fmla="*/ 4154494 w 5260975"/>
                <a:gd name="connsiteY31" fmla="*/ 4324301 h 4707593"/>
                <a:gd name="connsiteX32" fmla="*/ 4081234 w 5260975"/>
                <a:gd name="connsiteY32" fmla="*/ 4366931 h 4707593"/>
                <a:gd name="connsiteX33" fmla="*/ 4036971 w 5260975"/>
                <a:gd name="connsiteY33" fmla="*/ 4389975 h 4707593"/>
                <a:gd name="connsiteX34" fmla="*/ 3941725 w 5260975"/>
                <a:gd name="connsiteY34" fmla="*/ 4424733 h 4707593"/>
                <a:gd name="connsiteX35" fmla="*/ 3910999 w 5260975"/>
                <a:gd name="connsiteY35" fmla="*/ 4437119 h 4707593"/>
                <a:gd name="connsiteX36" fmla="*/ 3875859 w 5260975"/>
                <a:gd name="connsiteY36" fmla="*/ 4445280 h 4707593"/>
                <a:gd name="connsiteX37" fmla="*/ 3819401 w 5260975"/>
                <a:gd name="connsiteY37" fmla="*/ 4464579 h 4707593"/>
                <a:gd name="connsiteX38" fmla="*/ 3709176 w 5260975"/>
                <a:gd name="connsiteY38" fmla="*/ 4497800 h 4707593"/>
                <a:gd name="connsiteX39" fmla="*/ 3684981 w 5260975"/>
                <a:gd name="connsiteY39" fmla="*/ 4502889 h 4707593"/>
                <a:gd name="connsiteX40" fmla="*/ 3623338 w 5260975"/>
                <a:gd name="connsiteY40" fmla="*/ 4524300 h 4707593"/>
                <a:gd name="connsiteX41" fmla="*/ 3586373 w 5260975"/>
                <a:gd name="connsiteY41" fmla="*/ 4538702 h 4707593"/>
                <a:gd name="connsiteX42" fmla="*/ 3555743 w 5260975"/>
                <a:gd name="connsiteY42" fmla="*/ 4546960 h 4707593"/>
                <a:gd name="connsiteX43" fmla="*/ 3528667 w 5260975"/>
                <a:gd name="connsiteY43" fmla="*/ 4550801 h 4707593"/>
                <a:gd name="connsiteX44" fmla="*/ 3457424 w 5260975"/>
                <a:gd name="connsiteY44" fmla="*/ 4569811 h 4707593"/>
                <a:gd name="connsiteX45" fmla="*/ 3429003 w 5260975"/>
                <a:gd name="connsiteY45" fmla="*/ 4577301 h 4707593"/>
                <a:gd name="connsiteX46" fmla="*/ 3355264 w 5260975"/>
                <a:gd name="connsiteY46" fmla="*/ 4603033 h 4707593"/>
                <a:gd name="connsiteX47" fmla="*/ 3292757 w 5260975"/>
                <a:gd name="connsiteY47" fmla="*/ 4620027 h 4707593"/>
                <a:gd name="connsiteX48" fmla="*/ 3266643 w 5260975"/>
                <a:gd name="connsiteY48" fmla="*/ 4628188 h 4707593"/>
                <a:gd name="connsiteX49" fmla="*/ 3206921 w 5260975"/>
                <a:gd name="connsiteY49" fmla="*/ 4641823 h 4707593"/>
                <a:gd name="connsiteX50" fmla="*/ 3173123 w 5260975"/>
                <a:gd name="connsiteY50" fmla="*/ 4651425 h 4707593"/>
                <a:gd name="connsiteX51" fmla="*/ 3090646 w 5260975"/>
                <a:gd name="connsiteY51" fmla="*/ 4662274 h 4707593"/>
                <a:gd name="connsiteX52" fmla="*/ 3005480 w 5260975"/>
                <a:gd name="connsiteY52" fmla="*/ 4672739 h 4707593"/>
                <a:gd name="connsiteX53" fmla="*/ 2958721 w 5260975"/>
                <a:gd name="connsiteY53" fmla="*/ 4676196 h 4707593"/>
                <a:gd name="connsiteX54" fmla="*/ 2917915 w 5260975"/>
                <a:gd name="connsiteY54" fmla="*/ 4681670 h 4707593"/>
                <a:gd name="connsiteX55" fmla="*/ 2882389 w 5260975"/>
                <a:gd name="connsiteY55" fmla="*/ 4685126 h 4707593"/>
                <a:gd name="connsiteX56" fmla="*/ 2825837 w 5260975"/>
                <a:gd name="connsiteY56" fmla="*/ 4692135 h 4707593"/>
                <a:gd name="connsiteX57" fmla="*/ 2802313 w 5260975"/>
                <a:gd name="connsiteY57" fmla="*/ 4693960 h 4707593"/>
                <a:gd name="connsiteX58" fmla="*/ 2746816 w 5260975"/>
                <a:gd name="connsiteY58" fmla="*/ 4693863 h 4707593"/>
                <a:gd name="connsiteX59" fmla="*/ 2727517 w 5260975"/>
                <a:gd name="connsiteY59" fmla="*/ 4692903 h 4707593"/>
                <a:gd name="connsiteX60" fmla="*/ 2690359 w 5260975"/>
                <a:gd name="connsiteY60" fmla="*/ 4680997 h 4707593"/>
                <a:gd name="connsiteX61" fmla="*/ 2685943 w 5260975"/>
                <a:gd name="connsiteY61" fmla="*/ 4680133 h 4707593"/>
                <a:gd name="connsiteX62" fmla="*/ 2661554 w 5260975"/>
                <a:gd name="connsiteY62" fmla="*/ 4675428 h 4707593"/>
                <a:gd name="connsiteX63" fmla="*/ 2648208 w 5260975"/>
                <a:gd name="connsiteY63" fmla="*/ 4673892 h 4707593"/>
                <a:gd name="connsiteX64" fmla="*/ 2597512 w 5260975"/>
                <a:gd name="connsiteY64" fmla="*/ 4664099 h 4707593"/>
                <a:gd name="connsiteX65" fmla="*/ 2568324 w 5260975"/>
                <a:gd name="connsiteY65" fmla="*/ 4659490 h 4707593"/>
                <a:gd name="connsiteX66" fmla="*/ 2544704 w 5260975"/>
                <a:gd name="connsiteY66" fmla="*/ 4660162 h 4707593"/>
                <a:gd name="connsiteX67" fmla="*/ 2503225 w 5260975"/>
                <a:gd name="connsiteY67" fmla="*/ 4661026 h 4707593"/>
                <a:gd name="connsiteX68" fmla="*/ 2489975 w 5260975"/>
                <a:gd name="connsiteY68" fmla="*/ 4663235 h 4707593"/>
                <a:gd name="connsiteX69" fmla="*/ 2430061 w 5260975"/>
                <a:gd name="connsiteY69" fmla="*/ 4656897 h 4707593"/>
                <a:gd name="connsiteX70" fmla="*/ 2395880 w 5260975"/>
                <a:gd name="connsiteY70" fmla="*/ 4656417 h 4707593"/>
                <a:gd name="connsiteX71" fmla="*/ 2357378 w 5260975"/>
                <a:gd name="connsiteY71" fmla="*/ 4648544 h 4707593"/>
                <a:gd name="connsiteX72" fmla="*/ 2346145 w 5260975"/>
                <a:gd name="connsiteY72" fmla="*/ 4648928 h 4707593"/>
                <a:gd name="connsiteX73" fmla="*/ 2333567 w 5260975"/>
                <a:gd name="connsiteY73" fmla="*/ 4649600 h 4707593"/>
                <a:gd name="connsiteX74" fmla="*/ 2294968 w 5260975"/>
                <a:gd name="connsiteY74" fmla="*/ 4650177 h 4707593"/>
                <a:gd name="connsiteX75" fmla="*/ 2271540 w 5260975"/>
                <a:gd name="connsiteY75" fmla="*/ 4653057 h 4707593"/>
                <a:gd name="connsiteX76" fmla="*/ 2226895 w 5260975"/>
                <a:gd name="connsiteY76" fmla="*/ 4651329 h 4707593"/>
                <a:gd name="connsiteX77" fmla="*/ 2210379 w 5260975"/>
                <a:gd name="connsiteY77" fmla="*/ 4653825 h 4707593"/>
                <a:gd name="connsiteX78" fmla="*/ 2168613 w 5260975"/>
                <a:gd name="connsiteY78" fmla="*/ 4654113 h 4707593"/>
                <a:gd name="connsiteX79" fmla="*/ 2131167 w 5260975"/>
                <a:gd name="connsiteY79" fmla="*/ 4652673 h 4707593"/>
                <a:gd name="connsiteX80" fmla="*/ 2095065 w 5260975"/>
                <a:gd name="connsiteY80" fmla="*/ 4653441 h 4707593"/>
                <a:gd name="connsiteX81" fmla="*/ 2069237 w 5260975"/>
                <a:gd name="connsiteY81" fmla="*/ 4656609 h 4707593"/>
                <a:gd name="connsiteX82" fmla="*/ 2041201 w 5260975"/>
                <a:gd name="connsiteY82" fmla="*/ 4658529 h 4707593"/>
                <a:gd name="connsiteX83" fmla="*/ 1963909 w 5260975"/>
                <a:gd name="connsiteY83" fmla="*/ 4669955 h 4707593"/>
                <a:gd name="connsiteX84" fmla="*/ 1949603 w 5260975"/>
                <a:gd name="connsiteY84" fmla="*/ 4667171 h 4707593"/>
                <a:gd name="connsiteX85" fmla="*/ 1868373 w 5260975"/>
                <a:gd name="connsiteY85" fmla="*/ 4664578 h 4707593"/>
                <a:gd name="connsiteX86" fmla="*/ 1850707 w 5260975"/>
                <a:gd name="connsiteY86" fmla="*/ 4664771 h 4707593"/>
                <a:gd name="connsiteX87" fmla="*/ 1803275 w 5260975"/>
                <a:gd name="connsiteY87" fmla="*/ 4653441 h 4707593"/>
                <a:gd name="connsiteX88" fmla="*/ 1730112 w 5260975"/>
                <a:gd name="connsiteY88" fmla="*/ 4671396 h 4707593"/>
                <a:gd name="connsiteX89" fmla="*/ 1661652 w 5260975"/>
                <a:gd name="connsiteY89" fmla="*/ 4693863 h 4707593"/>
                <a:gd name="connsiteX90" fmla="*/ 1653011 w 5260975"/>
                <a:gd name="connsiteY90" fmla="*/ 4696744 h 4707593"/>
                <a:gd name="connsiteX91" fmla="*/ 1628431 w 5260975"/>
                <a:gd name="connsiteY91" fmla="*/ 4701641 h 4707593"/>
                <a:gd name="connsiteX92" fmla="*/ 1597995 w 5260975"/>
                <a:gd name="connsiteY92" fmla="*/ 4703369 h 4707593"/>
                <a:gd name="connsiteX93" fmla="*/ 1559396 w 5260975"/>
                <a:gd name="connsiteY93" fmla="*/ 4707593 h 4707593"/>
                <a:gd name="connsiteX94" fmla="*/ 1528480 w 5260975"/>
                <a:gd name="connsiteY94" fmla="*/ 4702312 h 4707593"/>
                <a:gd name="connsiteX95" fmla="*/ 1485272 w 5260975"/>
                <a:gd name="connsiteY95" fmla="*/ 4694439 h 4707593"/>
                <a:gd name="connsiteX96" fmla="*/ 1444562 w 5260975"/>
                <a:gd name="connsiteY96" fmla="*/ 4686950 h 4707593"/>
                <a:gd name="connsiteX97" fmla="*/ 1431696 w 5260975"/>
                <a:gd name="connsiteY97" fmla="*/ 4695783 h 4707593"/>
                <a:gd name="connsiteX98" fmla="*/ 1411821 w 5260975"/>
                <a:gd name="connsiteY98" fmla="*/ 4703464 h 4707593"/>
                <a:gd name="connsiteX99" fmla="*/ 1389738 w 5260975"/>
                <a:gd name="connsiteY99" fmla="*/ 4694247 h 4707593"/>
                <a:gd name="connsiteX100" fmla="*/ 1338081 w 5260975"/>
                <a:gd name="connsiteY100" fmla="*/ 4675141 h 4707593"/>
                <a:gd name="connsiteX101" fmla="*/ 1305436 w 5260975"/>
                <a:gd name="connsiteY101" fmla="*/ 4674276 h 4707593"/>
                <a:gd name="connsiteX102" fmla="*/ 1234481 w 5260975"/>
                <a:gd name="connsiteY102" fmla="*/ 4666115 h 4707593"/>
                <a:gd name="connsiteX103" fmla="*/ 1188106 w 5260975"/>
                <a:gd name="connsiteY103" fmla="*/ 4654497 h 4707593"/>
                <a:gd name="connsiteX104" fmla="*/ 1154790 w 5260975"/>
                <a:gd name="connsiteY104" fmla="*/ 4641343 h 4707593"/>
                <a:gd name="connsiteX105" fmla="*/ 1107069 w 5260975"/>
                <a:gd name="connsiteY105" fmla="*/ 4624156 h 4707593"/>
                <a:gd name="connsiteX106" fmla="*/ 1059158 w 5260975"/>
                <a:gd name="connsiteY106" fmla="*/ 4615227 h 4707593"/>
                <a:gd name="connsiteX107" fmla="*/ 1024496 w 5260975"/>
                <a:gd name="connsiteY107" fmla="*/ 4603993 h 4707593"/>
                <a:gd name="connsiteX108" fmla="*/ 982153 w 5260975"/>
                <a:gd name="connsiteY108" fmla="*/ 4596311 h 4707593"/>
                <a:gd name="connsiteX109" fmla="*/ 946628 w 5260975"/>
                <a:gd name="connsiteY109" fmla="*/ 4596024 h 4707593"/>
                <a:gd name="connsiteX110" fmla="*/ 890939 w 5260975"/>
                <a:gd name="connsiteY110" fmla="*/ 4597368 h 4707593"/>
                <a:gd name="connsiteX111" fmla="*/ 822769 w 5260975"/>
                <a:gd name="connsiteY111" fmla="*/ 4574133 h 4707593"/>
                <a:gd name="connsiteX112" fmla="*/ 795212 w 5260975"/>
                <a:gd name="connsiteY112" fmla="*/ 4568947 h 4707593"/>
                <a:gd name="connsiteX113" fmla="*/ 769288 w 5260975"/>
                <a:gd name="connsiteY113" fmla="*/ 4566547 h 4707593"/>
                <a:gd name="connsiteX114" fmla="*/ 714271 w 5260975"/>
                <a:gd name="connsiteY114" fmla="*/ 4551089 h 4707593"/>
                <a:gd name="connsiteX115" fmla="*/ 691900 w 5260975"/>
                <a:gd name="connsiteY115" fmla="*/ 4545999 h 4707593"/>
                <a:gd name="connsiteX116" fmla="*/ 660598 w 5260975"/>
                <a:gd name="connsiteY116" fmla="*/ 4546096 h 4707593"/>
                <a:gd name="connsiteX117" fmla="*/ 603662 w 5260975"/>
                <a:gd name="connsiteY117" fmla="*/ 4538991 h 4707593"/>
                <a:gd name="connsiteX118" fmla="*/ 546821 w 5260975"/>
                <a:gd name="connsiteY118" fmla="*/ 4518251 h 4707593"/>
                <a:gd name="connsiteX119" fmla="*/ 522721 w 5260975"/>
                <a:gd name="connsiteY119" fmla="*/ 4520267 h 4707593"/>
                <a:gd name="connsiteX120" fmla="*/ 514080 w 5260975"/>
                <a:gd name="connsiteY120" fmla="*/ 4519788 h 4707593"/>
                <a:gd name="connsiteX121" fmla="*/ 436404 w 5260975"/>
                <a:gd name="connsiteY121" fmla="*/ 4508361 h 4707593"/>
                <a:gd name="connsiteX122" fmla="*/ 428626 w 5260975"/>
                <a:gd name="connsiteY122" fmla="*/ 4507114 h 4707593"/>
                <a:gd name="connsiteX123" fmla="*/ 392141 w 5260975"/>
                <a:gd name="connsiteY123" fmla="*/ 4496936 h 4707593"/>
                <a:gd name="connsiteX124" fmla="*/ 300157 w 5260975"/>
                <a:gd name="connsiteY124" fmla="*/ 4490599 h 4707593"/>
                <a:gd name="connsiteX125" fmla="*/ 294493 w 5260975"/>
                <a:gd name="connsiteY125" fmla="*/ 4489831 h 4707593"/>
                <a:gd name="connsiteX126" fmla="*/ 263671 w 5260975"/>
                <a:gd name="connsiteY126" fmla="*/ 4494919 h 4707593"/>
                <a:gd name="connsiteX127" fmla="*/ 248406 w 5260975"/>
                <a:gd name="connsiteY127" fmla="*/ 4502121 h 4707593"/>
                <a:gd name="connsiteX128" fmla="*/ 224594 w 5260975"/>
                <a:gd name="connsiteY128" fmla="*/ 4509610 h 4707593"/>
                <a:gd name="connsiteX129" fmla="*/ 200398 w 5260975"/>
                <a:gd name="connsiteY129" fmla="*/ 4512395 h 4707593"/>
                <a:gd name="connsiteX130" fmla="*/ 159783 w 5260975"/>
                <a:gd name="connsiteY130" fmla="*/ 4501064 h 4707593"/>
                <a:gd name="connsiteX131" fmla="*/ 144997 w 5260975"/>
                <a:gd name="connsiteY131" fmla="*/ 4499912 h 4707593"/>
                <a:gd name="connsiteX132" fmla="*/ 112064 w 5260975"/>
                <a:gd name="connsiteY132" fmla="*/ 4494440 h 4707593"/>
                <a:gd name="connsiteX133" fmla="*/ 83259 w 5260975"/>
                <a:gd name="connsiteY133" fmla="*/ 4494824 h 4707593"/>
                <a:gd name="connsiteX134" fmla="*/ 60120 w 5260975"/>
                <a:gd name="connsiteY134" fmla="*/ 4503561 h 4707593"/>
                <a:gd name="connsiteX135" fmla="*/ 26514 w 5260975"/>
                <a:gd name="connsiteY135" fmla="*/ 4505289 h 4707593"/>
                <a:gd name="connsiteX136" fmla="*/ 4814 w 5260975"/>
                <a:gd name="connsiteY136" fmla="*/ 4498952 h 4707593"/>
                <a:gd name="connsiteX137" fmla="*/ 398 w 5260975"/>
                <a:gd name="connsiteY137" fmla="*/ 4498089 h 4707593"/>
                <a:gd name="connsiteX138" fmla="*/ 0 w 5260975"/>
                <a:gd name="connsiteY138" fmla="*/ 4498087 h 4707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</a:cxnLst>
              <a:rect l="l" t="t" r="r" b="b"/>
              <a:pathLst>
                <a:path w="5260975" h="4707593">
                  <a:moveTo>
                    <a:pt x="0" y="0"/>
                  </a:moveTo>
                  <a:lnTo>
                    <a:pt x="5260975" y="0"/>
                  </a:lnTo>
                  <a:lnTo>
                    <a:pt x="5260975" y="3296937"/>
                  </a:lnTo>
                  <a:lnTo>
                    <a:pt x="5260975" y="3518571"/>
                  </a:lnTo>
                  <a:lnTo>
                    <a:pt x="5226504" y="3534000"/>
                  </a:lnTo>
                  <a:cubicBezTo>
                    <a:pt x="5219783" y="3536785"/>
                    <a:pt x="5212389" y="3538321"/>
                    <a:pt x="5206341" y="3542065"/>
                  </a:cubicBezTo>
                  <a:cubicBezTo>
                    <a:pt x="5178495" y="3559156"/>
                    <a:pt x="5151515" y="3577591"/>
                    <a:pt x="5123287" y="3594010"/>
                  </a:cubicBezTo>
                  <a:cubicBezTo>
                    <a:pt x="5094195" y="3611004"/>
                    <a:pt x="5068175" y="3631071"/>
                    <a:pt x="5048107" y="3658244"/>
                  </a:cubicBezTo>
                  <a:cubicBezTo>
                    <a:pt x="5029480" y="3683496"/>
                    <a:pt x="5011429" y="3709131"/>
                    <a:pt x="4992899" y="3734479"/>
                  </a:cubicBezTo>
                  <a:cubicBezTo>
                    <a:pt x="4988194" y="3740912"/>
                    <a:pt x="4983874" y="3748498"/>
                    <a:pt x="4977440" y="3752627"/>
                  </a:cubicBezTo>
                  <a:cubicBezTo>
                    <a:pt x="4964094" y="3761268"/>
                    <a:pt x="4949500" y="3768277"/>
                    <a:pt x="4935194" y="3775382"/>
                  </a:cubicBezTo>
                  <a:cubicBezTo>
                    <a:pt x="4922903" y="3781431"/>
                    <a:pt x="4909846" y="3785943"/>
                    <a:pt x="4897844" y="3792472"/>
                  </a:cubicBezTo>
                  <a:cubicBezTo>
                    <a:pt x="4888243" y="3797658"/>
                    <a:pt x="4879697" y="3804859"/>
                    <a:pt x="4870767" y="3811388"/>
                  </a:cubicBezTo>
                  <a:cubicBezTo>
                    <a:pt x="4862990" y="3817052"/>
                    <a:pt x="4854445" y="3821949"/>
                    <a:pt x="4847917" y="3828767"/>
                  </a:cubicBezTo>
                  <a:cubicBezTo>
                    <a:pt x="4831977" y="3845281"/>
                    <a:pt x="4815942" y="3861508"/>
                    <a:pt x="4796163" y="3873702"/>
                  </a:cubicBezTo>
                  <a:cubicBezTo>
                    <a:pt x="4776672" y="3885799"/>
                    <a:pt x="4758237" y="3899338"/>
                    <a:pt x="4738843" y="3911628"/>
                  </a:cubicBezTo>
                  <a:cubicBezTo>
                    <a:pt x="4719831" y="3923630"/>
                    <a:pt x="4702645" y="3936783"/>
                    <a:pt x="4692755" y="3958099"/>
                  </a:cubicBezTo>
                  <a:cubicBezTo>
                    <a:pt x="4688339" y="3967508"/>
                    <a:pt x="4682097" y="3977782"/>
                    <a:pt x="4673744" y="3983255"/>
                  </a:cubicBezTo>
                  <a:cubicBezTo>
                    <a:pt x="4661838" y="3991032"/>
                    <a:pt x="4646764" y="3993817"/>
                    <a:pt x="4633801" y="4000442"/>
                  </a:cubicBezTo>
                  <a:cubicBezTo>
                    <a:pt x="4618535" y="4008219"/>
                    <a:pt x="4600869" y="4014940"/>
                    <a:pt x="4590499" y="4027326"/>
                  </a:cubicBezTo>
                  <a:cubicBezTo>
                    <a:pt x="4581281" y="4038368"/>
                    <a:pt x="4571968" y="4047009"/>
                    <a:pt x="4559773" y="4054018"/>
                  </a:cubicBezTo>
                  <a:cubicBezTo>
                    <a:pt x="4551229" y="4058915"/>
                    <a:pt x="4544892" y="4067844"/>
                    <a:pt x="4536059" y="4071877"/>
                  </a:cubicBezTo>
                  <a:cubicBezTo>
                    <a:pt x="4524442" y="4077254"/>
                    <a:pt x="4512727" y="4081479"/>
                    <a:pt x="4502550" y="4089832"/>
                  </a:cubicBezTo>
                  <a:cubicBezTo>
                    <a:pt x="4491987" y="4098473"/>
                    <a:pt x="4479986" y="4105290"/>
                    <a:pt x="4468944" y="4113356"/>
                  </a:cubicBezTo>
                  <a:cubicBezTo>
                    <a:pt x="4463087" y="4117676"/>
                    <a:pt x="4458286" y="4123341"/>
                    <a:pt x="4452623" y="4127854"/>
                  </a:cubicBezTo>
                  <a:cubicBezTo>
                    <a:pt x="4442252" y="4136111"/>
                    <a:pt x="4431690" y="4144176"/>
                    <a:pt x="4421032" y="4151953"/>
                  </a:cubicBezTo>
                  <a:cubicBezTo>
                    <a:pt x="4410375" y="4159731"/>
                    <a:pt x="4400197" y="4168756"/>
                    <a:pt x="4388483" y="4174421"/>
                  </a:cubicBezTo>
                  <a:cubicBezTo>
                    <a:pt x="4368513" y="4184023"/>
                    <a:pt x="4346717" y="4189784"/>
                    <a:pt x="4327321" y="4200153"/>
                  </a:cubicBezTo>
                  <a:cubicBezTo>
                    <a:pt x="4307639" y="4210714"/>
                    <a:pt x="4289107" y="4223965"/>
                    <a:pt x="4271633" y="4237983"/>
                  </a:cubicBezTo>
                  <a:cubicBezTo>
                    <a:pt x="4257807" y="4249025"/>
                    <a:pt x="4244845" y="4259971"/>
                    <a:pt x="4227465" y="4265635"/>
                  </a:cubicBezTo>
                  <a:cubicBezTo>
                    <a:pt x="4217768" y="4268804"/>
                    <a:pt x="4207591" y="4275717"/>
                    <a:pt x="4201733" y="4283783"/>
                  </a:cubicBezTo>
                  <a:cubicBezTo>
                    <a:pt x="4189059" y="4301353"/>
                    <a:pt x="4172833" y="4313739"/>
                    <a:pt x="4154494" y="4324301"/>
                  </a:cubicBezTo>
                  <a:cubicBezTo>
                    <a:pt x="4130010" y="4338511"/>
                    <a:pt x="4105814" y="4353009"/>
                    <a:pt x="4081234" y="4366931"/>
                  </a:cubicBezTo>
                  <a:cubicBezTo>
                    <a:pt x="4066737" y="4375189"/>
                    <a:pt x="4052335" y="4383926"/>
                    <a:pt x="4036971" y="4389975"/>
                  </a:cubicBezTo>
                  <a:cubicBezTo>
                    <a:pt x="4005575" y="4402457"/>
                    <a:pt x="3973410" y="4413114"/>
                    <a:pt x="3941725" y="4424733"/>
                  </a:cubicBezTo>
                  <a:cubicBezTo>
                    <a:pt x="3931355" y="4428477"/>
                    <a:pt x="3921561" y="4433854"/>
                    <a:pt x="3910999" y="4437119"/>
                  </a:cubicBezTo>
                  <a:cubicBezTo>
                    <a:pt x="3899573" y="4440671"/>
                    <a:pt x="3887285" y="4441727"/>
                    <a:pt x="3875859" y="4445280"/>
                  </a:cubicBezTo>
                  <a:cubicBezTo>
                    <a:pt x="3856847" y="4451136"/>
                    <a:pt x="3838412" y="4458626"/>
                    <a:pt x="3819401" y="4464579"/>
                  </a:cubicBezTo>
                  <a:cubicBezTo>
                    <a:pt x="3782723" y="4476005"/>
                    <a:pt x="3745949" y="4486951"/>
                    <a:pt x="3709176" y="4497800"/>
                  </a:cubicBezTo>
                  <a:cubicBezTo>
                    <a:pt x="3701303" y="4500105"/>
                    <a:pt x="3692757" y="4500393"/>
                    <a:pt x="3684981" y="4502889"/>
                  </a:cubicBezTo>
                  <a:cubicBezTo>
                    <a:pt x="3664337" y="4509610"/>
                    <a:pt x="3643789" y="4516907"/>
                    <a:pt x="3623338" y="4524300"/>
                  </a:cubicBezTo>
                  <a:cubicBezTo>
                    <a:pt x="3610953" y="4528813"/>
                    <a:pt x="3598854" y="4534382"/>
                    <a:pt x="3586373" y="4538702"/>
                  </a:cubicBezTo>
                  <a:cubicBezTo>
                    <a:pt x="3576387" y="4542159"/>
                    <a:pt x="3566113" y="4544847"/>
                    <a:pt x="3555743" y="4546960"/>
                  </a:cubicBezTo>
                  <a:cubicBezTo>
                    <a:pt x="3546814" y="4548785"/>
                    <a:pt x="3537501" y="4548592"/>
                    <a:pt x="3528667" y="4550801"/>
                  </a:cubicBezTo>
                  <a:cubicBezTo>
                    <a:pt x="3504759" y="4556753"/>
                    <a:pt x="3481140" y="4563475"/>
                    <a:pt x="3457424" y="4569811"/>
                  </a:cubicBezTo>
                  <a:cubicBezTo>
                    <a:pt x="3447919" y="4572308"/>
                    <a:pt x="3438221" y="4574133"/>
                    <a:pt x="3429003" y="4577301"/>
                  </a:cubicBezTo>
                  <a:cubicBezTo>
                    <a:pt x="3404327" y="4585654"/>
                    <a:pt x="3380036" y="4595159"/>
                    <a:pt x="3355264" y="4603033"/>
                  </a:cubicBezTo>
                  <a:cubicBezTo>
                    <a:pt x="3334717" y="4609562"/>
                    <a:pt x="3313593" y="4614266"/>
                    <a:pt x="3292757" y="4620027"/>
                  </a:cubicBezTo>
                  <a:cubicBezTo>
                    <a:pt x="3283924" y="4622524"/>
                    <a:pt x="3275475" y="4626077"/>
                    <a:pt x="3266643" y="4628188"/>
                  </a:cubicBezTo>
                  <a:cubicBezTo>
                    <a:pt x="3246863" y="4632990"/>
                    <a:pt x="3226796" y="4637022"/>
                    <a:pt x="3206921" y="4641823"/>
                  </a:cubicBezTo>
                  <a:cubicBezTo>
                    <a:pt x="3195590" y="4644607"/>
                    <a:pt x="3184645" y="4649600"/>
                    <a:pt x="3173123" y="4651425"/>
                  </a:cubicBezTo>
                  <a:cubicBezTo>
                    <a:pt x="3145759" y="4655745"/>
                    <a:pt x="3118203" y="4658817"/>
                    <a:pt x="3090646" y="4662274"/>
                  </a:cubicBezTo>
                  <a:cubicBezTo>
                    <a:pt x="3062227" y="4665826"/>
                    <a:pt x="3033902" y="4669571"/>
                    <a:pt x="3005480" y="4672739"/>
                  </a:cubicBezTo>
                  <a:cubicBezTo>
                    <a:pt x="2989926" y="4674372"/>
                    <a:pt x="2974275" y="4674660"/>
                    <a:pt x="2958721" y="4676196"/>
                  </a:cubicBezTo>
                  <a:cubicBezTo>
                    <a:pt x="2945087" y="4677541"/>
                    <a:pt x="2931549" y="4680037"/>
                    <a:pt x="2917915" y="4681670"/>
                  </a:cubicBezTo>
                  <a:cubicBezTo>
                    <a:pt x="2906105" y="4683013"/>
                    <a:pt x="2894199" y="4683781"/>
                    <a:pt x="2882389" y="4685126"/>
                  </a:cubicBezTo>
                  <a:cubicBezTo>
                    <a:pt x="2863475" y="4687334"/>
                    <a:pt x="2844655" y="4689831"/>
                    <a:pt x="2825837" y="4692135"/>
                  </a:cubicBezTo>
                  <a:cubicBezTo>
                    <a:pt x="2817964" y="4692999"/>
                    <a:pt x="2809706" y="4695399"/>
                    <a:pt x="2802313" y="4693960"/>
                  </a:cubicBezTo>
                  <a:cubicBezTo>
                    <a:pt x="2783686" y="4690310"/>
                    <a:pt x="2765347" y="4691367"/>
                    <a:pt x="2746816" y="4693863"/>
                  </a:cubicBezTo>
                  <a:cubicBezTo>
                    <a:pt x="2740479" y="4694728"/>
                    <a:pt x="2733662" y="4694535"/>
                    <a:pt x="2727517" y="4692903"/>
                  </a:cubicBezTo>
                  <a:cubicBezTo>
                    <a:pt x="2714939" y="4689638"/>
                    <a:pt x="2702745" y="4685029"/>
                    <a:pt x="2690359" y="4680997"/>
                  </a:cubicBezTo>
                  <a:cubicBezTo>
                    <a:pt x="2689014" y="4680517"/>
                    <a:pt x="2687382" y="4680421"/>
                    <a:pt x="2685943" y="4680133"/>
                  </a:cubicBezTo>
                  <a:cubicBezTo>
                    <a:pt x="2677781" y="4678500"/>
                    <a:pt x="2669717" y="4676868"/>
                    <a:pt x="2661554" y="4675428"/>
                  </a:cubicBezTo>
                  <a:cubicBezTo>
                    <a:pt x="2657138" y="4674660"/>
                    <a:pt x="2652625" y="4674564"/>
                    <a:pt x="2648208" y="4673892"/>
                  </a:cubicBezTo>
                  <a:cubicBezTo>
                    <a:pt x="2631118" y="4671203"/>
                    <a:pt x="2612299" y="4675716"/>
                    <a:pt x="2597512" y="4664099"/>
                  </a:cubicBezTo>
                  <a:cubicBezTo>
                    <a:pt x="2587911" y="4656609"/>
                    <a:pt x="2578597" y="4658338"/>
                    <a:pt x="2568324" y="4659490"/>
                  </a:cubicBezTo>
                  <a:cubicBezTo>
                    <a:pt x="2560547" y="4660354"/>
                    <a:pt x="2552577" y="4660065"/>
                    <a:pt x="2544704" y="4660162"/>
                  </a:cubicBezTo>
                  <a:cubicBezTo>
                    <a:pt x="2530878" y="4660449"/>
                    <a:pt x="2517052" y="4660546"/>
                    <a:pt x="2503225" y="4661026"/>
                  </a:cubicBezTo>
                  <a:cubicBezTo>
                    <a:pt x="2498808" y="4661218"/>
                    <a:pt x="2494297" y="4663619"/>
                    <a:pt x="2489975" y="4663235"/>
                  </a:cubicBezTo>
                  <a:cubicBezTo>
                    <a:pt x="2470004" y="4661410"/>
                    <a:pt x="2450033" y="4658529"/>
                    <a:pt x="2430061" y="4656897"/>
                  </a:cubicBezTo>
                  <a:cubicBezTo>
                    <a:pt x="2418732" y="4655938"/>
                    <a:pt x="2407114" y="4657761"/>
                    <a:pt x="2395880" y="4656417"/>
                  </a:cubicBezTo>
                  <a:cubicBezTo>
                    <a:pt x="2382919" y="4654881"/>
                    <a:pt x="2370245" y="4650945"/>
                    <a:pt x="2357378" y="4648544"/>
                  </a:cubicBezTo>
                  <a:cubicBezTo>
                    <a:pt x="2353826" y="4647872"/>
                    <a:pt x="2349889" y="4648736"/>
                    <a:pt x="2346145" y="4648928"/>
                  </a:cubicBezTo>
                  <a:cubicBezTo>
                    <a:pt x="2341920" y="4649120"/>
                    <a:pt x="2337791" y="4649504"/>
                    <a:pt x="2333567" y="4649600"/>
                  </a:cubicBezTo>
                  <a:cubicBezTo>
                    <a:pt x="2320700" y="4649793"/>
                    <a:pt x="2307835" y="4649504"/>
                    <a:pt x="2294968" y="4650177"/>
                  </a:cubicBezTo>
                  <a:cubicBezTo>
                    <a:pt x="2287095" y="4650561"/>
                    <a:pt x="2278839" y="4654497"/>
                    <a:pt x="2271540" y="4653057"/>
                  </a:cubicBezTo>
                  <a:cubicBezTo>
                    <a:pt x="2256659" y="4650272"/>
                    <a:pt x="2241776" y="4656513"/>
                    <a:pt x="2226895" y="4651329"/>
                  </a:cubicBezTo>
                  <a:cubicBezTo>
                    <a:pt x="2222285" y="4649793"/>
                    <a:pt x="2215948" y="4653633"/>
                    <a:pt x="2210379" y="4653825"/>
                  </a:cubicBezTo>
                  <a:cubicBezTo>
                    <a:pt x="2196457" y="4654305"/>
                    <a:pt x="2182535" y="4654209"/>
                    <a:pt x="2168613" y="4654113"/>
                  </a:cubicBezTo>
                  <a:cubicBezTo>
                    <a:pt x="2156131" y="4654017"/>
                    <a:pt x="2143168" y="4655361"/>
                    <a:pt x="2131167" y="4652673"/>
                  </a:cubicBezTo>
                  <a:cubicBezTo>
                    <a:pt x="2118588" y="4649793"/>
                    <a:pt x="2107259" y="4650177"/>
                    <a:pt x="2095065" y="4653441"/>
                  </a:cubicBezTo>
                  <a:cubicBezTo>
                    <a:pt x="2086711" y="4655649"/>
                    <a:pt x="2077878" y="4655938"/>
                    <a:pt x="2069237" y="4656609"/>
                  </a:cubicBezTo>
                  <a:cubicBezTo>
                    <a:pt x="2059924" y="4657377"/>
                    <a:pt x="2049650" y="4655361"/>
                    <a:pt x="2041201" y="4658529"/>
                  </a:cubicBezTo>
                  <a:cubicBezTo>
                    <a:pt x="2016044" y="4667939"/>
                    <a:pt x="1990216" y="4669955"/>
                    <a:pt x="1963909" y="4669955"/>
                  </a:cubicBezTo>
                  <a:cubicBezTo>
                    <a:pt x="1959107" y="4669955"/>
                    <a:pt x="1954210" y="4668612"/>
                    <a:pt x="1949603" y="4667171"/>
                  </a:cubicBezTo>
                  <a:cubicBezTo>
                    <a:pt x="1922717" y="4658529"/>
                    <a:pt x="1895737" y="4659297"/>
                    <a:pt x="1868373" y="4664578"/>
                  </a:cubicBezTo>
                  <a:cubicBezTo>
                    <a:pt x="1862708" y="4665731"/>
                    <a:pt x="1856372" y="4665923"/>
                    <a:pt x="1850707" y="4664771"/>
                  </a:cubicBezTo>
                  <a:cubicBezTo>
                    <a:pt x="1834768" y="4661410"/>
                    <a:pt x="1819309" y="4655841"/>
                    <a:pt x="1803275" y="4653441"/>
                  </a:cubicBezTo>
                  <a:cubicBezTo>
                    <a:pt x="1776775" y="4649504"/>
                    <a:pt x="1753828" y="4662754"/>
                    <a:pt x="1730112" y="4671396"/>
                  </a:cubicBezTo>
                  <a:cubicBezTo>
                    <a:pt x="1707548" y="4679557"/>
                    <a:pt x="1688345" y="4697992"/>
                    <a:pt x="1661652" y="4693863"/>
                  </a:cubicBezTo>
                  <a:cubicBezTo>
                    <a:pt x="1658965" y="4693479"/>
                    <a:pt x="1655988" y="4696071"/>
                    <a:pt x="1653011" y="4696744"/>
                  </a:cubicBezTo>
                  <a:cubicBezTo>
                    <a:pt x="1644850" y="4698568"/>
                    <a:pt x="1636689" y="4700776"/>
                    <a:pt x="1628431" y="4701641"/>
                  </a:cubicBezTo>
                  <a:cubicBezTo>
                    <a:pt x="1618350" y="4702793"/>
                    <a:pt x="1608076" y="4702409"/>
                    <a:pt x="1597995" y="4703369"/>
                  </a:cubicBezTo>
                  <a:cubicBezTo>
                    <a:pt x="1585032" y="4704521"/>
                    <a:pt x="1572263" y="4707593"/>
                    <a:pt x="1559396" y="4707593"/>
                  </a:cubicBezTo>
                  <a:cubicBezTo>
                    <a:pt x="1549026" y="4707593"/>
                    <a:pt x="1538753" y="4704041"/>
                    <a:pt x="1528480" y="4702312"/>
                  </a:cubicBezTo>
                  <a:cubicBezTo>
                    <a:pt x="1513981" y="4699912"/>
                    <a:pt x="1498042" y="4700584"/>
                    <a:pt x="1485272" y="4694439"/>
                  </a:cubicBezTo>
                  <a:cubicBezTo>
                    <a:pt x="1471639" y="4687910"/>
                    <a:pt x="1458676" y="4684934"/>
                    <a:pt x="1444562" y="4686950"/>
                  </a:cubicBezTo>
                  <a:cubicBezTo>
                    <a:pt x="1439857" y="4687622"/>
                    <a:pt x="1433808" y="4691655"/>
                    <a:pt x="1431696" y="4695783"/>
                  </a:cubicBezTo>
                  <a:cubicBezTo>
                    <a:pt x="1426991" y="4705001"/>
                    <a:pt x="1420559" y="4706634"/>
                    <a:pt x="1411821" y="4703464"/>
                  </a:cubicBezTo>
                  <a:cubicBezTo>
                    <a:pt x="1404236" y="4700776"/>
                    <a:pt x="1394922" y="4699432"/>
                    <a:pt x="1389738" y="4694247"/>
                  </a:cubicBezTo>
                  <a:cubicBezTo>
                    <a:pt x="1375047" y="4679557"/>
                    <a:pt x="1356324" y="4679077"/>
                    <a:pt x="1338081" y="4675141"/>
                  </a:cubicBezTo>
                  <a:cubicBezTo>
                    <a:pt x="1326945" y="4672739"/>
                    <a:pt x="1316574" y="4672644"/>
                    <a:pt x="1305436" y="4674276"/>
                  </a:cubicBezTo>
                  <a:cubicBezTo>
                    <a:pt x="1281241" y="4677925"/>
                    <a:pt x="1257717" y="4672739"/>
                    <a:pt x="1234481" y="4666115"/>
                  </a:cubicBezTo>
                  <a:cubicBezTo>
                    <a:pt x="1219118" y="4661698"/>
                    <a:pt x="1203372" y="4659010"/>
                    <a:pt x="1188106" y="4654497"/>
                  </a:cubicBezTo>
                  <a:cubicBezTo>
                    <a:pt x="1176680" y="4651041"/>
                    <a:pt x="1165255" y="4646912"/>
                    <a:pt x="1154790" y="4641343"/>
                  </a:cubicBezTo>
                  <a:cubicBezTo>
                    <a:pt x="1139618" y="4633181"/>
                    <a:pt x="1126369" y="4620891"/>
                    <a:pt x="1107069" y="4624156"/>
                  </a:cubicBezTo>
                  <a:cubicBezTo>
                    <a:pt x="1090074" y="4627036"/>
                    <a:pt x="1074713" y="4620988"/>
                    <a:pt x="1059158" y="4615227"/>
                  </a:cubicBezTo>
                  <a:cubicBezTo>
                    <a:pt x="1047732" y="4611002"/>
                    <a:pt x="1036308" y="4606681"/>
                    <a:pt x="1024496" y="4603993"/>
                  </a:cubicBezTo>
                  <a:cubicBezTo>
                    <a:pt x="1010478" y="4600824"/>
                    <a:pt x="994635" y="4602169"/>
                    <a:pt x="982153" y="4596311"/>
                  </a:cubicBezTo>
                  <a:cubicBezTo>
                    <a:pt x="969095" y="4590166"/>
                    <a:pt x="958246" y="4594295"/>
                    <a:pt x="946628" y="4596024"/>
                  </a:cubicBezTo>
                  <a:cubicBezTo>
                    <a:pt x="928097" y="4598712"/>
                    <a:pt x="909661" y="4603705"/>
                    <a:pt x="890939" y="4597368"/>
                  </a:cubicBezTo>
                  <a:cubicBezTo>
                    <a:pt x="868184" y="4589687"/>
                    <a:pt x="845620" y="4581430"/>
                    <a:pt x="822769" y="4574133"/>
                  </a:cubicBezTo>
                  <a:cubicBezTo>
                    <a:pt x="813934" y="4571347"/>
                    <a:pt x="804431" y="4570195"/>
                    <a:pt x="795212" y="4568947"/>
                  </a:cubicBezTo>
                  <a:cubicBezTo>
                    <a:pt x="786476" y="4567891"/>
                    <a:pt x="776010" y="4570579"/>
                    <a:pt x="769288" y="4566547"/>
                  </a:cubicBezTo>
                  <a:cubicBezTo>
                    <a:pt x="752005" y="4556178"/>
                    <a:pt x="734243" y="4551089"/>
                    <a:pt x="714271" y="4551089"/>
                  </a:cubicBezTo>
                  <a:cubicBezTo>
                    <a:pt x="706781" y="4551089"/>
                    <a:pt x="699484" y="4546768"/>
                    <a:pt x="691900" y="4545999"/>
                  </a:cubicBezTo>
                  <a:cubicBezTo>
                    <a:pt x="681529" y="4545040"/>
                    <a:pt x="669623" y="4542447"/>
                    <a:pt x="660598" y="4546096"/>
                  </a:cubicBezTo>
                  <a:cubicBezTo>
                    <a:pt x="639379" y="4554737"/>
                    <a:pt x="622193" y="4547536"/>
                    <a:pt x="603662" y="4538991"/>
                  </a:cubicBezTo>
                  <a:cubicBezTo>
                    <a:pt x="585418" y="4530541"/>
                    <a:pt x="566215" y="4523821"/>
                    <a:pt x="546821" y="4518251"/>
                  </a:cubicBezTo>
                  <a:cubicBezTo>
                    <a:pt x="539524" y="4516235"/>
                    <a:pt x="530787" y="4519596"/>
                    <a:pt x="522721" y="4520267"/>
                  </a:cubicBezTo>
                  <a:cubicBezTo>
                    <a:pt x="519840" y="4520460"/>
                    <a:pt x="516671" y="4520748"/>
                    <a:pt x="514080" y="4519788"/>
                  </a:cubicBezTo>
                  <a:cubicBezTo>
                    <a:pt x="489020" y="4510570"/>
                    <a:pt x="463575" y="4503561"/>
                    <a:pt x="436404" y="4508361"/>
                  </a:cubicBezTo>
                  <a:cubicBezTo>
                    <a:pt x="433908" y="4508842"/>
                    <a:pt x="431123" y="4507786"/>
                    <a:pt x="428626" y="4507114"/>
                  </a:cubicBezTo>
                  <a:cubicBezTo>
                    <a:pt x="416432" y="4503657"/>
                    <a:pt x="404526" y="4498184"/>
                    <a:pt x="392141" y="4496936"/>
                  </a:cubicBezTo>
                  <a:cubicBezTo>
                    <a:pt x="361608" y="4493864"/>
                    <a:pt x="330884" y="4492615"/>
                    <a:pt x="300157" y="4490599"/>
                  </a:cubicBezTo>
                  <a:cubicBezTo>
                    <a:pt x="298237" y="4490503"/>
                    <a:pt x="296221" y="4490503"/>
                    <a:pt x="294493" y="4489831"/>
                  </a:cubicBezTo>
                  <a:cubicBezTo>
                    <a:pt x="283163" y="4485702"/>
                    <a:pt x="273274" y="4487047"/>
                    <a:pt x="263671" y="4494919"/>
                  </a:cubicBezTo>
                  <a:cubicBezTo>
                    <a:pt x="259447" y="4498376"/>
                    <a:pt x="253686" y="4500200"/>
                    <a:pt x="248406" y="4502121"/>
                  </a:cubicBezTo>
                  <a:cubicBezTo>
                    <a:pt x="240628" y="4505002"/>
                    <a:pt x="232659" y="4507786"/>
                    <a:pt x="224594" y="4509610"/>
                  </a:cubicBezTo>
                  <a:cubicBezTo>
                    <a:pt x="216624" y="4511338"/>
                    <a:pt x="208079" y="4513738"/>
                    <a:pt x="200398" y="4512395"/>
                  </a:cubicBezTo>
                  <a:cubicBezTo>
                    <a:pt x="186572" y="4509994"/>
                    <a:pt x="173417" y="4504618"/>
                    <a:pt x="159783" y="4501064"/>
                  </a:cubicBezTo>
                  <a:cubicBezTo>
                    <a:pt x="155079" y="4499816"/>
                    <a:pt x="149893" y="4500009"/>
                    <a:pt x="144997" y="4499912"/>
                  </a:cubicBezTo>
                  <a:cubicBezTo>
                    <a:pt x="133763" y="4499625"/>
                    <a:pt x="122241" y="4502409"/>
                    <a:pt x="112064" y="4494440"/>
                  </a:cubicBezTo>
                  <a:cubicBezTo>
                    <a:pt x="102655" y="4486951"/>
                    <a:pt x="93148" y="4489158"/>
                    <a:pt x="83259" y="4494824"/>
                  </a:cubicBezTo>
                  <a:cubicBezTo>
                    <a:pt x="76154" y="4498857"/>
                    <a:pt x="68090" y="4502025"/>
                    <a:pt x="60120" y="4503561"/>
                  </a:cubicBezTo>
                  <a:cubicBezTo>
                    <a:pt x="49174" y="4505673"/>
                    <a:pt x="38324" y="4506538"/>
                    <a:pt x="26514" y="4505289"/>
                  </a:cubicBezTo>
                  <a:cubicBezTo>
                    <a:pt x="18161" y="4504425"/>
                    <a:pt x="11343" y="4504041"/>
                    <a:pt x="4814" y="4498952"/>
                  </a:cubicBezTo>
                  <a:cubicBezTo>
                    <a:pt x="3759" y="4498184"/>
                    <a:pt x="1839" y="4497992"/>
                    <a:pt x="398" y="4498089"/>
                  </a:cubicBezTo>
                  <a:lnTo>
                    <a:pt x="0" y="4498087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>
                    <a:alpha val="14000"/>
                  </a:schemeClr>
                </a:solidFill>
              </a:endParaRPr>
            </a:p>
          </p:txBody>
        </p:sp>
        <p:sp>
          <p:nvSpPr>
            <p:cNvPr id="6" name="Freeform: Shape 11">
              <a:extLst>
                <a:ext uri="{FF2B5EF4-FFF2-40B4-BE49-F238E27FC236}">
                  <a16:creationId xmlns:a16="http://schemas.microsoft.com/office/drawing/2014/main" id="{EE5154B2-BEF9-4C08-B6B1-9DED9F17C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27089" y="1498602"/>
              <a:ext cx="4403345" cy="3940174"/>
            </a:xfrm>
            <a:custGeom>
              <a:avLst/>
              <a:gdLst>
                <a:gd name="connsiteX0" fmla="*/ 0 w 5260975"/>
                <a:gd name="connsiteY0" fmla="*/ 0 h 4707593"/>
                <a:gd name="connsiteX1" fmla="*/ 5260975 w 5260975"/>
                <a:gd name="connsiteY1" fmla="*/ 0 h 4707593"/>
                <a:gd name="connsiteX2" fmla="*/ 5260975 w 5260975"/>
                <a:gd name="connsiteY2" fmla="*/ 3296937 h 4707593"/>
                <a:gd name="connsiteX3" fmla="*/ 5260975 w 5260975"/>
                <a:gd name="connsiteY3" fmla="*/ 3518571 h 4707593"/>
                <a:gd name="connsiteX4" fmla="*/ 5226504 w 5260975"/>
                <a:gd name="connsiteY4" fmla="*/ 3534000 h 4707593"/>
                <a:gd name="connsiteX5" fmla="*/ 5206341 w 5260975"/>
                <a:gd name="connsiteY5" fmla="*/ 3542065 h 4707593"/>
                <a:gd name="connsiteX6" fmla="*/ 5123287 w 5260975"/>
                <a:gd name="connsiteY6" fmla="*/ 3594010 h 4707593"/>
                <a:gd name="connsiteX7" fmla="*/ 5048107 w 5260975"/>
                <a:gd name="connsiteY7" fmla="*/ 3658244 h 4707593"/>
                <a:gd name="connsiteX8" fmla="*/ 4992899 w 5260975"/>
                <a:gd name="connsiteY8" fmla="*/ 3734479 h 4707593"/>
                <a:gd name="connsiteX9" fmla="*/ 4977440 w 5260975"/>
                <a:gd name="connsiteY9" fmla="*/ 3752627 h 4707593"/>
                <a:gd name="connsiteX10" fmla="*/ 4935194 w 5260975"/>
                <a:gd name="connsiteY10" fmla="*/ 3775382 h 4707593"/>
                <a:gd name="connsiteX11" fmla="*/ 4897844 w 5260975"/>
                <a:gd name="connsiteY11" fmla="*/ 3792472 h 4707593"/>
                <a:gd name="connsiteX12" fmla="*/ 4870767 w 5260975"/>
                <a:gd name="connsiteY12" fmla="*/ 3811388 h 4707593"/>
                <a:gd name="connsiteX13" fmla="*/ 4847917 w 5260975"/>
                <a:gd name="connsiteY13" fmla="*/ 3828767 h 4707593"/>
                <a:gd name="connsiteX14" fmla="*/ 4796163 w 5260975"/>
                <a:gd name="connsiteY14" fmla="*/ 3873702 h 4707593"/>
                <a:gd name="connsiteX15" fmla="*/ 4738843 w 5260975"/>
                <a:gd name="connsiteY15" fmla="*/ 3911628 h 4707593"/>
                <a:gd name="connsiteX16" fmla="*/ 4692755 w 5260975"/>
                <a:gd name="connsiteY16" fmla="*/ 3958099 h 4707593"/>
                <a:gd name="connsiteX17" fmla="*/ 4673744 w 5260975"/>
                <a:gd name="connsiteY17" fmla="*/ 3983255 h 4707593"/>
                <a:gd name="connsiteX18" fmla="*/ 4633801 w 5260975"/>
                <a:gd name="connsiteY18" fmla="*/ 4000442 h 4707593"/>
                <a:gd name="connsiteX19" fmla="*/ 4590499 w 5260975"/>
                <a:gd name="connsiteY19" fmla="*/ 4027326 h 4707593"/>
                <a:gd name="connsiteX20" fmla="*/ 4559773 w 5260975"/>
                <a:gd name="connsiteY20" fmla="*/ 4054018 h 4707593"/>
                <a:gd name="connsiteX21" fmla="*/ 4536059 w 5260975"/>
                <a:gd name="connsiteY21" fmla="*/ 4071877 h 4707593"/>
                <a:gd name="connsiteX22" fmla="*/ 4502550 w 5260975"/>
                <a:gd name="connsiteY22" fmla="*/ 4089832 h 4707593"/>
                <a:gd name="connsiteX23" fmla="*/ 4468944 w 5260975"/>
                <a:gd name="connsiteY23" fmla="*/ 4113356 h 4707593"/>
                <a:gd name="connsiteX24" fmla="*/ 4452623 w 5260975"/>
                <a:gd name="connsiteY24" fmla="*/ 4127854 h 4707593"/>
                <a:gd name="connsiteX25" fmla="*/ 4421032 w 5260975"/>
                <a:gd name="connsiteY25" fmla="*/ 4151953 h 4707593"/>
                <a:gd name="connsiteX26" fmla="*/ 4388483 w 5260975"/>
                <a:gd name="connsiteY26" fmla="*/ 4174421 h 4707593"/>
                <a:gd name="connsiteX27" fmla="*/ 4327321 w 5260975"/>
                <a:gd name="connsiteY27" fmla="*/ 4200153 h 4707593"/>
                <a:gd name="connsiteX28" fmla="*/ 4271633 w 5260975"/>
                <a:gd name="connsiteY28" fmla="*/ 4237983 h 4707593"/>
                <a:gd name="connsiteX29" fmla="*/ 4227465 w 5260975"/>
                <a:gd name="connsiteY29" fmla="*/ 4265635 h 4707593"/>
                <a:gd name="connsiteX30" fmla="*/ 4201733 w 5260975"/>
                <a:gd name="connsiteY30" fmla="*/ 4283783 h 4707593"/>
                <a:gd name="connsiteX31" fmla="*/ 4154494 w 5260975"/>
                <a:gd name="connsiteY31" fmla="*/ 4324301 h 4707593"/>
                <a:gd name="connsiteX32" fmla="*/ 4081234 w 5260975"/>
                <a:gd name="connsiteY32" fmla="*/ 4366931 h 4707593"/>
                <a:gd name="connsiteX33" fmla="*/ 4036971 w 5260975"/>
                <a:gd name="connsiteY33" fmla="*/ 4389975 h 4707593"/>
                <a:gd name="connsiteX34" fmla="*/ 3941725 w 5260975"/>
                <a:gd name="connsiteY34" fmla="*/ 4424733 h 4707593"/>
                <a:gd name="connsiteX35" fmla="*/ 3910999 w 5260975"/>
                <a:gd name="connsiteY35" fmla="*/ 4437119 h 4707593"/>
                <a:gd name="connsiteX36" fmla="*/ 3875859 w 5260975"/>
                <a:gd name="connsiteY36" fmla="*/ 4445280 h 4707593"/>
                <a:gd name="connsiteX37" fmla="*/ 3819401 w 5260975"/>
                <a:gd name="connsiteY37" fmla="*/ 4464579 h 4707593"/>
                <a:gd name="connsiteX38" fmla="*/ 3709176 w 5260975"/>
                <a:gd name="connsiteY38" fmla="*/ 4497800 h 4707593"/>
                <a:gd name="connsiteX39" fmla="*/ 3684981 w 5260975"/>
                <a:gd name="connsiteY39" fmla="*/ 4502889 h 4707593"/>
                <a:gd name="connsiteX40" fmla="*/ 3623338 w 5260975"/>
                <a:gd name="connsiteY40" fmla="*/ 4524300 h 4707593"/>
                <a:gd name="connsiteX41" fmla="*/ 3586373 w 5260975"/>
                <a:gd name="connsiteY41" fmla="*/ 4538702 h 4707593"/>
                <a:gd name="connsiteX42" fmla="*/ 3555743 w 5260975"/>
                <a:gd name="connsiteY42" fmla="*/ 4546960 h 4707593"/>
                <a:gd name="connsiteX43" fmla="*/ 3528667 w 5260975"/>
                <a:gd name="connsiteY43" fmla="*/ 4550801 h 4707593"/>
                <a:gd name="connsiteX44" fmla="*/ 3457424 w 5260975"/>
                <a:gd name="connsiteY44" fmla="*/ 4569811 h 4707593"/>
                <a:gd name="connsiteX45" fmla="*/ 3429003 w 5260975"/>
                <a:gd name="connsiteY45" fmla="*/ 4577301 h 4707593"/>
                <a:gd name="connsiteX46" fmla="*/ 3355264 w 5260975"/>
                <a:gd name="connsiteY46" fmla="*/ 4603033 h 4707593"/>
                <a:gd name="connsiteX47" fmla="*/ 3292757 w 5260975"/>
                <a:gd name="connsiteY47" fmla="*/ 4620027 h 4707593"/>
                <a:gd name="connsiteX48" fmla="*/ 3266643 w 5260975"/>
                <a:gd name="connsiteY48" fmla="*/ 4628188 h 4707593"/>
                <a:gd name="connsiteX49" fmla="*/ 3206921 w 5260975"/>
                <a:gd name="connsiteY49" fmla="*/ 4641823 h 4707593"/>
                <a:gd name="connsiteX50" fmla="*/ 3173123 w 5260975"/>
                <a:gd name="connsiteY50" fmla="*/ 4651425 h 4707593"/>
                <a:gd name="connsiteX51" fmla="*/ 3090646 w 5260975"/>
                <a:gd name="connsiteY51" fmla="*/ 4662274 h 4707593"/>
                <a:gd name="connsiteX52" fmla="*/ 3005480 w 5260975"/>
                <a:gd name="connsiteY52" fmla="*/ 4672739 h 4707593"/>
                <a:gd name="connsiteX53" fmla="*/ 2958721 w 5260975"/>
                <a:gd name="connsiteY53" fmla="*/ 4676196 h 4707593"/>
                <a:gd name="connsiteX54" fmla="*/ 2917915 w 5260975"/>
                <a:gd name="connsiteY54" fmla="*/ 4681670 h 4707593"/>
                <a:gd name="connsiteX55" fmla="*/ 2882389 w 5260975"/>
                <a:gd name="connsiteY55" fmla="*/ 4685126 h 4707593"/>
                <a:gd name="connsiteX56" fmla="*/ 2825837 w 5260975"/>
                <a:gd name="connsiteY56" fmla="*/ 4692135 h 4707593"/>
                <a:gd name="connsiteX57" fmla="*/ 2802313 w 5260975"/>
                <a:gd name="connsiteY57" fmla="*/ 4693960 h 4707593"/>
                <a:gd name="connsiteX58" fmla="*/ 2746816 w 5260975"/>
                <a:gd name="connsiteY58" fmla="*/ 4693863 h 4707593"/>
                <a:gd name="connsiteX59" fmla="*/ 2727517 w 5260975"/>
                <a:gd name="connsiteY59" fmla="*/ 4692903 h 4707593"/>
                <a:gd name="connsiteX60" fmla="*/ 2690359 w 5260975"/>
                <a:gd name="connsiteY60" fmla="*/ 4680997 h 4707593"/>
                <a:gd name="connsiteX61" fmla="*/ 2685943 w 5260975"/>
                <a:gd name="connsiteY61" fmla="*/ 4680133 h 4707593"/>
                <a:gd name="connsiteX62" fmla="*/ 2661554 w 5260975"/>
                <a:gd name="connsiteY62" fmla="*/ 4675428 h 4707593"/>
                <a:gd name="connsiteX63" fmla="*/ 2648208 w 5260975"/>
                <a:gd name="connsiteY63" fmla="*/ 4673892 h 4707593"/>
                <a:gd name="connsiteX64" fmla="*/ 2597512 w 5260975"/>
                <a:gd name="connsiteY64" fmla="*/ 4664099 h 4707593"/>
                <a:gd name="connsiteX65" fmla="*/ 2568324 w 5260975"/>
                <a:gd name="connsiteY65" fmla="*/ 4659490 h 4707593"/>
                <a:gd name="connsiteX66" fmla="*/ 2544704 w 5260975"/>
                <a:gd name="connsiteY66" fmla="*/ 4660162 h 4707593"/>
                <a:gd name="connsiteX67" fmla="*/ 2503225 w 5260975"/>
                <a:gd name="connsiteY67" fmla="*/ 4661026 h 4707593"/>
                <a:gd name="connsiteX68" fmla="*/ 2489975 w 5260975"/>
                <a:gd name="connsiteY68" fmla="*/ 4663235 h 4707593"/>
                <a:gd name="connsiteX69" fmla="*/ 2430061 w 5260975"/>
                <a:gd name="connsiteY69" fmla="*/ 4656897 h 4707593"/>
                <a:gd name="connsiteX70" fmla="*/ 2395880 w 5260975"/>
                <a:gd name="connsiteY70" fmla="*/ 4656417 h 4707593"/>
                <a:gd name="connsiteX71" fmla="*/ 2357378 w 5260975"/>
                <a:gd name="connsiteY71" fmla="*/ 4648544 h 4707593"/>
                <a:gd name="connsiteX72" fmla="*/ 2346145 w 5260975"/>
                <a:gd name="connsiteY72" fmla="*/ 4648928 h 4707593"/>
                <a:gd name="connsiteX73" fmla="*/ 2333567 w 5260975"/>
                <a:gd name="connsiteY73" fmla="*/ 4649600 h 4707593"/>
                <a:gd name="connsiteX74" fmla="*/ 2294968 w 5260975"/>
                <a:gd name="connsiteY74" fmla="*/ 4650177 h 4707593"/>
                <a:gd name="connsiteX75" fmla="*/ 2271540 w 5260975"/>
                <a:gd name="connsiteY75" fmla="*/ 4653057 h 4707593"/>
                <a:gd name="connsiteX76" fmla="*/ 2226895 w 5260975"/>
                <a:gd name="connsiteY76" fmla="*/ 4651329 h 4707593"/>
                <a:gd name="connsiteX77" fmla="*/ 2210379 w 5260975"/>
                <a:gd name="connsiteY77" fmla="*/ 4653825 h 4707593"/>
                <a:gd name="connsiteX78" fmla="*/ 2168613 w 5260975"/>
                <a:gd name="connsiteY78" fmla="*/ 4654113 h 4707593"/>
                <a:gd name="connsiteX79" fmla="*/ 2131167 w 5260975"/>
                <a:gd name="connsiteY79" fmla="*/ 4652673 h 4707593"/>
                <a:gd name="connsiteX80" fmla="*/ 2095065 w 5260975"/>
                <a:gd name="connsiteY80" fmla="*/ 4653441 h 4707593"/>
                <a:gd name="connsiteX81" fmla="*/ 2069237 w 5260975"/>
                <a:gd name="connsiteY81" fmla="*/ 4656609 h 4707593"/>
                <a:gd name="connsiteX82" fmla="*/ 2041201 w 5260975"/>
                <a:gd name="connsiteY82" fmla="*/ 4658529 h 4707593"/>
                <a:gd name="connsiteX83" fmla="*/ 1963909 w 5260975"/>
                <a:gd name="connsiteY83" fmla="*/ 4669955 h 4707593"/>
                <a:gd name="connsiteX84" fmla="*/ 1949603 w 5260975"/>
                <a:gd name="connsiteY84" fmla="*/ 4667171 h 4707593"/>
                <a:gd name="connsiteX85" fmla="*/ 1868373 w 5260975"/>
                <a:gd name="connsiteY85" fmla="*/ 4664578 h 4707593"/>
                <a:gd name="connsiteX86" fmla="*/ 1850707 w 5260975"/>
                <a:gd name="connsiteY86" fmla="*/ 4664771 h 4707593"/>
                <a:gd name="connsiteX87" fmla="*/ 1803275 w 5260975"/>
                <a:gd name="connsiteY87" fmla="*/ 4653441 h 4707593"/>
                <a:gd name="connsiteX88" fmla="*/ 1730112 w 5260975"/>
                <a:gd name="connsiteY88" fmla="*/ 4671396 h 4707593"/>
                <a:gd name="connsiteX89" fmla="*/ 1661652 w 5260975"/>
                <a:gd name="connsiteY89" fmla="*/ 4693863 h 4707593"/>
                <a:gd name="connsiteX90" fmla="*/ 1653011 w 5260975"/>
                <a:gd name="connsiteY90" fmla="*/ 4696744 h 4707593"/>
                <a:gd name="connsiteX91" fmla="*/ 1628431 w 5260975"/>
                <a:gd name="connsiteY91" fmla="*/ 4701641 h 4707593"/>
                <a:gd name="connsiteX92" fmla="*/ 1597995 w 5260975"/>
                <a:gd name="connsiteY92" fmla="*/ 4703369 h 4707593"/>
                <a:gd name="connsiteX93" fmla="*/ 1559396 w 5260975"/>
                <a:gd name="connsiteY93" fmla="*/ 4707593 h 4707593"/>
                <a:gd name="connsiteX94" fmla="*/ 1528480 w 5260975"/>
                <a:gd name="connsiteY94" fmla="*/ 4702312 h 4707593"/>
                <a:gd name="connsiteX95" fmla="*/ 1485272 w 5260975"/>
                <a:gd name="connsiteY95" fmla="*/ 4694439 h 4707593"/>
                <a:gd name="connsiteX96" fmla="*/ 1444562 w 5260975"/>
                <a:gd name="connsiteY96" fmla="*/ 4686950 h 4707593"/>
                <a:gd name="connsiteX97" fmla="*/ 1431696 w 5260975"/>
                <a:gd name="connsiteY97" fmla="*/ 4695783 h 4707593"/>
                <a:gd name="connsiteX98" fmla="*/ 1411821 w 5260975"/>
                <a:gd name="connsiteY98" fmla="*/ 4703464 h 4707593"/>
                <a:gd name="connsiteX99" fmla="*/ 1389738 w 5260975"/>
                <a:gd name="connsiteY99" fmla="*/ 4694247 h 4707593"/>
                <a:gd name="connsiteX100" fmla="*/ 1338081 w 5260975"/>
                <a:gd name="connsiteY100" fmla="*/ 4675141 h 4707593"/>
                <a:gd name="connsiteX101" fmla="*/ 1305436 w 5260975"/>
                <a:gd name="connsiteY101" fmla="*/ 4674276 h 4707593"/>
                <a:gd name="connsiteX102" fmla="*/ 1234481 w 5260975"/>
                <a:gd name="connsiteY102" fmla="*/ 4666115 h 4707593"/>
                <a:gd name="connsiteX103" fmla="*/ 1188106 w 5260975"/>
                <a:gd name="connsiteY103" fmla="*/ 4654497 h 4707593"/>
                <a:gd name="connsiteX104" fmla="*/ 1154790 w 5260975"/>
                <a:gd name="connsiteY104" fmla="*/ 4641343 h 4707593"/>
                <a:gd name="connsiteX105" fmla="*/ 1107069 w 5260975"/>
                <a:gd name="connsiteY105" fmla="*/ 4624156 h 4707593"/>
                <a:gd name="connsiteX106" fmla="*/ 1059158 w 5260975"/>
                <a:gd name="connsiteY106" fmla="*/ 4615227 h 4707593"/>
                <a:gd name="connsiteX107" fmla="*/ 1024496 w 5260975"/>
                <a:gd name="connsiteY107" fmla="*/ 4603993 h 4707593"/>
                <a:gd name="connsiteX108" fmla="*/ 982153 w 5260975"/>
                <a:gd name="connsiteY108" fmla="*/ 4596311 h 4707593"/>
                <a:gd name="connsiteX109" fmla="*/ 946628 w 5260975"/>
                <a:gd name="connsiteY109" fmla="*/ 4596024 h 4707593"/>
                <a:gd name="connsiteX110" fmla="*/ 890939 w 5260975"/>
                <a:gd name="connsiteY110" fmla="*/ 4597368 h 4707593"/>
                <a:gd name="connsiteX111" fmla="*/ 822769 w 5260975"/>
                <a:gd name="connsiteY111" fmla="*/ 4574133 h 4707593"/>
                <a:gd name="connsiteX112" fmla="*/ 795212 w 5260975"/>
                <a:gd name="connsiteY112" fmla="*/ 4568947 h 4707593"/>
                <a:gd name="connsiteX113" fmla="*/ 769288 w 5260975"/>
                <a:gd name="connsiteY113" fmla="*/ 4566547 h 4707593"/>
                <a:gd name="connsiteX114" fmla="*/ 714271 w 5260975"/>
                <a:gd name="connsiteY114" fmla="*/ 4551089 h 4707593"/>
                <a:gd name="connsiteX115" fmla="*/ 691900 w 5260975"/>
                <a:gd name="connsiteY115" fmla="*/ 4545999 h 4707593"/>
                <a:gd name="connsiteX116" fmla="*/ 660598 w 5260975"/>
                <a:gd name="connsiteY116" fmla="*/ 4546096 h 4707593"/>
                <a:gd name="connsiteX117" fmla="*/ 603662 w 5260975"/>
                <a:gd name="connsiteY117" fmla="*/ 4538991 h 4707593"/>
                <a:gd name="connsiteX118" fmla="*/ 546821 w 5260975"/>
                <a:gd name="connsiteY118" fmla="*/ 4518251 h 4707593"/>
                <a:gd name="connsiteX119" fmla="*/ 522721 w 5260975"/>
                <a:gd name="connsiteY119" fmla="*/ 4520267 h 4707593"/>
                <a:gd name="connsiteX120" fmla="*/ 514080 w 5260975"/>
                <a:gd name="connsiteY120" fmla="*/ 4519788 h 4707593"/>
                <a:gd name="connsiteX121" fmla="*/ 436404 w 5260975"/>
                <a:gd name="connsiteY121" fmla="*/ 4508361 h 4707593"/>
                <a:gd name="connsiteX122" fmla="*/ 428626 w 5260975"/>
                <a:gd name="connsiteY122" fmla="*/ 4507114 h 4707593"/>
                <a:gd name="connsiteX123" fmla="*/ 392141 w 5260975"/>
                <a:gd name="connsiteY123" fmla="*/ 4496936 h 4707593"/>
                <a:gd name="connsiteX124" fmla="*/ 300157 w 5260975"/>
                <a:gd name="connsiteY124" fmla="*/ 4490599 h 4707593"/>
                <a:gd name="connsiteX125" fmla="*/ 294493 w 5260975"/>
                <a:gd name="connsiteY125" fmla="*/ 4489831 h 4707593"/>
                <a:gd name="connsiteX126" fmla="*/ 263671 w 5260975"/>
                <a:gd name="connsiteY126" fmla="*/ 4494919 h 4707593"/>
                <a:gd name="connsiteX127" fmla="*/ 248406 w 5260975"/>
                <a:gd name="connsiteY127" fmla="*/ 4502121 h 4707593"/>
                <a:gd name="connsiteX128" fmla="*/ 224594 w 5260975"/>
                <a:gd name="connsiteY128" fmla="*/ 4509610 h 4707593"/>
                <a:gd name="connsiteX129" fmla="*/ 200398 w 5260975"/>
                <a:gd name="connsiteY129" fmla="*/ 4512395 h 4707593"/>
                <a:gd name="connsiteX130" fmla="*/ 159783 w 5260975"/>
                <a:gd name="connsiteY130" fmla="*/ 4501064 h 4707593"/>
                <a:gd name="connsiteX131" fmla="*/ 144997 w 5260975"/>
                <a:gd name="connsiteY131" fmla="*/ 4499912 h 4707593"/>
                <a:gd name="connsiteX132" fmla="*/ 112064 w 5260975"/>
                <a:gd name="connsiteY132" fmla="*/ 4494440 h 4707593"/>
                <a:gd name="connsiteX133" fmla="*/ 83259 w 5260975"/>
                <a:gd name="connsiteY133" fmla="*/ 4494824 h 4707593"/>
                <a:gd name="connsiteX134" fmla="*/ 60120 w 5260975"/>
                <a:gd name="connsiteY134" fmla="*/ 4503561 h 4707593"/>
                <a:gd name="connsiteX135" fmla="*/ 26514 w 5260975"/>
                <a:gd name="connsiteY135" fmla="*/ 4505289 h 4707593"/>
                <a:gd name="connsiteX136" fmla="*/ 4814 w 5260975"/>
                <a:gd name="connsiteY136" fmla="*/ 4498952 h 4707593"/>
                <a:gd name="connsiteX137" fmla="*/ 398 w 5260975"/>
                <a:gd name="connsiteY137" fmla="*/ 4498089 h 4707593"/>
                <a:gd name="connsiteX138" fmla="*/ 0 w 5260975"/>
                <a:gd name="connsiteY138" fmla="*/ 4498087 h 4707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</a:cxnLst>
              <a:rect l="l" t="t" r="r" b="b"/>
              <a:pathLst>
                <a:path w="5260975" h="4707593">
                  <a:moveTo>
                    <a:pt x="0" y="0"/>
                  </a:moveTo>
                  <a:lnTo>
                    <a:pt x="5260975" y="0"/>
                  </a:lnTo>
                  <a:lnTo>
                    <a:pt x="5260975" y="3296937"/>
                  </a:lnTo>
                  <a:lnTo>
                    <a:pt x="5260975" y="3518571"/>
                  </a:lnTo>
                  <a:lnTo>
                    <a:pt x="5226504" y="3534000"/>
                  </a:lnTo>
                  <a:cubicBezTo>
                    <a:pt x="5219783" y="3536785"/>
                    <a:pt x="5212389" y="3538321"/>
                    <a:pt x="5206341" y="3542065"/>
                  </a:cubicBezTo>
                  <a:cubicBezTo>
                    <a:pt x="5178495" y="3559156"/>
                    <a:pt x="5151515" y="3577591"/>
                    <a:pt x="5123287" y="3594010"/>
                  </a:cubicBezTo>
                  <a:cubicBezTo>
                    <a:pt x="5094195" y="3611004"/>
                    <a:pt x="5068175" y="3631071"/>
                    <a:pt x="5048107" y="3658244"/>
                  </a:cubicBezTo>
                  <a:cubicBezTo>
                    <a:pt x="5029480" y="3683496"/>
                    <a:pt x="5011429" y="3709131"/>
                    <a:pt x="4992899" y="3734479"/>
                  </a:cubicBezTo>
                  <a:cubicBezTo>
                    <a:pt x="4988194" y="3740912"/>
                    <a:pt x="4983874" y="3748498"/>
                    <a:pt x="4977440" y="3752627"/>
                  </a:cubicBezTo>
                  <a:cubicBezTo>
                    <a:pt x="4964094" y="3761268"/>
                    <a:pt x="4949500" y="3768277"/>
                    <a:pt x="4935194" y="3775382"/>
                  </a:cubicBezTo>
                  <a:cubicBezTo>
                    <a:pt x="4922903" y="3781431"/>
                    <a:pt x="4909846" y="3785943"/>
                    <a:pt x="4897844" y="3792472"/>
                  </a:cubicBezTo>
                  <a:cubicBezTo>
                    <a:pt x="4888243" y="3797658"/>
                    <a:pt x="4879697" y="3804859"/>
                    <a:pt x="4870767" y="3811388"/>
                  </a:cubicBezTo>
                  <a:cubicBezTo>
                    <a:pt x="4862990" y="3817052"/>
                    <a:pt x="4854445" y="3821949"/>
                    <a:pt x="4847917" y="3828767"/>
                  </a:cubicBezTo>
                  <a:cubicBezTo>
                    <a:pt x="4831977" y="3845281"/>
                    <a:pt x="4815942" y="3861508"/>
                    <a:pt x="4796163" y="3873702"/>
                  </a:cubicBezTo>
                  <a:cubicBezTo>
                    <a:pt x="4776672" y="3885799"/>
                    <a:pt x="4758237" y="3899338"/>
                    <a:pt x="4738843" y="3911628"/>
                  </a:cubicBezTo>
                  <a:cubicBezTo>
                    <a:pt x="4719831" y="3923630"/>
                    <a:pt x="4702645" y="3936783"/>
                    <a:pt x="4692755" y="3958099"/>
                  </a:cubicBezTo>
                  <a:cubicBezTo>
                    <a:pt x="4688339" y="3967508"/>
                    <a:pt x="4682097" y="3977782"/>
                    <a:pt x="4673744" y="3983255"/>
                  </a:cubicBezTo>
                  <a:cubicBezTo>
                    <a:pt x="4661838" y="3991032"/>
                    <a:pt x="4646764" y="3993817"/>
                    <a:pt x="4633801" y="4000442"/>
                  </a:cubicBezTo>
                  <a:cubicBezTo>
                    <a:pt x="4618535" y="4008219"/>
                    <a:pt x="4600869" y="4014940"/>
                    <a:pt x="4590499" y="4027326"/>
                  </a:cubicBezTo>
                  <a:cubicBezTo>
                    <a:pt x="4581281" y="4038368"/>
                    <a:pt x="4571968" y="4047009"/>
                    <a:pt x="4559773" y="4054018"/>
                  </a:cubicBezTo>
                  <a:cubicBezTo>
                    <a:pt x="4551229" y="4058915"/>
                    <a:pt x="4544892" y="4067844"/>
                    <a:pt x="4536059" y="4071877"/>
                  </a:cubicBezTo>
                  <a:cubicBezTo>
                    <a:pt x="4524442" y="4077254"/>
                    <a:pt x="4512727" y="4081479"/>
                    <a:pt x="4502550" y="4089832"/>
                  </a:cubicBezTo>
                  <a:cubicBezTo>
                    <a:pt x="4491987" y="4098473"/>
                    <a:pt x="4479986" y="4105290"/>
                    <a:pt x="4468944" y="4113356"/>
                  </a:cubicBezTo>
                  <a:cubicBezTo>
                    <a:pt x="4463087" y="4117676"/>
                    <a:pt x="4458286" y="4123341"/>
                    <a:pt x="4452623" y="4127854"/>
                  </a:cubicBezTo>
                  <a:cubicBezTo>
                    <a:pt x="4442252" y="4136111"/>
                    <a:pt x="4431690" y="4144176"/>
                    <a:pt x="4421032" y="4151953"/>
                  </a:cubicBezTo>
                  <a:cubicBezTo>
                    <a:pt x="4410375" y="4159731"/>
                    <a:pt x="4400197" y="4168756"/>
                    <a:pt x="4388483" y="4174421"/>
                  </a:cubicBezTo>
                  <a:cubicBezTo>
                    <a:pt x="4368513" y="4184023"/>
                    <a:pt x="4346717" y="4189784"/>
                    <a:pt x="4327321" y="4200153"/>
                  </a:cubicBezTo>
                  <a:cubicBezTo>
                    <a:pt x="4307639" y="4210714"/>
                    <a:pt x="4289107" y="4223965"/>
                    <a:pt x="4271633" y="4237983"/>
                  </a:cubicBezTo>
                  <a:cubicBezTo>
                    <a:pt x="4257807" y="4249025"/>
                    <a:pt x="4244845" y="4259971"/>
                    <a:pt x="4227465" y="4265635"/>
                  </a:cubicBezTo>
                  <a:cubicBezTo>
                    <a:pt x="4217768" y="4268804"/>
                    <a:pt x="4207591" y="4275717"/>
                    <a:pt x="4201733" y="4283783"/>
                  </a:cubicBezTo>
                  <a:cubicBezTo>
                    <a:pt x="4189059" y="4301353"/>
                    <a:pt x="4172833" y="4313739"/>
                    <a:pt x="4154494" y="4324301"/>
                  </a:cubicBezTo>
                  <a:cubicBezTo>
                    <a:pt x="4130010" y="4338511"/>
                    <a:pt x="4105814" y="4353009"/>
                    <a:pt x="4081234" y="4366931"/>
                  </a:cubicBezTo>
                  <a:cubicBezTo>
                    <a:pt x="4066737" y="4375189"/>
                    <a:pt x="4052335" y="4383926"/>
                    <a:pt x="4036971" y="4389975"/>
                  </a:cubicBezTo>
                  <a:cubicBezTo>
                    <a:pt x="4005575" y="4402457"/>
                    <a:pt x="3973410" y="4413114"/>
                    <a:pt x="3941725" y="4424733"/>
                  </a:cubicBezTo>
                  <a:cubicBezTo>
                    <a:pt x="3931355" y="4428477"/>
                    <a:pt x="3921561" y="4433854"/>
                    <a:pt x="3910999" y="4437119"/>
                  </a:cubicBezTo>
                  <a:cubicBezTo>
                    <a:pt x="3899573" y="4440671"/>
                    <a:pt x="3887285" y="4441727"/>
                    <a:pt x="3875859" y="4445280"/>
                  </a:cubicBezTo>
                  <a:cubicBezTo>
                    <a:pt x="3856847" y="4451136"/>
                    <a:pt x="3838412" y="4458626"/>
                    <a:pt x="3819401" y="4464579"/>
                  </a:cubicBezTo>
                  <a:cubicBezTo>
                    <a:pt x="3782723" y="4476005"/>
                    <a:pt x="3745949" y="4486951"/>
                    <a:pt x="3709176" y="4497800"/>
                  </a:cubicBezTo>
                  <a:cubicBezTo>
                    <a:pt x="3701303" y="4500105"/>
                    <a:pt x="3692757" y="4500393"/>
                    <a:pt x="3684981" y="4502889"/>
                  </a:cubicBezTo>
                  <a:cubicBezTo>
                    <a:pt x="3664337" y="4509610"/>
                    <a:pt x="3643789" y="4516907"/>
                    <a:pt x="3623338" y="4524300"/>
                  </a:cubicBezTo>
                  <a:cubicBezTo>
                    <a:pt x="3610953" y="4528813"/>
                    <a:pt x="3598854" y="4534382"/>
                    <a:pt x="3586373" y="4538702"/>
                  </a:cubicBezTo>
                  <a:cubicBezTo>
                    <a:pt x="3576387" y="4542159"/>
                    <a:pt x="3566113" y="4544847"/>
                    <a:pt x="3555743" y="4546960"/>
                  </a:cubicBezTo>
                  <a:cubicBezTo>
                    <a:pt x="3546814" y="4548785"/>
                    <a:pt x="3537501" y="4548592"/>
                    <a:pt x="3528667" y="4550801"/>
                  </a:cubicBezTo>
                  <a:cubicBezTo>
                    <a:pt x="3504759" y="4556753"/>
                    <a:pt x="3481140" y="4563475"/>
                    <a:pt x="3457424" y="4569811"/>
                  </a:cubicBezTo>
                  <a:cubicBezTo>
                    <a:pt x="3447919" y="4572308"/>
                    <a:pt x="3438221" y="4574133"/>
                    <a:pt x="3429003" y="4577301"/>
                  </a:cubicBezTo>
                  <a:cubicBezTo>
                    <a:pt x="3404327" y="4585654"/>
                    <a:pt x="3380036" y="4595159"/>
                    <a:pt x="3355264" y="4603033"/>
                  </a:cubicBezTo>
                  <a:cubicBezTo>
                    <a:pt x="3334717" y="4609562"/>
                    <a:pt x="3313593" y="4614266"/>
                    <a:pt x="3292757" y="4620027"/>
                  </a:cubicBezTo>
                  <a:cubicBezTo>
                    <a:pt x="3283924" y="4622524"/>
                    <a:pt x="3275475" y="4626077"/>
                    <a:pt x="3266643" y="4628188"/>
                  </a:cubicBezTo>
                  <a:cubicBezTo>
                    <a:pt x="3246863" y="4632990"/>
                    <a:pt x="3226796" y="4637022"/>
                    <a:pt x="3206921" y="4641823"/>
                  </a:cubicBezTo>
                  <a:cubicBezTo>
                    <a:pt x="3195590" y="4644607"/>
                    <a:pt x="3184645" y="4649600"/>
                    <a:pt x="3173123" y="4651425"/>
                  </a:cubicBezTo>
                  <a:cubicBezTo>
                    <a:pt x="3145759" y="4655745"/>
                    <a:pt x="3118203" y="4658817"/>
                    <a:pt x="3090646" y="4662274"/>
                  </a:cubicBezTo>
                  <a:cubicBezTo>
                    <a:pt x="3062227" y="4665826"/>
                    <a:pt x="3033902" y="4669571"/>
                    <a:pt x="3005480" y="4672739"/>
                  </a:cubicBezTo>
                  <a:cubicBezTo>
                    <a:pt x="2989926" y="4674372"/>
                    <a:pt x="2974275" y="4674660"/>
                    <a:pt x="2958721" y="4676196"/>
                  </a:cubicBezTo>
                  <a:cubicBezTo>
                    <a:pt x="2945087" y="4677541"/>
                    <a:pt x="2931549" y="4680037"/>
                    <a:pt x="2917915" y="4681670"/>
                  </a:cubicBezTo>
                  <a:cubicBezTo>
                    <a:pt x="2906105" y="4683013"/>
                    <a:pt x="2894199" y="4683781"/>
                    <a:pt x="2882389" y="4685126"/>
                  </a:cubicBezTo>
                  <a:cubicBezTo>
                    <a:pt x="2863475" y="4687334"/>
                    <a:pt x="2844655" y="4689831"/>
                    <a:pt x="2825837" y="4692135"/>
                  </a:cubicBezTo>
                  <a:cubicBezTo>
                    <a:pt x="2817964" y="4692999"/>
                    <a:pt x="2809706" y="4695399"/>
                    <a:pt x="2802313" y="4693960"/>
                  </a:cubicBezTo>
                  <a:cubicBezTo>
                    <a:pt x="2783686" y="4690310"/>
                    <a:pt x="2765347" y="4691367"/>
                    <a:pt x="2746816" y="4693863"/>
                  </a:cubicBezTo>
                  <a:cubicBezTo>
                    <a:pt x="2740479" y="4694728"/>
                    <a:pt x="2733662" y="4694535"/>
                    <a:pt x="2727517" y="4692903"/>
                  </a:cubicBezTo>
                  <a:cubicBezTo>
                    <a:pt x="2714939" y="4689638"/>
                    <a:pt x="2702745" y="4685029"/>
                    <a:pt x="2690359" y="4680997"/>
                  </a:cubicBezTo>
                  <a:cubicBezTo>
                    <a:pt x="2689014" y="4680517"/>
                    <a:pt x="2687382" y="4680421"/>
                    <a:pt x="2685943" y="4680133"/>
                  </a:cubicBezTo>
                  <a:cubicBezTo>
                    <a:pt x="2677781" y="4678500"/>
                    <a:pt x="2669717" y="4676868"/>
                    <a:pt x="2661554" y="4675428"/>
                  </a:cubicBezTo>
                  <a:cubicBezTo>
                    <a:pt x="2657138" y="4674660"/>
                    <a:pt x="2652625" y="4674564"/>
                    <a:pt x="2648208" y="4673892"/>
                  </a:cubicBezTo>
                  <a:cubicBezTo>
                    <a:pt x="2631118" y="4671203"/>
                    <a:pt x="2612299" y="4675716"/>
                    <a:pt x="2597512" y="4664099"/>
                  </a:cubicBezTo>
                  <a:cubicBezTo>
                    <a:pt x="2587911" y="4656609"/>
                    <a:pt x="2578597" y="4658338"/>
                    <a:pt x="2568324" y="4659490"/>
                  </a:cubicBezTo>
                  <a:cubicBezTo>
                    <a:pt x="2560547" y="4660354"/>
                    <a:pt x="2552577" y="4660065"/>
                    <a:pt x="2544704" y="4660162"/>
                  </a:cubicBezTo>
                  <a:cubicBezTo>
                    <a:pt x="2530878" y="4660449"/>
                    <a:pt x="2517052" y="4660546"/>
                    <a:pt x="2503225" y="4661026"/>
                  </a:cubicBezTo>
                  <a:cubicBezTo>
                    <a:pt x="2498808" y="4661218"/>
                    <a:pt x="2494297" y="4663619"/>
                    <a:pt x="2489975" y="4663235"/>
                  </a:cubicBezTo>
                  <a:cubicBezTo>
                    <a:pt x="2470004" y="4661410"/>
                    <a:pt x="2450033" y="4658529"/>
                    <a:pt x="2430061" y="4656897"/>
                  </a:cubicBezTo>
                  <a:cubicBezTo>
                    <a:pt x="2418732" y="4655938"/>
                    <a:pt x="2407114" y="4657761"/>
                    <a:pt x="2395880" y="4656417"/>
                  </a:cubicBezTo>
                  <a:cubicBezTo>
                    <a:pt x="2382919" y="4654881"/>
                    <a:pt x="2370245" y="4650945"/>
                    <a:pt x="2357378" y="4648544"/>
                  </a:cubicBezTo>
                  <a:cubicBezTo>
                    <a:pt x="2353826" y="4647872"/>
                    <a:pt x="2349889" y="4648736"/>
                    <a:pt x="2346145" y="4648928"/>
                  </a:cubicBezTo>
                  <a:cubicBezTo>
                    <a:pt x="2341920" y="4649120"/>
                    <a:pt x="2337791" y="4649504"/>
                    <a:pt x="2333567" y="4649600"/>
                  </a:cubicBezTo>
                  <a:cubicBezTo>
                    <a:pt x="2320700" y="4649793"/>
                    <a:pt x="2307835" y="4649504"/>
                    <a:pt x="2294968" y="4650177"/>
                  </a:cubicBezTo>
                  <a:cubicBezTo>
                    <a:pt x="2287095" y="4650561"/>
                    <a:pt x="2278839" y="4654497"/>
                    <a:pt x="2271540" y="4653057"/>
                  </a:cubicBezTo>
                  <a:cubicBezTo>
                    <a:pt x="2256659" y="4650272"/>
                    <a:pt x="2241776" y="4656513"/>
                    <a:pt x="2226895" y="4651329"/>
                  </a:cubicBezTo>
                  <a:cubicBezTo>
                    <a:pt x="2222285" y="4649793"/>
                    <a:pt x="2215948" y="4653633"/>
                    <a:pt x="2210379" y="4653825"/>
                  </a:cubicBezTo>
                  <a:cubicBezTo>
                    <a:pt x="2196457" y="4654305"/>
                    <a:pt x="2182535" y="4654209"/>
                    <a:pt x="2168613" y="4654113"/>
                  </a:cubicBezTo>
                  <a:cubicBezTo>
                    <a:pt x="2156131" y="4654017"/>
                    <a:pt x="2143168" y="4655361"/>
                    <a:pt x="2131167" y="4652673"/>
                  </a:cubicBezTo>
                  <a:cubicBezTo>
                    <a:pt x="2118588" y="4649793"/>
                    <a:pt x="2107259" y="4650177"/>
                    <a:pt x="2095065" y="4653441"/>
                  </a:cubicBezTo>
                  <a:cubicBezTo>
                    <a:pt x="2086711" y="4655649"/>
                    <a:pt x="2077878" y="4655938"/>
                    <a:pt x="2069237" y="4656609"/>
                  </a:cubicBezTo>
                  <a:cubicBezTo>
                    <a:pt x="2059924" y="4657377"/>
                    <a:pt x="2049650" y="4655361"/>
                    <a:pt x="2041201" y="4658529"/>
                  </a:cubicBezTo>
                  <a:cubicBezTo>
                    <a:pt x="2016044" y="4667939"/>
                    <a:pt x="1990216" y="4669955"/>
                    <a:pt x="1963909" y="4669955"/>
                  </a:cubicBezTo>
                  <a:cubicBezTo>
                    <a:pt x="1959107" y="4669955"/>
                    <a:pt x="1954210" y="4668612"/>
                    <a:pt x="1949603" y="4667171"/>
                  </a:cubicBezTo>
                  <a:cubicBezTo>
                    <a:pt x="1922717" y="4658529"/>
                    <a:pt x="1895737" y="4659297"/>
                    <a:pt x="1868373" y="4664578"/>
                  </a:cubicBezTo>
                  <a:cubicBezTo>
                    <a:pt x="1862708" y="4665731"/>
                    <a:pt x="1856372" y="4665923"/>
                    <a:pt x="1850707" y="4664771"/>
                  </a:cubicBezTo>
                  <a:cubicBezTo>
                    <a:pt x="1834768" y="4661410"/>
                    <a:pt x="1819309" y="4655841"/>
                    <a:pt x="1803275" y="4653441"/>
                  </a:cubicBezTo>
                  <a:cubicBezTo>
                    <a:pt x="1776775" y="4649504"/>
                    <a:pt x="1753828" y="4662754"/>
                    <a:pt x="1730112" y="4671396"/>
                  </a:cubicBezTo>
                  <a:cubicBezTo>
                    <a:pt x="1707548" y="4679557"/>
                    <a:pt x="1688345" y="4697992"/>
                    <a:pt x="1661652" y="4693863"/>
                  </a:cubicBezTo>
                  <a:cubicBezTo>
                    <a:pt x="1658965" y="4693479"/>
                    <a:pt x="1655988" y="4696071"/>
                    <a:pt x="1653011" y="4696744"/>
                  </a:cubicBezTo>
                  <a:cubicBezTo>
                    <a:pt x="1644850" y="4698568"/>
                    <a:pt x="1636689" y="4700776"/>
                    <a:pt x="1628431" y="4701641"/>
                  </a:cubicBezTo>
                  <a:cubicBezTo>
                    <a:pt x="1618350" y="4702793"/>
                    <a:pt x="1608076" y="4702409"/>
                    <a:pt x="1597995" y="4703369"/>
                  </a:cubicBezTo>
                  <a:cubicBezTo>
                    <a:pt x="1585032" y="4704521"/>
                    <a:pt x="1572263" y="4707593"/>
                    <a:pt x="1559396" y="4707593"/>
                  </a:cubicBezTo>
                  <a:cubicBezTo>
                    <a:pt x="1549026" y="4707593"/>
                    <a:pt x="1538753" y="4704041"/>
                    <a:pt x="1528480" y="4702312"/>
                  </a:cubicBezTo>
                  <a:cubicBezTo>
                    <a:pt x="1513981" y="4699912"/>
                    <a:pt x="1498042" y="4700584"/>
                    <a:pt x="1485272" y="4694439"/>
                  </a:cubicBezTo>
                  <a:cubicBezTo>
                    <a:pt x="1471639" y="4687910"/>
                    <a:pt x="1458676" y="4684934"/>
                    <a:pt x="1444562" y="4686950"/>
                  </a:cubicBezTo>
                  <a:cubicBezTo>
                    <a:pt x="1439857" y="4687622"/>
                    <a:pt x="1433808" y="4691655"/>
                    <a:pt x="1431696" y="4695783"/>
                  </a:cubicBezTo>
                  <a:cubicBezTo>
                    <a:pt x="1426991" y="4705001"/>
                    <a:pt x="1420559" y="4706634"/>
                    <a:pt x="1411821" y="4703464"/>
                  </a:cubicBezTo>
                  <a:cubicBezTo>
                    <a:pt x="1404236" y="4700776"/>
                    <a:pt x="1394922" y="4699432"/>
                    <a:pt x="1389738" y="4694247"/>
                  </a:cubicBezTo>
                  <a:cubicBezTo>
                    <a:pt x="1375047" y="4679557"/>
                    <a:pt x="1356324" y="4679077"/>
                    <a:pt x="1338081" y="4675141"/>
                  </a:cubicBezTo>
                  <a:cubicBezTo>
                    <a:pt x="1326945" y="4672739"/>
                    <a:pt x="1316574" y="4672644"/>
                    <a:pt x="1305436" y="4674276"/>
                  </a:cubicBezTo>
                  <a:cubicBezTo>
                    <a:pt x="1281241" y="4677925"/>
                    <a:pt x="1257717" y="4672739"/>
                    <a:pt x="1234481" y="4666115"/>
                  </a:cubicBezTo>
                  <a:cubicBezTo>
                    <a:pt x="1219118" y="4661698"/>
                    <a:pt x="1203372" y="4659010"/>
                    <a:pt x="1188106" y="4654497"/>
                  </a:cubicBezTo>
                  <a:cubicBezTo>
                    <a:pt x="1176680" y="4651041"/>
                    <a:pt x="1165255" y="4646912"/>
                    <a:pt x="1154790" y="4641343"/>
                  </a:cubicBezTo>
                  <a:cubicBezTo>
                    <a:pt x="1139618" y="4633181"/>
                    <a:pt x="1126369" y="4620891"/>
                    <a:pt x="1107069" y="4624156"/>
                  </a:cubicBezTo>
                  <a:cubicBezTo>
                    <a:pt x="1090074" y="4627036"/>
                    <a:pt x="1074713" y="4620988"/>
                    <a:pt x="1059158" y="4615227"/>
                  </a:cubicBezTo>
                  <a:cubicBezTo>
                    <a:pt x="1047732" y="4611002"/>
                    <a:pt x="1036308" y="4606681"/>
                    <a:pt x="1024496" y="4603993"/>
                  </a:cubicBezTo>
                  <a:cubicBezTo>
                    <a:pt x="1010478" y="4600824"/>
                    <a:pt x="994635" y="4602169"/>
                    <a:pt x="982153" y="4596311"/>
                  </a:cubicBezTo>
                  <a:cubicBezTo>
                    <a:pt x="969095" y="4590166"/>
                    <a:pt x="958246" y="4594295"/>
                    <a:pt x="946628" y="4596024"/>
                  </a:cubicBezTo>
                  <a:cubicBezTo>
                    <a:pt x="928097" y="4598712"/>
                    <a:pt x="909661" y="4603705"/>
                    <a:pt x="890939" y="4597368"/>
                  </a:cubicBezTo>
                  <a:cubicBezTo>
                    <a:pt x="868184" y="4589687"/>
                    <a:pt x="845620" y="4581430"/>
                    <a:pt x="822769" y="4574133"/>
                  </a:cubicBezTo>
                  <a:cubicBezTo>
                    <a:pt x="813934" y="4571347"/>
                    <a:pt x="804431" y="4570195"/>
                    <a:pt x="795212" y="4568947"/>
                  </a:cubicBezTo>
                  <a:cubicBezTo>
                    <a:pt x="786476" y="4567891"/>
                    <a:pt x="776010" y="4570579"/>
                    <a:pt x="769288" y="4566547"/>
                  </a:cubicBezTo>
                  <a:cubicBezTo>
                    <a:pt x="752005" y="4556178"/>
                    <a:pt x="734243" y="4551089"/>
                    <a:pt x="714271" y="4551089"/>
                  </a:cubicBezTo>
                  <a:cubicBezTo>
                    <a:pt x="706781" y="4551089"/>
                    <a:pt x="699484" y="4546768"/>
                    <a:pt x="691900" y="4545999"/>
                  </a:cubicBezTo>
                  <a:cubicBezTo>
                    <a:pt x="681529" y="4545040"/>
                    <a:pt x="669623" y="4542447"/>
                    <a:pt x="660598" y="4546096"/>
                  </a:cubicBezTo>
                  <a:cubicBezTo>
                    <a:pt x="639379" y="4554737"/>
                    <a:pt x="622193" y="4547536"/>
                    <a:pt x="603662" y="4538991"/>
                  </a:cubicBezTo>
                  <a:cubicBezTo>
                    <a:pt x="585418" y="4530541"/>
                    <a:pt x="566215" y="4523821"/>
                    <a:pt x="546821" y="4518251"/>
                  </a:cubicBezTo>
                  <a:cubicBezTo>
                    <a:pt x="539524" y="4516235"/>
                    <a:pt x="530787" y="4519596"/>
                    <a:pt x="522721" y="4520267"/>
                  </a:cubicBezTo>
                  <a:cubicBezTo>
                    <a:pt x="519840" y="4520460"/>
                    <a:pt x="516671" y="4520748"/>
                    <a:pt x="514080" y="4519788"/>
                  </a:cubicBezTo>
                  <a:cubicBezTo>
                    <a:pt x="489020" y="4510570"/>
                    <a:pt x="463575" y="4503561"/>
                    <a:pt x="436404" y="4508361"/>
                  </a:cubicBezTo>
                  <a:cubicBezTo>
                    <a:pt x="433908" y="4508842"/>
                    <a:pt x="431123" y="4507786"/>
                    <a:pt x="428626" y="4507114"/>
                  </a:cubicBezTo>
                  <a:cubicBezTo>
                    <a:pt x="416432" y="4503657"/>
                    <a:pt x="404526" y="4498184"/>
                    <a:pt x="392141" y="4496936"/>
                  </a:cubicBezTo>
                  <a:cubicBezTo>
                    <a:pt x="361608" y="4493864"/>
                    <a:pt x="330884" y="4492615"/>
                    <a:pt x="300157" y="4490599"/>
                  </a:cubicBezTo>
                  <a:cubicBezTo>
                    <a:pt x="298237" y="4490503"/>
                    <a:pt x="296221" y="4490503"/>
                    <a:pt x="294493" y="4489831"/>
                  </a:cubicBezTo>
                  <a:cubicBezTo>
                    <a:pt x="283163" y="4485702"/>
                    <a:pt x="273274" y="4487047"/>
                    <a:pt x="263671" y="4494919"/>
                  </a:cubicBezTo>
                  <a:cubicBezTo>
                    <a:pt x="259447" y="4498376"/>
                    <a:pt x="253686" y="4500200"/>
                    <a:pt x="248406" y="4502121"/>
                  </a:cubicBezTo>
                  <a:cubicBezTo>
                    <a:pt x="240628" y="4505002"/>
                    <a:pt x="232659" y="4507786"/>
                    <a:pt x="224594" y="4509610"/>
                  </a:cubicBezTo>
                  <a:cubicBezTo>
                    <a:pt x="216624" y="4511338"/>
                    <a:pt x="208079" y="4513738"/>
                    <a:pt x="200398" y="4512395"/>
                  </a:cubicBezTo>
                  <a:cubicBezTo>
                    <a:pt x="186572" y="4509994"/>
                    <a:pt x="173417" y="4504618"/>
                    <a:pt x="159783" y="4501064"/>
                  </a:cubicBezTo>
                  <a:cubicBezTo>
                    <a:pt x="155079" y="4499816"/>
                    <a:pt x="149893" y="4500009"/>
                    <a:pt x="144997" y="4499912"/>
                  </a:cubicBezTo>
                  <a:cubicBezTo>
                    <a:pt x="133763" y="4499625"/>
                    <a:pt x="122241" y="4502409"/>
                    <a:pt x="112064" y="4494440"/>
                  </a:cubicBezTo>
                  <a:cubicBezTo>
                    <a:pt x="102655" y="4486951"/>
                    <a:pt x="93148" y="4489158"/>
                    <a:pt x="83259" y="4494824"/>
                  </a:cubicBezTo>
                  <a:cubicBezTo>
                    <a:pt x="76154" y="4498857"/>
                    <a:pt x="68090" y="4502025"/>
                    <a:pt x="60120" y="4503561"/>
                  </a:cubicBezTo>
                  <a:cubicBezTo>
                    <a:pt x="49174" y="4505673"/>
                    <a:pt x="38324" y="4506538"/>
                    <a:pt x="26514" y="4505289"/>
                  </a:cubicBezTo>
                  <a:cubicBezTo>
                    <a:pt x="18161" y="4504425"/>
                    <a:pt x="11343" y="4504041"/>
                    <a:pt x="4814" y="4498952"/>
                  </a:cubicBezTo>
                  <a:cubicBezTo>
                    <a:pt x="3759" y="4498184"/>
                    <a:pt x="1839" y="4497992"/>
                    <a:pt x="398" y="4498089"/>
                  </a:cubicBezTo>
                  <a:lnTo>
                    <a:pt x="0" y="4498087"/>
                  </a:lnTo>
                  <a:close/>
                </a:path>
              </a:pathLst>
            </a:custGeom>
            <a:solidFill>
              <a:schemeClr val="bg1">
                <a:alpha val="86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>
                    <a:alpha val="14000"/>
                  </a:schemeClr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3238902-4FDA-B6B9-2FDA-44665282B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8127" y="2023558"/>
            <a:ext cx="3521265" cy="2491292"/>
          </a:xfrm>
        </p:spPr>
        <p:txBody>
          <a:bodyPr anchor="t">
            <a:normAutofit/>
          </a:bodyPr>
          <a:lstStyle/>
          <a:p>
            <a:r>
              <a:rPr lang="en-US" sz="4000"/>
              <a:t>Design Is About Change, Not Features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0B5ED20-499B-41E7-95BE-8BBD31314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258080"/>
            <a:ext cx="4403345" cy="1180695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5A51D22-76EA-4C70-B5C9-ED3946924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258080"/>
            <a:ext cx="4403345" cy="1180695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2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1F2A7-7201-A9C4-2C6B-E66D27B9F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9175" y="1311088"/>
            <a:ext cx="5276850" cy="43272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Initial requirements don’t kill systems - </a:t>
            </a:r>
            <a:r>
              <a:rPr lang="en-US" sz="2200" b="1" dirty="0">
                <a:solidFill>
                  <a:schemeClr val="tx1">
                    <a:alpha val="80000"/>
                  </a:schemeClr>
                </a:solidFill>
              </a:rPr>
              <a:t>changing requirements do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en-US" sz="220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Object oriented design techniques exist to </a:t>
            </a:r>
            <a:r>
              <a:rPr lang="en-US" sz="2200" i="1" dirty="0">
                <a:solidFill>
                  <a:schemeClr val="tx1">
                    <a:alpha val="80000"/>
                  </a:schemeClr>
                </a:solidFill>
              </a:rPr>
              <a:t>localize change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en-US" sz="220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Single responsibility, open-closed principle, dependency inversion all answer the same question:</a:t>
            </a:r>
            <a:br>
              <a:rPr lang="en-US" sz="2200" dirty="0">
                <a:solidFill>
                  <a:schemeClr val="tx1">
                    <a:alpha val="80000"/>
                  </a:schemeClr>
                </a:solidFill>
              </a:rPr>
            </a:br>
            <a:br>
              <a:rPr lang="en-US" sz="2200" i="1" dirty="0">
                <a:solidFill>
                  <a:schemeClr val="tx1">
                    <a:alpha val="80000"/>
                  </a:schemeClr>
                </a:solidFill>
              </a:rPr>
            </a:br>
            <a:r>
              <a:rPr lang="en-US" sz="2200" i="1" dirty="0">
                <a:solidFill>
                  <a:schemeClr val="tx1">
                    <a:alpha val="80000"/>
                  </a:schemeClr>
                </a:solidFill>
              </a:rPr>
              <a:t>       “Where should this change go?”</a:t>
            </a:r>
          </a:p>
          <a:p>
            <a:endParaRPr lang="en-US" sz="22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2709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075AD-1B40-F8B8-5538-EA7FFDEB9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most important reader is </a:t>
            </a:r>
            <a:br>
              <a:rPr lang="en-US" dirty="0"/>
            </a:br>
            <a:r>
              <a:rPr lang="en-US" i="1" dirty="0"/>
              <a:t>future developers</a:t>
            </a:r>
            <a:r>
              <a:rPr lang="en-US" dirty="0"/>
              <a:t>, not the compiler.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B0246-C700-FD6E-7C44-0598D513D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is </a:t>
            </a:r>
            <a:r>
              <a:rPr lang="en-US" b="1" dirty="0"/>
              <a:t>read far more </a:t>
            </a:r>
            <a:r>
              <a:rPr lang="en-US" dirty="0"/>
              <a:t>than it is written.</a:t>
            </a:r>
          </a:p>
          <a:p>
            <a:r>
              <a:rPr lang="en-US" dirty="0"/>
              <a:t>Good design communicates intent, boundaries, and invariants.</a:t>
            </a:r>
          </a:p>
          <a:p>
            <a:r>
              <a:rPr lang="en-US" dirty="0"/>
              <a:t>Classes and interfaces are </a:t>
            </a:r>
            <a:r>
              <a:rPr lang="en-US" i="1" dirty="0"/>
              <a:t>sentences</a:t>
            </a:r>
            <a:r>
              <a:rPr lang="en-US" dirty="0"/>
              <a:t>, not just containers.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350C2E-2A72-0C27-6731-91E7FA058264}"/>
              </a:ext>
            </a:extLst>
          </p:cNvPr>
          <p:cNvSpPr txBox="1"/>
          <p:nvPr/>
        </p:nvSpPr>
        <p:spPr>
          <a:xfrm>
            <a:off x="838200" y="355083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600" dirty="0">
                <a:solidFill>
                  <a:srgbClr val="0E0E0E"/>
                </a:solidFill>
                <a:effectLst/>
                <a:latin typeface=".AppleSystemUIFont"/>
              </a:rPr>
              <a:t>Design is how you talk to people you’ll never meet.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E58218-A542-2C9B-6B28-518813D15AFE}"/>
              </a:ext>
            </a:extLst>
          </p:cNvPr>
          <p:cNvSpPr txBox="1"/>
          <p:nvPr/>
        </p:nvSpPr>
        <p:spPr>
          <a:xfrm>
            <a:off x="6318738" y="5394812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600" dirty="0">
                <a:solidFill>
                  <a:srgbClr val="0E0E0E"/>
                </a:solidFill>
                <a:effectLst/>
                <a:latin typeface=".AppleSystemUIFont"/>
              </a:rPr>
              <a:t>Design is how </a:t>
            </a:r>
            <a:r>
              <a:rPr lang="en-US" sz="3600" i="1" dirty="0">
                <a:solidFill>
                  <a:srgbClr val="0E0E0E"/>
                </a:solidFill>
                <a:effectLst/>
                <a:latin typeface=".AppleSystemUIFont"/>
              </a:rPr>
              <a:t>future you </a:t>
            </a:r>
          </a:p>
          <a:p>
            <a:pPr>
              <a:buNone/>
            </a:pPr>
            <a:r>
              <a:rPr lang="en-US" sz="3600" dirty="0">
                <a:solidFill>
                  <a:srgbClr val="0E0E0E"/>
                </a:solidFill>
                <a:effectLst/>
                <a:latin typeface=".AppleSystemUIFont"/>
              </a:rPr>
              <a:t>can avoid hating </a:t>
            </a:r>
            <a:r>
              <a:rPr lang="en-US" sz="3600" i="1" dirty="0">
                <a:solidFill>
                  <a:srgbClr val="0E0E0E"/>
                </a:solidFill>
                <a:effectLst/>
                <a:latin typeface=".AppleSystemUIFont"/>
              </a:rPr>
              <a:t>past you</a:t>
            </a:r>
            <a:r>
              <a:rPr lang="en-US" sz="3600" dirty="0">
                <a:solidFill>
                  <a:srgbClr val="0E0E0E"/>
                </a:solidFill>
                <a:effectLst/>
                <a:latin typeface=".AppleSystemUIFont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E1BF94-F154-E86E-C183-9964820FE273}"/>
              </a:ext>
            </a:extLst>
          </p:cNvPr>
          <p:cNvSpPr txBox="1"/>
          <p:nvPr/>
        </p:nvSpPr>
        <p:spPr>
          <a:xfrm>
            <a:off x="3372730" y="4842153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i="1" dirty="0">
                <a:solidFill>
                  <a:srgbClr val="0E0E0E"/>
                </a:solidFill>
                <a:effectLst/>
                <a:latin typeface=".AppleSystemUIFont"/>
              </a:rPr>
              <a:t>--- or if you stick around long enough ---</a:t>
            </a:r>
          </a:p>
        </p:txBody>
      </p:sp>
    </p:spTree>
    <p:extLst>
      <p:ext uri="{BB962C8B-B14F-4D97-AF65-F5344CB8AC3E}">
        <p14:creationId xmlns:p14="http://schemas.microsoft.com/office/powerpoint/2010/main" val="801036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EE762B-2565-FF55-E2A2-917CB2CF4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US" sz="4000" dirty="0"/>
              <a:t>Good design </a:t>
            </a:r>
            <a:r>
              <a:rPr lang="en-US" sz="4000" i="1" dirty="0"/>
              <a:t>limits</a:t>
            </a:r>
            <a:r>
              <a:rPr lang="en-US" sz="4000" dirty="0"/>
              <a:t> what you can do… </a:t>
            </a:r>
            <a:br>
              <a:rPr lang="en-US" sz="4000" dirty="0"/>
            </a:br>
            <a:r>
              <a:rPr lang="en-US" sz="4000" dirty="0"/>
              <a:t>on purpose!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8964A-257F-70A3-0A29-FABB64046C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5260975" cy="396000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Encapsulation is about </a:t>
            </a:r>
            <a:r>
              <a:rPr lang="en-US" sz="2400" i="1" dirty="0">
                <a:solidFill>
                  <a:schemeClr val="tx1">
                    <a:alpha val="80000"/>
                  </a:schemeClr>
                </a:solidFill>
              </a:rPr>
              <a:t>preventing misuse</a:t>
            </a: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.</a:t>
            </a:r>
          </a:p>
          <a:p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Constraints reduce cognitive load.</a:t>
            </a:r>
          </a:p>
          <a:p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Well-designed systems make </a:t>
            </a:r>
            <a:r>
              <a:rPr lang="en-US" sz="2400" b="1" dirty="0">
                <a:solidFill>
                  <a:schemeClr val="tx1">
                    <a:alpha val="80000"/>
                  </a:schemeClr>
                </a:solidFill>
              </a:rPr>
              <a:t>wrong code hard to write</a:t>
            </a:r>
            <a:r>
              <a:rPr lang="en-US" sz="2400" dirty="0">
                <a:solidFill>
                  <a:schemeClr val="tx1">
                    <a:alpha val="80000"/>
                  </a:schemeClr>
                </a:solidFill>
              </a:rPr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639477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1BA10F-3EED-5C70-A985-6BF4D1333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Tragedy of “Just One More If”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11BA-8CD4-D0FF-79F2-67790AB9D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0855" y="1412489"/>
            <a:ext cx="3427283" cy="4363844"/>
          </a:xfrm>
        </p:spPr>
        <p:txBody>
          <a:bodyPr vert="horz" lIns="91440" tIns="45720" rIns="91440" bIns="45720" rtlCol="0">
            <a:normAutofit/>
          </a:bodyPr>
          <a:lstStyle/>
          <a:p>
            <a:pPr marL="0"/>
            <a:r>
              <a:rPr lang="en-US" sz="2000" dirty="0"/>
              <a:t>Most design failures start small and seem reasonable.</a:t>
            </a:r>
          </a:p>
          <a:p>
            <a:pPr marL="0"/>
            <a:endParaRPr lang="en-US" sz="2000" dirty="0"/>
          </a:p>
          <a:p>
            <a:pPr marL="0"/>
            <a:r>
              <a:rPr lang="en-US" sz="2000" b="1" dirty="0"/>
              <a:t>Today</a:t>
            </a:r>
            <a:r>
              <a:rPr lang="en-US" sz="2000" dirty="0"/>
              <a:t>:</a:t>
            </a:r>
          </a:p>
          <a:p>
            <a:pPr marL="457200" lvl="1"/>
            <a:r>
              <a:rPr lang="en-US" sz="2000" dirty="0"/>
              <a:t>if (type == A) { ... }</a:t>
            </a:r>
          </a:p>
          <a:p>
            <a:pPr marL="457200" lvl="1"/>
            <a:r>
              <a:rPr lang="en-US" sz="2000" dirty="0"/>
              <a:t>else if (type == B) { ... }</a:t>
            </a:r>
          </a:p>
          <a:p>
            <a:pPr marL="457200" lvl="1"/>
            <a:r>
              <a:rPr lang="en-US" sz="2000" dirty="0"/>
              <a:t>else if (type == C) { ... }</a:t>
            </a:r>
          </a:p>
          <a:p>
            <a:pPr marL="0"/>
            <a:endParaRPr lang="en-US" sz="2000" dirty="0"/>
          </a:p>
          <a:p>
            <a:pPr marL="0"/>
            <a:r>
              <a:rPr lang="en-US" sz="2000" b="1" dirty="0"/>
              <a:t>Soon</a:t>
            </a:r>
            <a:r>
              <a:rPr lang="en-US" sz="2000" dirty="0"/>
              <a:t>:</a:t>
            </a:r>
          </a:p>
          <a:p>
            <a:pPr marL="457200" lvl="1"/>
            <a:r>
              <a:rPr lang="en-US" sz="1600" i="1" dirty="0"/>
              <a:t>18 more conditions, cases, </a:t>
            </a:r>
            <a:br>
              <a:rPr lang="en-US" sz="1600" i="1" dirty="0"/>
            </a:br>
            <a:r>
              <a:rPr lang="en-US" sz="1600" i="1" dirty="0"/>
              <a:t>      tweaks, requirements, etc.</a:t>
            </a:r>
          </a:p>
          <a:p>
            <a:pPr marL="0"/>
            <a:endParaRPr lang="en-US" sz="20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B1B1DE-F0AE-8341-B2F3-719E44D415C0}"/>
              </a:ext>
            </a:extLst>
          </p:cNvPr>
          <p:cNvSpPr txBox="1"/>
          <p:nvPr/>
        </p:nvSpPr>
        <p:spPr>
          <a:xfrm>
            <a:off x="8451604" y="1412489"/>
            <a:ext cx="3197701" cy="4363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Design erosion happens incrementally.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OO design provides </a:t>
            </a:r>
            <a:r>
              <a:rPr lang="en-US" sz="2000" i="1"/>
              <a:t>escape hatches</a:t>
            </a:r>
            <a:r>
              <a:rPr lang="en-US" sz="2000"/>
              <a:t> before conditionals explode.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Patterns often emerge </a:t>
            </a:r>
            <a:r>
              <a:rPr lang="en-US" sz="2000" i="1"/>
              <a:t>after</a:t>
            </a:r>
            <a:r>
              <a:rPr lang="en-US" sz="2000"/>
              <a:t> pain—this course helps you see them earlier.</a:t>
            </a:r>
          </a:p>
        </p:txBody>
      </p:sp>
    </p:spTree>
    <p:extLst>
      <p:ext uri="{BB962C8B-B14F-4D97-AF65-F5344CB8AC3E}">
        <p14:creationId xmlns:p14="http://schemas.microsoft.com/office/powerpoint/2010/main" val="4051529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0D5820-6A8A-7D04-748D-9E9B946C1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Design distinguishes </a:t>
            </a:r>
            <a:r>
              <a:rPr lang="en-US" sz="3700" i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programmers</a:t>
            </a:r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b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from </a:t>
            </a:r>
            <a:r>
              <a:rPr lang="en-US" sz="3700" i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software engineers</a:t>
            </a:r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6AFDF9-C666-8C28-0BDC-C7E6C0586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0855" y="1412489"/>
            <a:ext cx="3427283" cy="436384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dirty="0"/>
              <a:t>Industry rewards people who can manage complexity.</a:t>
            </a:r>
          </a:p>
          <a:p>
            <a:r>
              <a:rPr lang="en-US" sz="2000" dirty="0"/>
              <a:t>Design skill is what scales your impact.</a:t>
            </a:r>
          </a:p>
          <a:p>
            <a:r>
              <a:rPr lang="en-US" sz="2000" dirty="0"/>
              <a:t>Languages and frameworks change—design principles do not.</a:t>
            </a:r>
          </a:p>
          <a:p>
            <a:r>
              <a:rPr lang="en-US" sz="2000" dirty="0"/>
              <a:t>Compare:</a:t>
            </a:r>
            <a:br>
              <a:rPr lang="en-US" sz="2000" dirty="0"/>
            </a:br>
            <a:r>
              <a:rPr lang="en-US" sz="1800" dirty="0"/>
              <a:t> </a:t>
            </a:r>
            <a:r>
              <a:rPr lang="en-US" sz="1800" i="1" dirty="0"/>
              <a:t>“Can you implement this?”</a:t>
            </a:r>
            <a:br>
              <a:rPr lang="en-US" sz="1800" i="1" dirty="0"/>
            </a:br>
            <a:r>
              <a:rPr lang="en-US" sz="1800" i="1" dirty="0"/>
              <a:t> “Can you evolve this safely?”</a:t>
            </a:r>
          </a:p>
          <a:p>
            <a:endParaRPr lang="en-US" sz="2000" i="1" dirty="0"/>
          </a:p>
          <a:p>
            <a:pPr lvl="1"/>
            <a:endParaRPr lang="en-US" sz="2000" dirty="0"/>
          </a:p>
          <a:p>
            <a:pPr marL="0"/>
            <a:endParaRPr lang="en-US" sz="20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3A43FE0-76ED-3533-58C1-A801FB607E0F}"/>
              </a:ext>
            </a:extLst>
          </p:cNvPr>
          <p:cNvSpPr txBox="1"/>
          <p:nvPr/>
        </p:nvSpPr>
        <p:spPr>
          <a:xfrm>
            <a:off x="8451604" y="1412489"/>
            <a:ext cx="3197701" cy="4363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Job title progression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    Junior →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       Senior →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          Architect</a:t>
            </a:r>
          </a:p>
        </p:txBody>
      </p:sp>
    </p:spTree>
    <p:extLst>
      <p:ext uri="{BB962C8B-B14F-4D97-AF65-F5344CB8AC3E}">
        <p14:creationId xmlns:p14="http://schemas.microsoft.com/office/powerpoint/2010/main" val="1042922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3B090-BB80-5FBF-995E-FEA1342FB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90E4F-A28C-FBDB-CF10-B4E11A23E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Abstraction Is Choosing </a:t>
            </a:r>
            <a:br>
              <a:rPr lang="en-US" dirty="0"/>
            </a:br>
            <a:r>
              <a:rPr lang="en-US" dirty="0"/>
              <a:t>What Not to Care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A999C-C1C3-E71D-0818-DE9D8640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1808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Without Abstraction</a:t>
            </a: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dirty="0"/>
              <a:t>Every detail is visible everywhere</a:t>
            </a:r>
            <a:br>
              <a:rPr lang="en-US" dirty="0"/>
            </a:br>
            <a:r>
              <a:rPr lang="en-US" dirty="0"/>
              <a:t>   ↓</a:t>
            </a:r>
          </a:p>
          <a:p>
            <a:pPr marL="0" indent="0">
              <a:buNone/>
            </a:pPr>
            <a:r>
              <a:rPr lang="en-US" dirty="0"/>
              <a:t>More things to think about</a:t>
            </a:r>
          </a:p>
          <a:p>
            <a:pPr marL="0" indent="0">
              <a:buNone/>
            </a:pPr>
            <a:r>
              <a:rPr lang="en-US" dirty="0"/>
              <a:t>   ↓</a:t>
            </a:r>
          </a:p>
          <a:p>
            <a:pPr marL="0" indent="0">
              <a:buNone/>
            </a:pPr>
            <a:r>
              <a:rPr lang="en-US" dirty="0"/>
              <a:t>Harder to change safely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F529B8F-0CA7-8DE9-0DBB-574A70B8555B}"/>
              </a:ext>
            </a:extLst>
          </p:cNvPr>
          <p:cNvSpPr txBox="1">
            <a:spLocks/>
          </p:cNvSpPr>
          <p:nvPr/>
        </p:nvSpPr>
        <p:spPr>
          <a:xfrm>
            <a:off x="6652845" y="2141537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dirty="0"/>
              <a:t>With Abstraction</a:t>
            </a: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dirty="0"/>
              <a:t>Important ideas are </a:t>
            </a:r>
            <a:r>
              <a:rPr lang="en-US" i="1" dirty="0"/>
              <a:t>visible and</a:t>
            </a:r>
          </a:p>
          <a:p>
            <a:pPr marL="0" indent="0">
              <a:buNone/>
            </a:pPr>
            <a:r>
              <a:rPr lang="en-US" dirty="0"/>
              <a:t>unimportant details are </a:t>
            </a:r>
            <a:r>
              <a:rPr lang="en-US" i="1" dirty="0"/>
              <a:t>hidden</a:t>
            </a:r>
          </a:p>
          <a:p>
            <a:pPr marL="0" indent="0">
              <a:buNone/>
            </a:pPr>
            <a:r>
              <a:rPr lang="en-US" dirty="0"/>
              <a:t>   ↓</a:t>
            </a:r>
          </a:p>
          <a:p>
            <a:pPr marL="0" indent="0">
              <a:buNone/>
            </a:pPr>
            <a:r>
              <a:rPr lang="en-US" dirty="0"/>
              <a:t>Fewer things to think about</a:t>
            </a:r>
          </a:p>
          <a:p>
            <a:pPr marL="0" indent="0">
              <a:buNone/>
            </a:pPr>
            <a:r>
              <a:rPr lang="en-US" dirty="0"/>
              <a:t>   ↓</a:t>
            </a:r>
          </a:p>
          <a:p>
            <a:pPr marL="0" indent="0">
              <a:buNone/>
            </a:pPr>
            <a:r>
              <a:rPr lang="en-US" dirty="0"/>
              <a:t>Changes stay localized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80F9B37-4C29-C88F-98C2-AB248C1E039C}"/>
              </a:ext>
            </a:extLst>
          </p:cNvPr>
          <p:cNvCxnSpPr/>
          <p:nvPr/>
        </p:nvCxnSpPr>
        <p:spPr>
          <a:xfrm>
            <a:off x="6096000" y="2215662"/>
            <a:ext cx="0" cy="34348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11326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5DF5-CB1C-E8F5-5D75-F4A338B3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722EA5AA-FCE9-0A78-B7E5-041C8B2B54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2000"/>
                    </a14:imgEffect>
                    <a14:imgEffect>
                      <a14:brightnessContrast bright="31000" contrast="10000"/>
                    </a14:imgEffect>
                  </a14:imgLayer>
                </a14:imgProps>
              </a:ext>
            </a:extLst>
          </a:blip>
          <a:srcRect l="9760" t="8242" r="10200"/>
          <a:stretch>
            <a:fillRect/>
          </a:stretch>
        </p:blipFill>
        <p:spPr bwMode="auto">
          <a:xfrm>
            <a:off x="4147401" y="661181"/>
            <a:ext cx="3392882" cy="5844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75405C-AF38-6D63-1FA8-177DC823FB93}"/>
              </a:ext>
            </a:extLst>
          </p:cNvPr>
          <p:cNvSpPr txBox="1"/>
          <p:nvPr/>
        </p:nvSpPr>
        <p:spPr>
          <a:xfrm rot="5400000">
            <a:off x="5042096" y="3294855"/>
            <a:ext cx="60983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Korean War Veterans Memorial, 1995</a:t>
            </a:r>
          </a:p>
          <a:p>
            <a:r>
              <a:rPr lang="en-US" sz="16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Frank Gaylord</a:t>
            </a:r>
            <a:endParaRPr lang="en-US" sz="1600" i="1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r>
              <a:rPr lang="en-US" sz="16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Washington, DC</a:t>
            </a:r>
            <a:endParaRPr lang="en-US" sz="1600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295E6B-C09E-7EAE-E25D-0992BA921EC9}"/>
              </a:ext>
            </a:extLst>
          </p:cNvPr>
          <p:cNvSpPr txBox="1"/>
          <p:nvPr/>
        </p:nvSpPr>
        <p:spPr>
          <a:xfrm rot="5400000">
            <a:off x="9046698" y="2564508"/>
            <a:ext cx="46376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941488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D4A89-27BD-6AA4-C9DB-534FF75A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F1CC6707-E4CD-69C0-E6C4-B3A7237876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3547494" y="661181"/>
            <a:ext cx="4311841" cy="5774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B9F692-4BA5-56CC-7D38-117568EAD707}"/>
              </a:ext>
            </a:extLst>
          </p:cNvPr>
          <p:cNvSpPr txBox="1"/>
          <p:nvPr/>
        </p:nvSpPr>
        <p:spPr>
          <a:xfrm rot="5400000">
            <a:off x="5546188" y="3294855"/>
            <a:ext cx="60983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 Walking Man, 1960</a:t>
            </a:r>
          </a:p>
          <a:p>
            <a:r>
              <a:rPr lang="en-US" sz="16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Alberto Giacometti</a:t>
            </a:r>
            <a:endParaRPr lang="en-US" sz="1600" i="1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r>
              <a:rPr lang="en-US" sz="16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Museum of Modern Art (MoMA), New York</a:t>
            </a:r>
            <a:endParaRPr lang="en-US" sz="1600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967EC0-42CF-A5DA-21C4-B0A3A130453D}"/>
              </a:ext>
            </a:extLst>
          </p:cNvPr>
          <p:cNvSpPr txBox="1"/>
          <p:nvPr/>
        </p:nvSpPr>
        <p:spPr>
          <a:xfrm rot="5400000">
            <a:off x="9046698" y="2564508"/>
            <a:ext cx="46376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127762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DA8C8F3F-A9B9-E02F-F5D9-34611654FD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5479" y="661181"/>
            <a:ext cx="4635871" cy="5774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02D64C-AA55-A6D8-F232-6D902F31667B}"/>
              </a:ext>
            </a:extLst>
          </p:cNvPr>
          <p:cNvSpPr txBox="1"/>
          <p:nvPr/>
        </p:nvSpPr>
        <p:spPr>
          <a:xfrm rot="5400000">
            <a:off x="5546188" y="3294855"/>
            <a:ext cx="60983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Unique Forms of Continuity in Space (1913)</a:t>
            </a:r>
          </a:p>
          <a:p>
            <a:r>
              <a:rPr lang="en-US" sz="16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Umberto Boccioni</a:t>
            </a:r>
            <a:endParaRPr lang="en-US" sz="1600" i="1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r>
              <a:rPr lang="en-US" sz="16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Museum of Modern Art (MoMA), New York</a:t>
            </a:r>
            <a:endParaRPr lang="en-US" sz="16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C2DC7-8148-0C78-E599-334C472D3299}"/>
              </a:ext>
            </a:extLst>
          </p:cNvPr>
          <p:cNvSpPr txBox="1"/>
          <p:nvPr/>
        </p:nvSpPr>
        <p:spPr>
          <a:xfrm rot="5400000">
            <a:off x="9046698" y="2564508"/>
            <a:ext cx="46376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1505704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40620-A9FF-29A0-04D3-7D46E1EC8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Abstraction Is Choosing </a:t>
            </a:r>
            <a:br>
              <a:rPr lang="en-US" dirty="0"/>
            </a:br>
            <a:r>
              <a:rPr lang="en-US" dirty="0"/>
              <a:t>What Not to Care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FE8DC-50FD-5CF0-4931-45ABC7DBC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1808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Without Abstraction</a:t>
            </a: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dirty="0"/>
              <a:t>Every detail is visible everywhere</a:t>
            </a:r>
            <a:br>
              <a:rPr lang="en-US" dirty="0"/>
            </a:br>
            <a:r>
              <a:rPr lang="en-US" dirty="0"/>
              <a:t>   ↓</a:t>
            </a:r>
          </a:p>
          <a:p>
            <a:pPr marL="0" indent="0">
              <a:buNone/>
            </a:pPr>
            <a:r>
              <a:rPr lang="en-US" dirty="0"/>
              <a:t>More things to think about</a:t>
            </a:r>
          </a:p>
          <a:p>
            <a:pPr marL="0" indent="0">
              <a:buNone/>
            </a:pPr>
            <a:r>
              <a:rPr lang="en-US" dirty="0"/>
              <a:t>   ↓</a:t>
            </a:r>
          </a:p>
          <a:p>
            <a:pPr marL="0" indent="0">
              <a:buNone/>
            </a:pPr>
            <a:r>
              <a:rPr lang="en-US" dirty="0"/>
              <a:t>Harder to change safely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E17B7FB-4C7D-3B28-05BB-B3294A164B75}"/>
              </a:ext>
            </a:extLst>
          </p:cNvPr>
          <p:cNvSpPr txBox="1">
            <a:spLocks/>
          </p:cNvSpPr>
          <p:nvPr/>
        </p:nvSpPr>
        <p:spPr>
          <a:xfrm>
            <a:off x="6652845" y="2141537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dirty="0"/>
              <a:t>With Abstraction</a:t>
            </a: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dirty="0"/>
              <a:t>Important ideas are </a:t>
            </a:r>
            <a:r>
              <a:rPr lang="en-US" i="1" dirty="0"/>
              <a:t>visible</a:t>
            </a:r>
          </a:p>
          <a:p>
            <a:pPr marL="0" indent="0">
              <a:buNone/>
            </a:pPr>
            <a:r>
              <a:rPr lang="en-US" dirty="0"/>
              <a:t>Unimportant details are </a:t>
            </a:r>
            <a:r>
              <a:rPr lang="en-US" i="1" dirty="0"/>
              <a:t>hidden</a:t>
            </a:r>
          </a:p>
          <a:p>
            <a:pPr marL="0" indent="0">
              <a:buNone/>
            </a:pPr>
            <a:r>
              <a:rPr lang="en-US" dirty="0"/>
              <a:t>   ↓</a:t>
            </a:r>
          </a:p>
          <a:p>
            <a:pPr marL="0" indent="0">
              <a:buNone/>
            </a:pPr>
            <a:r>
              <a:rPr lang="en-US" dirty="0"/>
              <a:t>Fewer things to think about</a:t>
            </a:r>
          </a:p>
          <a:p>
            <a:pPr marL="0" indent="0">
              <a:buNone/>
            </a:pPr>
            <a:r>
              <a:rPr lang="en-US"/>
              <a:t>   ↓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Changes stay localized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92D8CA-66C8-FB52-BB21-1A2B8B071F48}"/>
              </a:ext>
            </a:extLst>
          </p:cNvPr>
          <p:cNvCxnSpPr/>
          <p:nvPr/>
        </p:nvCxnSpPr>
        <p:spPr>
          <a:xfrm>
            <a:off x="6096000" y="2215662"/>
            <a:ext cx="0" cy="34348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8831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06C635-62FA-AAE1-0D71-997762D7E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What you </a:t>
            </a:r>
            <a:r>
              <a:rPr lang="en-US" sz="4000" i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 not</a:t>
            </a: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see is the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F536-C49D-0841-79DE-FE6DBE118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0855" y="1412489"/>
            <a:ext cx="3427283" cy="436384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dirty="0"/>
              <a:t>Every abstraction hides or eliminates irrelevant information.</a:t>
            </a:r>
          </a:p>
          <a:p>
            <a:r>
              <a:rPr lang="en-US" sz="2000" dirty="0"/>
              <a:t>In other words, good design discards the </a:t>
            </a:r>
            <a:r>
              <a:rPr lang="en-US" sz="2000" i="1" dirty="0"/>
              <a:t>right</a:t>
            </a:r>
            <a:r>
              <a:rPr lang="en-US" sz="2000" dirty="0"/>
              <a:t> details.</a:t>
            </a:r>
          </a:p>
          <a:p>
            <a:r>
              <a:rPr lang="en-US" sz="2000" dirty="0"/>
              <a:t>Bad design discards the wrong ones—or none at all.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801EA5B-239C-B5B9-180D-57F9F95A9EC2}"/>
              </a:ext>
            </a:extLst>
          </p:cNvPr>
          <p:cNvSpPr txBox="1"/>
          <p:nvPr/>
        </p:nvSpPr>
        <p:spPr>
          <a:xfrm>
            <a:off x="8451604" y="1412489"/>
            <a:ext cx="3197701" cy="4363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1" dirty="0"/>
              <a:t>Abstraction is selective blindness.</a:t>
            </a:r>
          </a:p>
        </p:txBody>
      </p:sp>
    </p:spTree>
    <p:extLst>
      <p:ext uri="{BB962C8B-B14F-4D97-AF65-F5344CB8AC3E}">
        <p14:creationId xmlns:p14="http://schemas.microsoft.com/office/powerpoint/2010/main" val="1565545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310FC-C51C-6247-5D54-EBB3EB43A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Abstraction Comparison: The Linux File System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20A16-FB2A-1456-B7E6-B67596F22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1165"/>
            <a:ext cx="549226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The Actual Linux API…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 open("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data.txt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", O_RDONLY);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read(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buffer, 4096);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write(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buffer, 4096);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close(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DAD1ED-0B5F-0E57-7F54-7865978E790B}"/>
              </a:ext>
            </a:extLst>
          </p:cNvPr>
          <p:cNvSpPr txBox="1"/>
          <p:nvPr/>
        </p:nvSpPr>
        <p:spPr>
          <a:xfrm>
            <a:off x="838200" y="3733947"/>
            <a:ext cx="28897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it abstracts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Persistent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Sequential &amp; random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Durability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Naming (paths)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8E12CB-25ED-C2E2-529D-B925704C6481}"/>
              </a:ext>
            </a:extLst>
          </p:cNvPr>
          <p:cNvSpPr txBox="1"/>
          <p:nvPr/>
        </p:nvSpPr>
        <p:spPr>
          <a:xfrm>
            <a:off x="3446585" y="3733947"/>
            <a:ext cx="26494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it hides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Disk blocks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SSD vs HDD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Caching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Journaling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Network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Failure recovery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FBD8A94-4D6C-09F8-0A23-D0E866F19A33}"/>
              </a:ext>
            </a:extLst>
          </p:cNvPr>
          <p:cNvSpPr txBox="1">
            <a:spLocks/>
          </p:cNvSpPr>
          <p:nvPr/>
        </p:nvSpPr>
        <p:spPr>
          <a:xfrm>
            <a:off x="6559062" y="1591165"/>
            <a:ext cx="54922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Hypothetical Bad Abstraction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int disk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openDisk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(0);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int block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allocateBlock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(disk);</a:t>
            </a:r>
          </a:p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writeBlock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(disk, block, buffer);</a:t>
            </a:r>
          </a:p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flushCache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(disk);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1BB284-69B5-EC15-43ED-2C516E87FBFE}"/>
              </a:ext>
            </a:extLst>
          </p:cNvPr>
          <p:cNvSpPr txBox="1"/>
          <p:nvPr/>
        </p:nvSpPr>
        <p:spPr>
          <a:xfrm>
            <a:off x="6559062" y="3733947"/>
            <a:ext cx="224496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What it exposes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Block sizes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Disk 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Caching policy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Storage hardware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Write ordering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5E4ECB-26B1-41F9-5C6B-48482D03276E}"/>
              </a:ext>
            </a:extLst>
          </p:cNvPr>
          <p:cNvSpPr txBox="1"/>
          <p:nvPr/>
        </p:nvSpPr>
        <p:spPr>
          <a:xfrm>
            <a:off x="8938847" y="3737672"/>
            <a:ext cx="311247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What it forces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program to manage storage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Widespread changes when hardware 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 cognitive load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Fragile code</a:t>
            </a:r>
          </a:p>
        </p:txBody>
      </p:sp>
    </p:spTree>
    <p:extLst>
      <p:ext uri="{BB962C8B-B14F-4D97-AF65-F5344CB8AC3E}">
        <p14:creationId xmlns:p14="http://schemas.microsoft.com/office/powerpoint/2010/main" val="20658567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C7413-F5D7-45AF-F97E-F21CA92A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ADEB1-4C26-459E-4274-C3D5243D2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Abstraction Comparison: The Linux File System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A548B-94E0-F297-6814-F43A53040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1165"/>
            <a:ext cx="549226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The Actual Linux API…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 open("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data.txt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", O_RDONLY);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read(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buffer, 4096);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write(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buffer, 4096);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close(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0222B0-C097-7B9D-C24D-FD15FEE4EDD8}"/>
              </a:ext>
            </a:extLst>
          </p:cNvPr>
          <p:cNvSpPr txBox="1"/>
          <p:nvPr/>
        </p:nvSpPr>
        <p:spPr>
          <a:xfrm>
            <a:off x="838200" y="3733947"/>
            <a:ext cx="28897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it abstracts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Persistent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Sequential &amp; random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Durability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Naming (paths)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9E40BA-BC98-E071-BDA2-0AF7365C4B6E}"/>
              </a:ext>
            </a:extLst>
          </p:cNvPr>
          <p:cNvSpPr txBox="1"/>
          <p:nvPr/>
        </p:nvSpPr>
        <p:spPr>
          <a:xfrm>
            <a:off x="3446585" y="3733947"/>
            <a:ext cx="26494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it hides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Disk blocks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SSD vs HDD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Caching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Journaling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Network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Failure recovery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AA2398-634C-CF71-FDA1-E9479CDBD0BF}"/>
              </a:ext>
            </a:extLst>
          </p:cNvPr>
          <p:cNvSpPr txBox="1"/>
          <p:nvPr/>
        </p:nvSpPr>
        <p:spPr>
          <a:xfrm>
            <a:off x="6846278" y="1591165"/>
            <a:ext cx="424375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>
                <a:solidFill>
                  <a:srgbClr val="0E0E0E"/>
                </a:solidFill>
                <a:effectLst/>
                <a:latin typeface="Helvetica Neue" panose="02000503000000020004" pitchFamily="2" charset="0"/>
              </a:rPr>
              <a:t>Good abstractions let you reason about </a:t>
            </a:r>
            <a:r>
              <a:rPr lang="en-US" sz="3200" b="1" i="1" dirty="0">
                <a:solidFill>
                  <a:srgbClr val="0E0E0E"/>
                </a:solidFill>
                <a:effectLst/>
                <a:latin typeface="Helvetica Neue" panose="02000503000000020004" pitchFamily="2" charset="0"/>
              </a:rPr>
              <a:t>what</a:t>
            </a:r>
            <a:r>
              <a:rPr lang="en-US" sz="3200" b="1" dirty="0">
                <a:solidFill>
                  <a:srgbClr val="0E0E0E"/>
                </a:solidFill>
                <a:effectLst/>
                <a:latin typeface="Helvetica Neue" panose="02000503000000020004" pitchFamily="2" charset="0"/>
              </a:rPr>
              <a:t> you want to accomplish…</a:t>
            </a:r>
          </a:p>
          <a:p>
            <a:pPr>
              <a:buNone/>
            </a:pPr>
            <a:r>
              <a:rPr lang="en-US" sz="3200" b="1" dirty="0">
                <a:solidFill>
                  <a:srgbClr val="0E0E0E"/>
                </a:solidFill>
                <a:effectLst/>
                <a:latin typeface="Helvetica Neue" panose="02000503000000020004" pitchFamily="2" charset="0"/>
              </a:rPr>
              <a:t>not </a:t>
            </a:r>
            <a:r>
              <a:rPr lang="en-US" sz="3200" b="1" i="1" dirty="0">
                <a:solidFill>
                  <a:srgbClr val="0E0E0E"/>
                </a:solidFill>
                <a:effectLst/>
                <a:latin typeface="Helvetica Neue" panose="02000503000000020004" pitchFamily="2" charset="0"/>
              </a:rPr>
              <a:t>how</a:t>
            </a:r>
            <a:r>
              <a:rPr lang="en-US" sz="3200" b="1" dirty="0">
                <a:solidFill>
                  <a:srgbClr val="0E0E0E"/>
                </a:solidFill>
                <a:effectLst/>
                <a:latin typeface="Helvetica Neue" panose="02000503000000020004" pitchFamily="2" charset="0"/>
              </a:rPr>
              <a:t> it is achieved.</a:t>
            </a:r>
          </a:p>
        </p:txBody>
      </p:sp>
    </p:spTree>
    <p:extLst>
      <p:ext uri="{BB962C8B-B14F-4D97-AF65-F5344CB8AC3E}">
        <p14:creationId xmlns:p14="http://schemas.microsoft.com/office/powerpoint/2010/main" val="19491886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F1E05A-7539-5AB7-1380-5D5BA5D0E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693" y="1030406"/>
            <a:ext cx="8147713" cy="30812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“Any fool can write code that a computer can understand. Good programmers write code that humans can understand.”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32185F-D62B-C448-E58E-9E2B441F0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59943" y="5171093"/>
            <a:ext cx="9078628" cy="8606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Martin Fowler</a:t>
            </a:r>
            <a:endParaRPr lang="en-US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9459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0D926-84AC-D83A-C18E-604B137D1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E0698-03E1-7AF5-EEEC-6F5871B629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SWE 4743: </a:t>
            </a:r>
            <a:br>
              <a:rPr lang="en-US" dirty="0"/>
            </a:br>
            <a:r>
              <a:rPr lang="en-US" dirty="0"/>
              <a:t>Object Oriented Design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55AB69-0763-BDB8-521C-395E81114A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Jeff Adkisson</a:t>
            </a:r>
          </a:p>
          <a:p>
            <a:r>
              <a:rPr lang="en-US" dirty="0"/>
              <a:t>Monday, Wednesday at 6:30 PM</a:t>
            </a:r>
            <a:br>
              <a:rPr lang="en-US" dirty="0"/>
            </a:br>
            <a:r>
              <a:rPr lang="en-US" dirty="0"/>
              <a:t>Architecture, 175</a:t>
            </a:r>
          </a:p>
        </p:txBody>
      </p:sp>
    </p:spTree>
    <p:extLst>
      <p:ext uri="{BB962C8B-B14F-4D97-AF65-F5344CB8AC3E}">
        <p14:creationId xmlns:p14="http://schemas.microsoft.com/office/powerpoint/2010/main" val="2565009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9507</TotalTime>
  <Words>1004</Words>
  <Application>Microsoft Macintosh PowerPoint</Application>
  <PresentationFormat>Widescreen</PresentationFormat>
  <Paragraphs>173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.AppleSystemUIFont</vt:lpstr>
      <vt:lpstr>Aptos</vt:lpstr>
      <vt:lpstr>Aptos Display</vt:lpstr>
      <vt:lpstr>Arial</vt:lpstr>
      <vt:lpstr>Calibri</vt:lpstr>
      <vt:lpstr>Consolas</vt:lpstr>
      <vt:lpstr>Helvetica Neue</vt:lpstr>
      <vt:lpstr>Office Theme</vt:lpstr>
      <vt:lpstr>SWE 4743:  Object Oriented Design </vt:lpstr>
      <vt:lpstr>“Good design is actually a lot harder to notice than poor design, in part because good designs fit our needs so well that the design is invisible.</vt:lpstr>
      <vt:lpstr>PowerPoint Presentation</vt:lpstr>
      <vt:lpstr>Code makes things work.  Design makes things last.</vt:lpstr>
      <vt:lpstr>Why do so many successful systems still get rewritten?</vt:lpstr>
      <vt:lpstr>Design Is About Change, Not Features</vt:lpstr>
      <vt:lpstr>Your most important reader is  future developers, not the compiler.</vt:lpstr>
      <vt:lpstr>Good design limits what you can do…  on purpose!</vt:lpstr>
      <vt:lpstr>The Tragedy of “Just One More If”</vt:lpstr>
      <vt:lpstr>Design distinguishes programmers  from software engineers.</vt:lpstr>
      <vt:lpstr>Abstraction Is Choosing  What Not to Care About</vt:lpstr>
      <vt:lpstr>PowerPoint Presentation</vt:lpstr>
      <vt:lpstr>PowerPoint Presentation</vt:lpstr>
      <vt:lpstr>PowerPoint Presentation</vt:lpstr>
      <vt:lpstr>Abstraction Is Choosing  What Not to Care About</vt:lpstr>
      <vt:lpstr>What you do not see is the point</vt:lpstr>
      <vt:lpstr>Abstraction Comparison: The Linux File System API</vt:lpstr>
      <vt:lpstr>Abstraction Comparison: The Linux File System API</vt:lpstr>
      <vt:lpstr>“Any fool can write code that a computer can understand. Good programmers write code that humans can understand.”</vt:lpstr>
      <vt:lpstr>SWE 4743:  Object Oriented Design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Adkisson</dc:creator>
  <cp:lastModifiedBy>Jeff Adkisson</cp:lastModifiedBy>
  <cp:revision>127</cp:revision>
  <dcterms:created xsi:type="dcterms:W3CDTF">2018-02-20T23:25:10Z</dcterms:created>
  <dcterms:modified xsi:type="dcterms:W3CDTF">2026-01-13T22:04:01Z</dcterms:modified>
</cp:coreProperties>
</file>