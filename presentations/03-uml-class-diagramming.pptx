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78" r:id="rId12"/>
    <p:sldId id="279" r:id="rId13"/>
    <p:sldId id="280" r:id="rId14"/>
    <p:sldId id="281" r:id="rId15"/>
    <p:sldId id="266" r:id="rId16"/>
    <p:sldId id="267" r:id="rId17"/>
    <p:sldId id="277" r:id="rId18"/>
    <p:sldId id="268" r:id="rId19"/>
    <p:sldId id="269" r:id="rId20"/>
    <p:sldId id="270" r:id="rId21"/>
    <p:sldId id="271" r:id="rId22"/>
    <p:sldId id="272" r:id="rId23"/>
    <p:sldId id="282" r:id="rId24"/>
    <p:sldId id="283" r:id="rId25"/>
    <p:sldId id="273" r:id="rId26"/>
    <p:sldId id="284" r:id="rId27"/>
    <p:sldId id="274" r:id="rId28"/>
    <p:sldId id="276" r:id="rId29"/>
    <p:sldId id="275"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76"/>
    <p:restoredTop sz="76797"/>
  </p:normalViewPr>
  <p:slideViewPr>
    <p:cSldViewPr snapToGrid="0">
      <p:cViewPr>
        <p:scale>
          <a:sx n="181" d="100"/>
          <a:sy n="181" d="100"/>
        </p:scale>
        <p:origin x="-4776" y="-23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33D4BE-7DE6-614E-92F9-C07E4CF9ED70}" type="datetimeFigureOut">
              <a:rPr lang="en-US" smtClean="0"/>
              <a:t>1/26/26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35B7D1-90A2-F241-899B-001A8E157D0C}" type="slidenum">
              <a:rPr lang="en-US" smtClean="0"/>
              <a:t>‹#›</a:t>
            </a:fld>
            <a:endParaRPr lang="en-US" dirty="0"/>
          </a:p>
        </p:txBody>
      </p:sp>
    </p:spTree>
    <p:extLst>
      <p:ext uri="{BB962C8B-B14F-4D97-AF65-F5344CB8AC3E}">
        <p14:creationId xmlns:p14="http://schemas.microsoft.com/office/powerpoint/2010/main" val="3477937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Open by setting expectations. This lecture is not about syntax memorization. Students already know how to read documentation. The goal here is to show why class diagrams are valuable for thinking about design, communicating ideas, and defending decisions.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Emphasize that class diagrams are static, not behavioral. They do not show execution flow. Instead, they show what exists in the system and how pieces relate structurally.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Talk about the cost of discovering design problems late. Diagrams make you decide who owns what, who depends on whom, and what abstractions exist before code hardens.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Code contains history, edge cases, and implementation details. Diagrams strip that away so a group can focus on structure and intent.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Explain that structural dependencies represent long-lived relationships. These show what objects know about and rely on over time, not just during a single method call.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Dense or tangled structures are easier to spot in diagrams than in code. This is often where students first notice over-coupling or god classes.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Clarify that not all dependencies should be fields. UML dependency arrows help distinguish temporary usage from structural ownership.</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Ask students to consider: does this class really need to own this dependency, or does it only need it temporarily?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Reinforce OO principles here. Interfaces describe capability without commitment. Diagrams make this distinction obvious and visible.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30A00-76B5-07BF-E2D8-9B6572ECF8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C80496-6A01-0C63-109B-9701C726B70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749104B-2CC7-8993-882F-19AB3F074B97}"/>
              </a:ext>
            </a:extLst>
          </p:cNvPr>
          <p:cNvSpPr>
            <a:spLocks noGrp="1"/>
          </p:cNvSpPr>
          <p:nvPr>
            <p:ph type="body" sz="quarter" idx="3"/>
          </p:nvPr>
        </p:nvSpPr>
        <p:spPr/>
        <p:txBody>
          <a:bodyPr/>
          <a:lstStyle/>
          <a:p>
            <a:r>
              <a:rPr dirty="0"/>
              <a:t>Reinforce OO principles here. Interfaces describe capability without commitment. Diagrams make this distinction obvious and visible.</a:t>
            </a:r>
          </a:p>
        </p:txBody>
      </p:sp>
      <p:sp>
        <p:nvSpPr>
          <p:cNvPr id="4" name="Slide Number Placeholder 3">
            <a:extLst>
              <a:ext uri="{FF2B5EF4-FFF2-40B4-BE49-F238E27FC236}">
                <a16:creationId xmlns:a16="http://schemas.microsoft.com/office/drawing/2014/main" id="{985780CD-101D-FE75-CD92-3F3CF24AD242}"/>
              </a:ext>
            </a:extLst>
          </p:cNvPr>
          <p:cNvSpPr>
            <a:spLocks noGrp="1"/>
          </p:cNvSpPr>
          <p:nvPr>
            <p:ph type="sldNum" sz="quarter" idx="5"/>
          </p:nvPr>
        </p:nvSpPr>
        <p:spPr/>
      </p:sp>
    </p:spTree>
    <p:extLst>
      <p:ext uri="{BB962C8B-B14F-4D97-AF65-F5344CB8AC3E}">
        <p14:creationId xmlns:p14="http://schemas.microsoft.com/office/powerpoint/2010/main" val="29740632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Patterns like Strategy and Observer become much clearer when interfaces are visible and not hidden behind concrete implementations.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Stress that good diagrams are selective. You diagram what matters for the decision you are discussing, not everything that exists.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Reading code is serial and slow. Diagrams allow parallel understanding and quicker agreement or disagreement during reviews.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Talk about using diagrams in PRs or design reviews to explain why something is built a certain way instead of arguing line-by-line in code.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Each class box invites questions. Too many relationships often indicate too many responsibilities.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F1192-0D9F-61E9-DEC4-FF2C3E53DC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393C6F-0FE6-5336-CAA6-C5EB15B6576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DE3B8D3-5AD6-4CE4-4786-F5A92ADD7FB1}"/>
              </a:ext>
            </a:extLst>
          </p:cNvPr>
          <p:cNvSpPr>
            <a:spLocks noGrp="1"/>
          </p:cNvSpPr>
          <p:nvPr>
            <p:ph type="body" sz="quarter" idx="3"/>
          </p:nvPr>
        </p:nvSpPr>
        <p:spPr/>
        <p:txBody>
          <a:bodyPr/>
          <a:lstStyle/>
          <a:p>
            <a:r>
              <a:rPr dirty="0"/>
              <a:t>Each class box invites questions. Too many relationships often indicate too many responsibilities.</a:t>
            </a:r>
          </a:p>
        </p:txBody>
      </p:sp>
      <p:sp>
        <p:nvSpPr>
          <p:cNvPr id="4" name="Slide Number Placeholder 3">
            <a:extLst>
              <a:ext uri="{FF2B5EF4-FFF2-40B4-BE49-F238E27FC236}">
                <a16:creationId xmlns:a16="http://schemas.microsoft.com/office/drawing/2014/main" id="{FA4091E8-89D6-8252-FE6B-2DD416B3C672}"/>
              </a:ext>
            </a:extLst>
          </p:cNvPr>
          <p:cNvSpPr>
            <a:spLocks noGrp="1"/>
          </p:cNvSpPr>
          <p:nvPr>
            <p:ph type="sldNum" sz="quarter" idx="5"/>
          </p:nvPr>
        </p:nvSpPr>
        <p:spPr/>
      </p:sp>
    </p:spTree>
    <p:extLst>
      <p:ext uri="{BB962C8B-B14F-4D97-AF65-F5344CB8AC3E}">
        <p14:creationId xmlns:p14="http://schemas.microsoft.com/office/powerpoint/2010/main" val="18963121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472743-63F3-A32A-A240-6EA99478CA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CB0F5F-E816-E3F1-E794-0EDE728B716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C00BCAC-645E-828A-ABD3-CE7D7CE71D97}"/>
              </a:ext>
            </a:extLst>
          </p:cNvPr>
          <p:cNvSpPr>
            <a:spLocks noGrp="1"/>
          </p:cNvSpPr>
          <p:nvPr>
            <p:ph type="body" sz="quarter" idx="3"/>
          </p:nvPr>
        </p:nvSpPr>
        <p:spPr/>
        <p:txBody>
          <a:bodyPr/>
          <a:lstStyle/>
          <a:p>
            <a:r>
              <a:rPr dirty="0"/>
              <a:t>Whiteboard or diagram tools allow experimentation without refactoring code. This encourages exploration instead of premature commitment.</a:t>
            </a:r>
          </a:p>
        </p:txBody>
      </p:sp>
      <p:sp>
        <p:nvSpPr>
          <p:cNvPr id="4" name="Slide Number Placeholder 3">
            <a:extLst>
              <a:ext uri="{FF2B5EF4-FFF2-40B4-BE49-F238E27FC236}">
                <a16:creationId xmlns:a16="http://schemas.microsoft.com/office/drawing/2014/main" id="{D71DBF9E-83E8-BD49-67EE-952734A75A6A}"/>
              </a:ext>
            </a:extLst>
          </p:cNvPr>
          <p:cNvSpPr>
            <a:spLocks noGrp="1"/>
          </p:cNvSpPr>
          <p:nvPr>
            <p:ph type="sldNum" sz="quarter" idx="5"/>
          </p:nvPr>
        </p:nvSpPr>
        <p:spPr/>
      </p:sp>
    </p:spTree>
    <p:extLst>
      <p:ext uri="{BB962C8B-B14F-4D97-AF65-F5344CB8AC3E}">
        <p14:creationId xmlns:p14="http://schemas.microsoft.com/office/powerpoint/2010/main" val="130323261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Whiteboard or diagram tools allow experimentation without refactoring code. This encourages exploration instead of premature commitment.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9308E-4A43-948B-725F-9C18B55A26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340ABD-54B5-A3F7-15BB-0420DBCB74C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8344995-0E3A-736C-F4E3-54BFEF9D341C}"/>
              </a:ext>
            </a:extLst>
          </p:cNvPr>
          <p:cNvSpPr>
            <a:spLocks noGrp="1"/>
          </p:cNvSpPr>
          <p:nvPr>
            <p:ph type="body" sz="quarter" idx="3"/>
          </p:nvPr>
        </p:nvSpPr>
        <p:spPr/>
        <p:txBody>
          <a:bodyPr/>
          <a:lstStyle/>
          <a:p>
            <a:r>
              <a:rPr dirty="0"/>
              <a:t>Whiteboard or diagram tools allow experimentation without refactoring code. This encourages exploration instead of premature commitment.</a:t>
            </a:r>
          </a:p>
        </p:txBody>
      </p:sp>
      <p:sp>
        <p:nvSpPr>
          <p:cNvPr id="4" name="Slide Number Placeholder 3">
            <a:extLst>
              <a:ext uri="{FF2B5EF4-FFF2-40B4-BE49-F238E27FC236}">
                <a16:creationId xmlns:a16="http://schemas.microsoft.com/office/drawing/2014/main" id="{8C809F67-C529-D2F7-A5EC-8AF654EAE5BD}"/>
              </a:ext>
            </a:extLst>
          </p:cNvPr>
          <p:cNvSpPr>
            <a:spLocks noGrp="1"/>
          </p:cNvSpPr>
          <p:nvPr>
            <p:ph type="sldNum" sz="quarter" idx="5"/>
          </p:nvPr>
        </p:nvSpPr>
        <p:spPr/>
      </p:sp>
    </p:spTree>
    <p:extLst>
      <p:ext uri="{BB962C8B-B14F-4D97-AF65-F5344CB8AC3E}">
        <p14:creationId xmlns:p14="http://schemas.microsoft.com/office/powerpoint/2010/main" val="9517048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Even if diagrams drift from code, they often preserve the original intent, which is incredibly valuable context later.</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AC2CE-50EC-6760-3C8B-FC142C8F8C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1AC7C-23EA-C65B-EF2B-0ECA0B9C3CE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34BD9BF-4BDA-73CA-2660-BBF6CD497BC7}"/>
              </a:ext>
            </a:extLst>
          </p:cNvPr>
          <p:cNvSpPr>
            <a:spLocks noGrp="1"/>
          </p:cNvSpPr>
          <p:nvPr>
            <p:ph type="body" sz="quarter" idx="3"/>
          </p:nvPr>
        </p:nvSpPr>
        <p:spPr/>
        <p:txBody>
          <a:bodyPr/>
          <a:lstStyle/>
          <a:p>
            <a:r>
              <a:rPr lang="en-US" dirty="0"/>
              <a:t>Even when diagrams drift from the code, they preserve </a:t>
            </a:r>
            <a:r>
              <a:rPr lang="en-US" b="1" dirty="0"/>
              <a:t>design intent</a:t>
            </a:r>
            <a:r>
              <a:rPr lang="en-US" dirty="0"/>
              <a:t>, which provides critical context for both humans and AI.</a:t>
            </a:r>
          </a:p>
          <a:p>
            <a:r>
              <a:rPr lang="en-US" b="1" dirty="0"/>
              <a:t>Explicit design intent</a:t>
            </a:r>
            <a:endParaRPr lang="en-US" dirty="0"/>
          </a:p>
          <a:p>
            <a:r>
              <a:rPr lang="en-US" dirty="0"/>
              <a:t>Human-readable diagrams encode </a:t>
            </a:r>
            <a:r>
              <a:rPr lang="en-US" i="1" dirty="0"/>
              <a:t>why</a:t>
            </a:r>
            <a:r>
              <a:rPr lang="en-US" dirty="0"/>
              <a:t> a design exists, not just </a:t>
            </a:r>
            <a:r>
              <a:rPr lang="en-US" i="1" dirty="0"/>
              <a:t>how</a:t>
            </a:r>
            <a:r>
              <a:rPr lang="en-US" dirty="0"/>
              <a:t> it is implemented.</a:t>
            </a:r>
          </a:p>
          <a:p>
            <a:r>
              <a:rPr lang="en-US" b="1" dirty="0"/>
              <a:t>Improved AI reasoning</a:t>
            </a:r>
            <a:endParaRPr lang="en-US" dirty="0"/>
          </a:p>
          <a:p>
            <a:r>
              <a:rPr lang="en-US" dirty="0"/>
              <a:t>AI can reason over Mermaid diagrams as structured text, enabling better:</a:t>
            </a:r>
          </a:p>
          <a:p>
            <a:r>
              <a:rPr lang="en-US" dirty="0"/>
              <a:t>Code generation</a:t>
            </a:r>
          </a:p>
          <a:p>
            <a:r>
              <a:rPr lang="en-US" dirty="0"/>
              <a:t>Refactoring suggestions</a:t>
            </a:r>
          </a:p>
          <a:p>
            <a:r>
              <a:rPr lang="en-US" dirty="0"/>
              <a:t>Pattern recognition</a:t>
            </a:r>
          </a:p>
          <a:p>
            <a:r>
              <a:rPr lang="en-US" dirty="0"/>
              <a:t>Design critique</a:t>
            </a:r>
          </a:p>
          <a:p>
            <a:r>
              <a:rPr lang="en-US" b="1" dirty="0"/>
              <a:t>Higher-quality code reviews</a:t>
            </a:r>
            <a:endParaRPr lang="en-US" dirty="0"/>
          </a:p>
          <a:p>
            <a:r>
              <a:rPr lang="en-US" dirty="0"/>
              <a:t>Diagrams give AI (and reviewers) a stable reference point to evaluate whether code changes align with the intended architecture.</a:t>
            </a:r>
          </a:p>
          <a:p>
            <a:r>
              <a:rPr lang="en-US" b="1" dirty="0"/>
              <a:t>Architectural memory</a:t>
            </a:r>
            <a:endParaRPr lang="en-US" dirty="0"/>
          </a:p>
          <a:p>
            <a:r>
              <a:rPr lang="en-US" dirty="0"/>
              <a:t>Diagrams act as a durable record of original design decisions long after the code has evolved.</a:t>
            </a:r>
          </a:p>
          <a:p>
            <a:r>
              <a:rPr lang="en-US" b="1" dirty="0"/>
              <a:t>Shared context for humans and AI</a:t>
            </a:r>
            <a:endParaRPr lang="en-US" dirty="0"/>
          </a:p>
          <a:p>
            <a:r>
              <a:rPr lang="en-US" dirty="0"/>
              <a:t>Mermaid diagrams are versionable, diff-able, and colocated with code—making them a common language for developers </a:t>
            </a:r>
            <a:r>
              <a:rPr lang="en-US" i="1" dirty="0"/>
              <a:t>and</a:t>
            </a:r>
            <a:r>
              <a:rPr lang="en-US" dirty="0"/>
              <a:t> tools.</a:t>
            </a:r>
          </a:p>
        </p:txBody>
      </p:sp>
      <p:sp>
        <p:nvSpPr>
          <p:cNvPr id="4" name="Slide Number Placeholder 3">
            <a:extLst>
              <a:ext uri="{FF2B5EF4-FFF2-40B4-BE49-F238E27FC236}">
                <a16:creationId xmlns:a16="http://schemas.microsoft.com/office/drawing/2014/main" id="{4A1D76DE-F1CE-A68D-0ED8-13A5D1DFFFD7}"/>
              </a:ext>
            </a:extLst>
          </p:cNvPr>
          <p:cNvSpPr>
            <a:spLocks noGrp="1"/>
          </p:cNvSpPr>
          <p:nvPr>
            <p:ph type="sldNum" sz="quarter" idx="5"/>
          </p:nvPr>
        </p:nvSpPr>
        <p:spPr/>
      </p:sp>
    </p:spTree>
    <p:extLst>
      <p:ext uri="{BB962C8B-B14F-4D97-AF65-F5344CB8AC3E}">
        <p14:creationId xmlns:p14="http://schemas.microsoft.com/office/powerpoint/2010/main" val="3042577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End by reinforcing that UML is not bureaucracy. Used lightly and intentionally, it is a powerful tool for designers and developers.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1007533" y="0"/>
            <a:ext cx="7934348"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8" name="Rectangle 7"/>
          <p:cNvSpPr/>
          <p:nvPr/>
        </p:nvSpPr>
        <p:spPr>
          <a:xfrm>
            <a:off x="8941881"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Title 1"/>
          <p:cNvSpPr>
            <a:spLocks noGrp="1"/>
          </p:cNvSpPr>
          <p:nvPr>
            <p:ph type="ctrTitle"/>
          </p:nvPr>
        </p:nvSpPr>
        <p:spPr>
          <a:xfrm>
            <a:off x="2611808" y="3428998"/>
            <a:ext cx="5518066" cy="2268559"/>
          </a:xfrm>
        </p:spPr>
        <p:txBody>
          <a:bodyPr anchor="t">
            <a:normAutofit/>
          </a:bodyPr>
          <a:lstStyle>
            <a:lvl1pPr algn="r">
              <a:defRPr sz="6000"/>
            </a:lvl1pPr>
          </a:lstStyle>
          <a:p>
            <a:r>
              <a:rPr lang="en-US"/>
              <a:t>Click to edit Master title style</a:t>
            </a:r>
            <a:endParaRPr lang="en-US" dirty="0"/>
          </a:p>
        </p:txBody>
      </p:sp>
      <p:sp>
        <p:nvSpPr>
          <p:cNvPr id="3" name="Subtitle 2"/>
          <p:cNvSpPr>
            <a:spLocks noGrp="1"/>
          </p:cNvSpPr>
          <p:nvPr>
            <p:ph type="subTitle" idx="1"/>
          </p:nvPr>
        </p:nvSpPr>
        <p:spPr>
          <a:xfrm>
            <a:off x="2772274" y="2268786"/>
            <a:ext cx="5357600" cy="1160213"/>
          </a:xfrm>
        </p:spPr>
        <p:txBody>
          <a:bodyPr tIns="0" anchor="b">
            <a:normAutofit/>
          </a:bodyPr>
          <a:lstStyle>
            <a:lvl1pPr marL="0" indent="0" algn="r">
              <a:buNone/>
              <a:defRPr sz="1800" b="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8505F29-BBDD-A64F-BEAB-04D7D970F760}" type="datetimeFigureOut">
              <a:rPr lang="en-US" smtClean="0"/>
              <a:t>1/26/26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rIns="45720"/>
          <a:lstStyle/>
          <a:p>
            <a:fld id="{A560558E-0146-AB47-BDE1-06277B295907}" type="slidenum">
              <a:rPr lang="en-US" smtClean="0"/>
              <a:t>‹#›</a:t>
            </a:fld>
            <a:endParaRPr lang="en-US" dirty="0"/>
          </a:p>
        </p:txBody>
      </p:sp>
      <p:sp>
        <p:nvSpPr>
          <p:cNvPr id="13" name="TextBox 12"/>
          <p:cNvSpPr txBox="1"/>
          <p:nvPr/>
        </p:nvSpPr>
        <p:spPr>
          <a:xfrm>
            <a:off x="2191282" y="3262852"/>
            <a:ext cx="415636" cy="461665"/>
          </a:xfrm>
          <a:prstGeom prst="rect">
            <a:avLst/>
          </a:prstGeom>
          <a:noFill/>
        </p:spPr>
        <p:txBody>
          <a:bodyPr wrap="square" rtlCol="0">
            <a:spAutoFit/>
          </a:bodyPr>
          <a:lstStyle/>
          <a:p>
            <a:pPr algn="r"/>
            <a:r>
              <a:rPr lang="en-US" sz="2400" dirty="0">
                <a:solidFill>
                  <a:schemeClr val="accent6"/>
                </a:solidFill>
                <a:latin typeface="Wingdings 3" panose="05040102010807070707" pitchFamily="18" charset="2"/>
              </a:rPr>
              <a:t>z</a:t>
            </a:r>
            <a:endParaRPr lang="en-US" sz="24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27778003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9" name="Rectangle 28"/>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9" name="Rectangle 8"/>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8505F29-BBDD-A64F-BEAB-04D7D970F760}" type="datetimeFigureOut">
              <a:rPr lang="en-US" smtClean="0"/>
              <a:t>1/26/26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560558E-0146-AB47-BDE1-06277B295907}" type="slidenum">
              <a:rPr lang="en-US" smtClean="0"/>
              <a:t>‹#›</a:t>
            </a:fld>
            <a:endParaRPr lang="en-US" dirty="0"/>
          </a:p>
        </p:txBody>
      </p:sp>
      <p:sp>
        <p:nvSpPr>
          <p:cNvPr id="7" name="TextBox 6"/>
          <p:cNvSpPr txBox="1"/>
          <p:nvPr/>
        </p:nvSpPr>
        <p:spPr>
          <a:xfrm>
            <a:off x="2194943" y="641225"/>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26728394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4" name="Rectangle 23"/>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TextBox 10"/>
          <p:cNvSpPr txBox="1"/>
          <p:nvPr/>
        </p:nvSpPr>
        <p:spPr>
          <a:xfrm>
            <a:off x="2191843" y="2962586"/>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09873" y="3147254"/>
            <a:ext cx="7956560" cy="1424746"/>
          </a:xfrm>
        </p:spPr>
        <p:txBody>
          <a:bodyPr anchor="t">
            <a:normAutofit/>
          </a:bodyPr>
          <a:lstStyle>
            <a:lvl1pPr algn="r">
              <a:defRPr sz="3200"/>
            </a:lvl1pPr>
          </a:lstStyle>
          <a:p>
            <a:r>
              <a:rPr lang="en-US"/>
              <a:t>Click to edit Master title style</a:t>
            </a:r>
            <a:endParaRPr lang="en-US" dirty="0"/>
          </a:p>
        </p:txBody>
      </p:sp>
      <p:sp>
        <p:nvSpPr>
          <p:cNvPr id="3" name="Text Placeholder 2"/>
          <p:cNvSpPr>
            <a:spLocks noGrp="1"/>
          </p:cNvSpPr>
          <p:nvPr>
            <p:ph type="body" idx="1"/>
          </p:nvPr>
        </p:nvSpPr>
        <p:spPr>
          <a:xfrm>
            <a:off x="2773968" y="2268786"/>
            <a:ext cx="7791931" cy="878468"/>
          </a:xfrm>
        </p:spPr>
        <p:txBody>
          <a:bodyPr tIns="0" anchor="b">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8505F29-BBDD-A64F-BEAB-04D7D970F760}" type="datetimeFigureOut">
              <a:rPr lang="en-US" smtClean="0"/>
              <a:t>1/26/26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560558E-0146-AB47-BDE1-06277B295907}" type="slidenum">
              <a:rPr lang="en-US" smtClean="0"/>
              <a:t>‹#›</a:t>
            </a:fld>
            <a:endParaRPr lang="en-US" dirty="0"/>
          </a:p>
        </p:txBody>
      </p:sp>
    </p:spTree>
    <p:extLst>
      <p:ext uri="{BB962C8B-B14F-4D97-AF65-F5344CB8AC3E}">
        <p14:creationId xmlns:p14="http://schemas.microsoft.com/office/powerpoint/2010/main" val="1320646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6" name="Rectangle 25"/>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7" name="Rectangle 26"/>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609873" y="805817"/>
            <a:ext cx="7950984" cy="10817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2605374" y="2052116"/>
            <a:ext cx="3891960" cy="39978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666636" y="2052114"/>
            <a:ext cx="3894222" cy="399782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8505F29-BBDD-A64F-BEAB-04D7D970F760}" type="datetimeFigureOut">
              <a:rPr lang="en-US" smtClean="0"/>
              <a:t>1/26/26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560558E-0146-AB47-BDE1-06277B295907}" type="slidenum">
              <a:rPr lang="en-US" smtClean="0"/>
              <a:t>‹#›</a:t>
            </a:fld>
            <a:endParaRPr lang="en-US" dirty="0"/>
          </a:p>
        </p:txBody>
      </p:sp>
      <p:sp>
        <p:nvSpPr>
          <p:cNvPr id="10" name="TextBox 9"/>
          <p:cNvSpPr txBox="1"/>
          <p:nvPr/>
        </p:nvSpPr>
        <p:spPr>
          <a:xfrm>
            <a:off x="2196172" y="641223"/>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37254265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0" name="Rectangle 19"/>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1" name="Rectangle 20"/>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TextBox 11"/>
          <p:cNvSpPr txBox="1"/>
          <p:nvPr/>
        </p:nvSpPr>
        <p:spPr>
          <a:xfrm>
            <a:off x="2193650" y="636424"/>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09873" y="805818"/>
            <a:ext cx="7956560" cy="1078348"/>
          </a:xfrm>
        </p:spPr>
        <p:txBody>
          <a:bodyPr/>
          <a:lstStyle/>
          <a:p>
            <a:r>
              <a:rPr lang="en-US"/>
              <a:t>Click to edit Master title style</a:t>
            </a:r>
            <a:endParaRPr lang="en-US" dirty="0"/>
          </a:p>
        </p:txBody>
      </p:sp>
      <p:sp>
        <p:nvSpPr>
          <p:cNvPr id="3" name="Text Placeholder 2"/>
          <p:cNvSpPr>
            <a:spLocks noGrp="1"/>
          </p:cNvSpPr>
          <p:nvPr>
            <p:ph type="body" idx="1"/>
          </p:nvPr>
        </p:nvSpPr>
        <p:spPr>
          <a:xfrm>
            <a:off x="2609285" y="2052115"/>
            <a:ext cx="3896467" cy="713818"/>
          </a:xfrm>
        </p:spPr>
        <p:txBody>
          <a:bodyPr anchor="b">
            <a:noAutofit/>
          </a:bodyPr>
          <a:lstStyle>
            <a:lvl1pPr marL="0" indent="0" algn="l">
              <a:lnSpc>
                <a:spcPct val="100000"/>
              </a:lnSpc>
              <a:buNone/>
              <a:defRPr sz="2200" b="0" cap="none" baseline="0">
                <a:solidFill>
                  <a:schemeClr val="accent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609285" y="2851331"/>
            <a:ext cx="3893623" cy="307143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666634" y="2052115"/>
            <a:ext cx="3899798" cy="713818"/>
          </a:xfrm>
        </p:spPr>
        <p:txBody>
          <a:bodyPr anchor="b">
            <a:noAutofit/>
          </a:bodyPr>
          <a:lstStyle>
            <a:lvl1pPr marL="0" indent="0" algn="l">
              <a:lnSpc>
                <a:spcPct val="100000"/>
              </a:lnSpc>
              <a:buNone/>
              <a:defRPr sz="2200" b="0" cap="none" baseline="0">
                <a:solidFill>
                  <a:schemeClr val="accent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66635" y="2851331"/>
            <a:ext cx="3899798" cy="307143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8505F29-BBDD-A64F-BEAB-04D7D970F760}" type="datetimeFigureOut">
              <a:rPr lang="en-US" smtClean="0"/>
              <a:t>1/26/26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A560558E-0146-AB47-BDE1-06277B295907}" type="slidenum">
              <a:rPr lang="en-US" smtClean="0"/>
              <a:t>‹#›</a:t>
            </a:fld>
            <a:endParaRPr lang="en-US" dirty="0"/>
          </a:p>
        </p:txBody>
      </p:sp>
    </p:spTree>
    <p:extLst>
      <p:ext uri="{BB962C8B-B14F-4D97-AF65-F5344CB8AC3E}">
        <p14:creationId xmlns:p14="http://schemas.microsoft.com/office/powerpoint/2010/main" val="39181415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3" name="Rectangle 12"/>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Rectangle 13"/>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8505F29-BBDD-A64F-BEAB-04D7D970F760}" type="datetimeFigureOut">
              <a:rPr lang="en-US" smtClean="0"/>
              <a:t>1/26/26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A560558E-0146-AB47-BDE1-06277B295907}" type="slidenum">
              <a:rPr lang="en-US" smtClean="0"/>
              <a:t>‹#›</a:t>
            </a:fld>
            <a:endParaRPr lang="en-US" dirty="0"/>
          </a:p>
        </p:txBody>
      </p:sp>
      <p:sp>
        <p:nvSpPr>
          <p:cNvPr id="8" name="TextBox 7"/>
          <p:cNvSpPr txBox="1"/>
          <p:nvPr/>
        </p:nvSpPr>
        <p:spPr>
          <a:xfrm>
            <a:off x="2196172" y="641226"/>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18138718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2" name="Rectangle 11"/>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E8505F29-BBDD-A64F-BEAB-04D7D970F760}" type="datetimeFigureOut">
              <a:rPr lang="en-US" smtClean="0"/>
              <a:t>1/26/26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A560558E-0146-AB47-BDE1-06277B295907}" type="slidenum">
              <a:rPr lang="en-US" smtClean="0"/>
              <a:t>‹#›</a:t>
            </a:fld>
            <a:endParaRPr lang="en-US" dirty="0"/>
          </a:p>
        </p:txBody>
      </p:sp>
    </p:spTree>
    <p:extLst>
      <p:ext uri="{BB962C8B-B14F-4D97-AF65-F5344CB8AC3E}">
        <p14:creationId xmlns:p14="http://schemas.microsoft.com/office/powerpoint/2010/main" val="41944048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5" name="Rectangle 24"/>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6" name="Rectangle 25"/>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TextBox 9"/>
          <p:cNvSpPr txBox="1"/>
          <p:nvPr/>
        </p:nvSpPr>
        <p:spPr>
          <a:xfrm>
            <a:off x="1554154" y="1127550"/>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1970323" y="1282451"/>
            <a:ext cx="2664361" cy="1903241"/>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120154" y="805818"/>
            <a:ext cx="5446278" cy="52441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970322" y="3186154"/>
            <a:ext cx="2664361" cy="2386397"/>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8505F29-BBDD-A64F-BEAB-04D7D970F760}" type="datetimeFigureOut">
              <a:rPr lang="en-US" smtClean="0"/>
              <a:t>1/26/26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560558E-0146-AB47-BDE1-06277B295907}" type="slidenum">
              <a:rPr lang="en-US" smtClean="0"/>
              <a:t>‹#›</a:t>
            </a:fld>
            <a:endParaRPr lang="en-US" dirty="0"/>
          </a:p>
        </p:txBody>
      </p:sp>
    </p:spTree>
    <p:extLst>
      <p:ext uri="{BB962C8B-B14F-4D97-AF65-F5344CB8AC3E}">
        <p14:creationId xmlns:p14="http://schemas.microsoft.com/office/powerpoint/2010/main" val="2855208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9" name="Rectangle 18"/>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0" name="Rectangle 19"/>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6747062" y="3229"/>
            <a:ext cx="4629734" cy="6858000"/>
          </a:xfrm>
          <a:solidFill>
            <a:schemeClr val="tx1">
              <a:alpha val="10000"/>
            </a:schemeClr>
          </a:solidFill>
          <a:ln w="9525" cap="sq">
            <a:noFill/>
            <a:miter lim="800000"/>
          </a:ln>
          <a:effectLst/>
          <a:scene3d>
            <a:camera prst="orthographicFront"/>
            <a:lightRig rig="twoPt" dir="t">
              <a:rot lat="0" lon="0" rev="7200000"/>
            </a:lightRig>
          </a:scene3d>
          <a:sp3d>
            <a:bevelT w="25400" h="19050"/>
            <a:contourClr>
              <a:srgbClr val="FFFFFF"/>
            </a:contourClr>
          </a:sp3d>
        </p:spPr>
        <p:txBody>
          <a:bodyPr anchor="t">
            <a:normAutofit/>
          </a:bodyPr>
          <a:lstStyle>
            <a:lvl1pPr marL="0" indent="0" algn="ctr">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10" name="TextBox 9"/>
          <p:cNvSpPr txBox="1"/>
          <p:nvPr/>
        </p:nvSpPr>
        <p:spPr>
          <a:xfrm>
            <a:off x="1554686" y="1127550"/>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1971241" y="1282452"/>
            <a:ext cx="3970986" cy="1900473"/>
          </a:xfrm>
        </p:spPr>
        <p:txBody>
          <a:bodyPr anchor="b">
            <a:normAutofit/>
          </a:bodyPr>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970322" y="3182928"/>
            <a:ext cx="3971874" cy="2386394"/>
          </a:xfrm>
        </p:spPr>
        <p:txBody>
          <a:bodyPr>
            <a:normAutofit/>
          </a:bodyPr>
          <a:lstStyle>
            <a:lvl1pPr marL="0" indent="0" algn="l">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8505F29-BBDD-A64F-BEAB-04D7D970F760}" type="datetimeFigureOut">
              <a:rPr lang="en-US" smtClean="0"/>
              <a:t>1/26/26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560558E-0146-AB47-BDE1-06277B295907}" type="slidenum">
              <a:rPr lang="en-US" smtClean="0"/>
              <a:t>‹#›</a:t>
            </a:fld>
            <a:endParaRPr lang="en-US" dirty="0"/>
          </a:p>
        </p:txBody>
      </p:sp>
    </p:spTree>
    <p:extLst>
      <p:ext uri="{BB962C8B-B14F-4D97-AF65-F5344CB8AC3E}">
        <p14:creationId xmlns:p14="http://schemas.microsoft.com/office/powerpoint/2010/main" val="22032451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4" name="Rectangle 13"/>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TextBox 8"/>
          <p:cNvSpPr txBox="1"/>
          <p:nvPr/>
        </p:nvSpPr>
        <p:spPr>
          <a:xfrm>
            <a:off x="2194236" y="641225"/>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11808" y="808056"/>
            <a:ext cx="7954091" cy="1077229"/>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8505F29-BBDD-A64F-BEAB-04D7D970F760}" type="datetimeFigureOut">
              <a:rPr lang="en-US" smtClean="0"/>
              <a:t>1/26/26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560558E-0146-AB47-BDE1-06277B295907}" type="slidenum">
              <a:rPr lang="en-US" smtClean="0"/>
              <a:t>‹#›</a:t>
            </a:fld>
            <a:endParaRPr lang="en-US" dirty="0"/>
          </a:p>
        </p:txBody>
      </p:sp>
    </p:spTree>
    <p:extLst>
      <p:ext uri="{BB962C8B-B14F-4D97-AF65-F5344CB8AC3E}">
        <p14:creationId xmlns:p14="http://schemas.microsoft.com/office/powerpoint/2010/main" val="13294043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5" name="Rectangle 14"/>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6" name="Rectangle 15"/>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TextBox 8"/>
          <p:cNvSpPr txBox="1"/>
          <p:nvPr/>
        </p:nvSpPr>
        <p:spPr>
          <a:xfrm rot="5400000">
            <a:off x="10337141" y="416061"/>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Vertical Title 1"/>
          <p:cNvSpPr>
            <a:spLocks noGrp="1"/>
          </p:cNvSpPr>
          <p:nvPr>
            <p:ph type="title" orient="vert"/>
          </p:nvPr>
        </p:nvSpPr>
        <p:spPr>
          <a:xfrm>
            <a:off x="9239380" y="805818"/>
            <a:ext cx="1326519" cy="5244126"/>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2608751" y="970410"/>
            <a:ext cx="6466903" cy="507953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8505F29-BBDD-A64F-BEAB-04D7D970F760}" type="datetimeFigureOut">
              <a:rPr lang="en-US" smtClean="0"/>
              <a:t>1/26/26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560558E-0146-AB47-BDE1-06277B295907}" type="slidenum">
              <a:rPr lang="en-US" smtClean="0"/>
              <a:t>‹#›</a:t>
            </a:fld>
            <a:endParaRPr lang="en-US" dirty="0"/>
          </a:p>
        </p:txBody>
      </p:sp>
    </p:spTree>
    <p:extLst>
      <p:ext uri="{BB962C8B-B14F-4D97-AF65-F5344CB8AC3E}">
        <p14:creationId xmlns:p14="http://schemas.microsoft.com/office/powerpoint/2010/main" val="6569015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18" name="Picture 17"/>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pic>
        <p:nvPicPr>
          <p:cNvPr id="15" name="Picture 14"/>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0" y="0"/>
            <a:ext cx="12189867" cy="6858000"/>
          </a:xfrm>
          <a:prstGeom prst="rect">
            <a:avLst/>
          </a:prstGeom>
        </p:spPr>
      </p:pic>
      <p:sp>
        <p:nvSpPr>
          <p:cNvPr id="8" name="Rectangle 7"/>
          <p:cNvSpPr/>
          <p:nvPr/>
        </p:nvSpPr>
        <p:spPr>
          <a:xfrm>
            <a:off x="0" y="0"/>
            <a:ext cx="964174"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Title Placeholder 1"/>
          <p:cNvSpPr>
            <a:spLocks noGrp="1"/>
          </p:cNvSpPr>
          <p:nvPr>
            <p:ph type="title"/>
          </p:nvPr>
        </p:nvSpPr>
        <p:spPr>
          <a:xfrm>
            <a:off x="2611808" y="808056"/>
            <a:ext cx="7958331" cy="1077229"/>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773599" y="2052116"/>
            <a:ext cx="7796540" cy="3997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810065" y="5270604"/>
            <a:ext cx="2662729" cy="182880"/>
          </a:xfrm>
          <a:prstGeom prst="rect">
            <a:avLst/>
          </a:prstGeom>
        </p:spPr>
        <p:txBody>
          <a:bodyPr vert="horz" lIns="91440" tIns="18288" rIns="91440" bIns="45720" rtlCol="0" anchor="t"/>
          <a:lstStyle>
            <a:lvl1pPr algn="r">
              <a:defRPr sz="800">
                <a:solidFill>
                  <a:schemeClr val="tx1">
                    <a:tint val="75000"/>
                  </a:schemeClr>
                </a:solidFill>
                <a:latin typeface="+mn-lt"/>
              </a:defRPr>
            </a:lvl1pPr>
          </a:lstStyle>
          <a:p>
            <a:fld id="{E8505F29-BBDD-A64F-BEAB-04D7D970F760}" type="datetimeFigureOut">
              <a:rPr lang="en-US" smtClean="0"/>
              <a:t>1/26/26</a:t>
            </a:fld>
            <a:endParaRPr lang="en-US" dirty="0"/>
          </a:p>
        </p:txBody>
      </p:sp>
      <p:sp>
        <p:nvSpPr>
          <p:cNvPr id="5" name="Footer Placeholder 4"/>
          <p:cNvSpPr>
            <a:spLocks noGrp="1"/>
          </p:cNvSpPr>
          <p:nvPr>
            <p:ph type="ftr" sz="quarter" idx="3"/>
          </p:nvPr>
        </p:nvSpPr>
        <p:spPr>
          <a:xfrm rot="5400000">
            <a:off x="-2237130" y="3661144"/>
            <a:ext cx="5885352" cy="179176"/>
          </a:xfrm>
          <a:prstGeom prst="rect">
            <a:avLst/>
          </a:prstGeom>
        </p:spPr>
        <p:txBody>
          <a:bodyPr vert="horz" lIns="91440" tIns="45720" rIns="91440" bIns="18288" rtlCol="0" anchor="b"/>
          <a:lstStyle>
            <a:lvl1pPr algn="r">
              <a:defRPr sz="8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58407" y="164592"/>
            <a:ext cx="636727" cy="322851"/>
          </a:xfrm>
          <a:prstGeom prst="rect">
            <a:avLst/>
          </a:prstGeom>
        </p:spPr>
        <p:txBody>
          <a:bodyPr vert="horz" lIns="91440" tIns="45720" rIns="45720" bIns="45720" rtlCol="0" anchor="ctr"/>
          <a:lstStyle>
            <a:lvl1pPr algn="r">
              <a:defRPr sz="1800">
                <a:solidFill>
                  <a:schemeClr val="tx1">
                    <a:tint val="75000"/>
                  </a:schemeClr>
                </a:solidFill>
              </a:defRPr>
            </a:lvl1pPr>
          </a:lstStyle>
          <a:p>
            <a:fld id="{A560558E-0146-AB47-BDE1-06277B295907}" type="slidenum">
              <a:rPr lang="en-US" smtClean="0"/>
              <a:t>‹#›</a:t>
            </a:fld>
            <a:endParaRPr lang="en-US" dirty="0"/>
          </a:p>
        </p:txBody>
      </p:sp>
      <p:sp>
        <p:nvSpPr>
          <p:cNvPr id="57" name="Rectangle 56"/>
          <p:cNvSpPr/>
          <p:nvPr/>
        </p:nvSpPr>
        <p:spPr>
          <a:xfrm>
            <a:off x="962042" y="0"/>
            <a:ext cx="4571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Tree>
    <p:extLst>
      <p:ext uri="{BB962C8B-B14F-4D97-AF65-F5344CB8AC3E}">
        <p14:creationId xmlns:p14="http://schemas.microsoft.com/office/powerpoint/2010/main" val="1076663098"/>
      </p:ext>
    </p:extLst>
  </p:cSld>
  <p:clrMap bg1="dk1" tx1="lt1" bg2="dk2" tx2="lt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p:titleStyle>
    <p:bodyStyle>
      <a:lvl1pPr marL="344488" indent="-344488" algn="l" defTabSz="914400" rtl="0" eaLnBrk="1" latinLnBrk="0" hangingPunct="1">
        <a:lnSpc>
          <a:spcPct val="120000"/>
        </a:lnSpc>
        <a:spcBef>
          <a:spcPts val="10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516A56-FC6D-0F42-2183-396002732ED1}"/>
              </a:ext>
            </a:extLst>
          </p:cNvPr>
          <p:cNvSpPr>
            <a:spLocks noGrp="1"/>
          </p:cNvSpPr>
          <p:nvPr>
            <p:ph type="ctrTitle"/>
          </p:nvPr>
        </p:nvSpPr>
        <p:spPr/>
        <p:txBody>
          <a:bodyPr>
            <a:normAutofit/>
          </a:bodyPr>
          <a:lstStyle/>
          <a:p>
            <a:r>
              <a:rPr lang="en-US" dirty="0"/>
              <a:t>UML Class Diagramming</a:t>
            </a:r>
          </a:p>
        </p:txBody>
      </p:sp>
      <p:sp>
        <p:nvSpPr>
          <p:cNvPr id="3" name="Subtitle 2">
            <a:extLst>
              <a:ext uri="{FF2B5EF4-FFF2-40B4-BE49-F238E27FC236}">
                <a16:creationId xmlns:a16="http://schemas.microsoft.com/office/drawing/2014/main" id="{66A48AD9-5F11-E83E-2901-CCD38995B771}"/>
              </a:ext>
            </a:extLst>
          </p:cNvPr>
          <p:cNvSpPr>
            <a:spLocks noGrp="1"/>
          </p:cNvSpPr>
          <p:nvPr>
            <p:ph type="subTitle" idx="1"/>
          </p:nvPr>
        </p:nvSpPr>
        <p:spPr/>
        <p:txBody>
          <a:bodyPr>
            <a:normAutofit fontScale="92500" lnSpcReduction="20000"/>
          </a:bodyPr>
          <a:lstStyle/>
          <a:p>
            <a:r>
              <a:rPr lang="en-US" dirty="0"/>
              <a:t>SWE 4743: </a:t>
            </a:r>
            <a:br>
              <a:rPr lang="en-US" dirty="0"/>
            </a:br>
            <a:r>
              <a:rPr lang="en-US" dirty="0"/>
              <a:t>Object-Oriented Design </a:t>
            </a:r>
            <a:br>
              <a:rPr lang="en-US" dirty="0"/>
            </a:br>
            <a:br>
              <a:rPr lang="en-US" dirty="0"/>
            </a:br>
            <a:r>
              <a:rPr lang="en-US" dirty="0"/>
              <a:t>Jeff Adkisson</a:t>
            </a:r>
          </a:p>
        </p:txBody>
      </p:sp>
    </p:spTree>
    <p:extLst>
      <p:ext uri="{BB962C8B-B14F-4D97-AF65-F5344CB8AC3E}">
        <p14:creationId xmlns:p14="http://schemas.microsoft.com/office/powerpoint/2010/main" val="1635244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3B444-07CC-772E-D188-E8B74FA49B38}"/>
              </a:ext>
            </a:extLst>
          </p:cNvPr>
          <p:cNvSpPr>
            <a:spLocks noGrp="1"/>
          </p:cNvSpPr>
          <p:nvPr>
            <p:ph type="title"/>
          </p:nvPr>
        </p:nvSpPr>
        <p:spPr/>
        <p:txBody>
          <a:bodyPr/>
          <a:lstStyle/>
          <a:p>
            <a:r>
              <a:rPr lang="en-US" dirty="0"/>
              <a:t>Agenda</a:t>
            </a:r>
          </a:p>
        </p:txBody>
      </p:sp>
      <p:sp>
        <p:nvSpPr>
          <p:cNvPr id="4" name="Rectangle 1">
            <a:extLst>
              <a:ext uri="{FF2B5EF4-FFF2-40B4-BE49-F238E27FC236}">
                <a16:creationId xmlns:a16="http://schemas.microsoft.com/office/drawing/2014/main" id="{D2E85BB5-706C-2FCA-0ADF-F6171C54EA57}"/>
              </a:ext>
            </a:extLst>
          </p:cNvPr>
          <p:cNvSpPr>
            <a:spLocks noGrp="1" noChangeArrowheads="1"/>
          </p:cNvSpPr>
          <p:nvPr>
            <p:ph idx="1"/>
          </p:nvPr>
        </p:nvSpPr>
        <p:spPr bwMode="auto">
          <a:xfrm>
            <a:off x="1484416" y="1445475"/>
            <a:ext cx="9085723" cy="51398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lnSpc>
                <a:spcPct val="100000"/>
              </a:lnSpc>
              <a:spcBef>
                <a:spcPct val="0"/>
              </a:spcBef>
              <a:spcAft>
                <a:spcPct val="0"/>
              </a:spcAft>
              <a:buClrTx/>
              <a:buSzTx/>
            </a:pPr>
            <a:r>
              <a:rPr kumimoji="0" lang="en-US" altLang="en-US" sz="1800" b="1" i="0" u="none" strike="noStrike" cap="none" normalizeH="0" baseline="0" dirty="0">
                <a:ln>
                  <a:noFill/>
                </a:ln>
                <a:solidFill>
                  <a:schemeClr val="tx1"/>
                </a:solidFill>
                <a:effectLst/>
                <a:latin typeface="Arial" panose="020B0604020202020204" pitchFamily="34" charset="0"/>
              </a:rPr>
              <a:t>Core Concepts and Layout</a:t>
            </a:r>
            <a:br>
              <a:rPr lang="en-US" altLang="en-US" sz="1800" dirty="0">
                <a:latin typeface="Arial" panose="020B0604020202020204" pitchFamily="34" charset="0"/>
              </a:rPr>
            </a:br>
            <a:r>
              <a:rPr kumimoji="0" lang="en-US" altLang="en-US" sz="1800" b="0" i="0" u="none" strike="noStrike" cap="none" normalizeH="0" baseline="0" dirty="0">
                <a:ln>
                  <a:noFill/>
                </a:ln>
                <a:solidFill>
                  <a:schemeClr val="tx1"/>
                </a:solidFill>
                <a:effectLst/>
                <a:latin typeface="Arial" panose="020B0604020202020204" pitchFamily="34" charset="0"/>
              </a:rPr>
              <a:t>Understanding the three-zone structure of a UML class box (Name, Members, and Methods) and basic annotations like interfaces and enumerations.</a:t>
            </a:r>
            <a:br>
              <a:rPr kumimoji="0" lang="en-US" altLang="en-US" sz="1400" b="0" i="0" u="none" strike="noStrike" cap="none" normalizeH="0" baseline="0" dirty="0">
                <a:ln>
                  <a:noFill/>
                </a:ln>
                <a:solidFill>
                  <a:schemeClr val="tx1"/>
                </a:solidFill>
                <a:effectLst/>
                <a:latin typeface="Arial" panose="020B0604020202020204" pitchFamily="34" charset="0"/>
              </a:rPr>
            </a:br>
            <a:endParaRPr kumimoji="0" lang="en-US" altLang="en-US" sz="1200" b="0" i="0" u="none" strike="noStrike" cap="none" normalizeH="0" baseline="0" dirty="0">
              <a:ln>
                <a:noFill/>
              </a:ln>
              <a:solidFill>
                <a:schemeClr val="tx1"/>
              </a:solidFill>
              <a:effectLst/>
              <a:latin typeface="Arial" panose="020B0604020202020204" pitchFamily="34" charset="0"/>
            </a:endParaRPr>
          </a:p>
          <a:p>
            <a:pPr eaLnBrk="0" fontAlgn="base" hangingPunct="0">
              <a:lnSpc>
                <a:spcPct val="100000"/>
              </a:lnSpc>
              <a:spcBef>
                <a:spcPct val="0"/>
              </a:spcBef>
              <a:spcAft>
                <a:spcPct val="0"/>
              </a:spcAft>
              <a:buClrTx/>
              <a:buSzTx/>
            </a:pPr>
            <a:r>
              <a:rPr kumimoji="0" lang="en-US" altLang="en-US" sz="1800" b="1" i="0" u="none" strike="noStrike" cap="none" normalizeH="0" baseline="0" dirty="0">
                <a:ln>
                  <a:noFill/>
                </a:ln>
                <a:solidFill>
                  <a:schemeClr val="tx1"/>
                </a:solidFill>
                <a:effectLst/>
                <a:latin typeface="Arial" panose="020B0604020202020204" pitchFamily="34" charset="0"/>
              </a:rPr>
              <a:t>Defining Relationships</a:t>
            </a:r>
            <a:br>
              <a:rPr lang="en-US" altLang="en-US" sz="1800" dirty="0">
                <a:latin typeface="Arial" panose="020B0604020202020204" pitchFamily="34" charset="0"/>
              </a:rPr>
            </a:br>
            <a:r>
              <a:rPr kumimoji="0" lang="en-US" altLang="en-US" sz="1800" b="0" i="0" u="none" strike="noStrike" cap="none" normalizeH="0" baseline="0" dirty="0">
                <a:ln>
                  <a:noFill/>
                </a:ln>
                <a:solidFill>
                  <a:schemeClr val="tx1"/>
                </a:solidFill>
                <a:effectLst/>
                <a:latin typeface="Arial" panose="020B0604020202020204" pitchFamily="34" charset="0"/>
              </a:rPr>
              <a:t>Exploring inheritance (is-a), interface realization, and dependencies to represent how classes interact and utilize one another.</a:t>
            </a:r>
            <a:br>
              <a:rPr kumimoji="0" lang="en-US" altLang="en-US" sz="1800" b="0" i="0" u="none" strike="noStrike" cap="none" normalizeH="0" baseline="0" dirty="0">
                <a:ln>
                  <a:noFill/>
                </a:ln>
                <a:solidFill>
                  <a:schemeClr val="tx1"/>
                </a:solidFill>
                <a:effectLst/>
                <a:latin typeface="Arial" panose="020B0604020202020204" pitchFamily="34" charset="0"/>
              </a:rPr>
            </a:br>
            <a:endParaRPr kumimoji="0" lang="en-US" altLang="en-US" sz="1200" b="0" i="0" u="none" strike="noStrike" cap="none" normalizeH="0" baseline="0" dirty="0">
              <a:ln>
                <a:noFill/>
              </a:ln>
              <a:solidFill>
                <a:schemeClr val="tx1"/>
              </a:solidFill>
              <a:effectLst/>
              <a:latin typeface="Arial" panose="020B0604020202020204" pitchFamily="34" charset="0"/>
            </a:endParaRPr>
          </a:p>
          <a:p>
            <a:pPr eaLnBrk="0" fontAlgn="base" hangingPunct="0">
              <a:lnSpc>
                <a:spcPct val="100000"/>
              </a:lnSpc>
              <a:spcBef>
                <a:spcPct val="0"/>
              </a:spcBef>
              <a:spcAft>
                <a:spcPct val="0"/>
              </a:spcAft>
              <a:buClrTx/>
              <a:buSzTx/>
            </a:pPr>
            <a:r>
              <a:rPr kumimoji="0" lang="en-US" altLang="en-US" sz="1800" b="1" i="0" u="none" strike="noStrike" cap="none" normalizeH="0" baseline="0" dirty="0">
                <a:ln>
                  <a:noFill/>
                </a:ln>
                <a:solidFill>
                  <a:schemeClr val="tx1"/>
                </a:solidFill>
                <a:effectLst/>
                <a:latin typeface="Arial" panose="020B0604020202020204" pitchFamily="34" charset="0"/>
              </a:rPr>
              <a:t>Structural Connections</a:t>
            </a:r>
            <a:br>
              <a:rPr lang="en-US" altLang="en-US" sz="1800" dirty="0">
                <a:latin typeface="Arial" panose="020B0604020202020204" pitchFamily="34" charset="0"/>
              </a:rPr>
            </a:br>
            <a:r>
              <a:rPr kumimoji="0" lang="en-US" altLang="en-US" sz="1800" b="0" i="0" u="none" strike="noStrike" cap="none" normalizeH="0" baseline="0" dirty="0">
                <a:ln>
                  <a:noFill/>
                </a:ln>
                <a:solidFill>
                  <a:schemeClr val="tx1"/>
                </a:solidFill>
                <a:effectLst/>
                <a:latin typeface="Arial" panose="020B0604020202020204" pitchFamily="34" charset="0"/>
              </a:rPr>
              <a:t>Distinguishing between long-lived associations and the lifetime-specific differences of aggregation (shared) versus composition (owned).</a:t>
            </a:r>
            <a:br>
              <a:rPr kumimoji="0" lang="en-US" altLang="en-US" sz="1800" b="0" i="0" u="none" strike="noStrike" cap="none" normalizeH="0" baseline="0" dirty="0">
                <a:ln>
                  <a:noFill/>
                </a:ln>
                <a:solidFill>
                  <a:schemeClr val="tx1"/>
                </a:solidFill>
                <a:effectLst/>
                <a:latin typeface="Arial" panose="020B0604020202020204" pitchFamily="34" charset="0"/>
              </a:rPr>
            </a:br>
            <a:endParaRPr kumimoji="0" lang="en-US" altLang="en-US" sz="1400" b="0" i="0" u="none" strike="noStrike" cap="none" normalizeH="0" baseline="0" dirty="0">
              <a:ln>
                <a:noFill/>
              </a:ln>
              <a:solidFill>
                <a:schemeClr val="tx1"/>
              </a:solidFill>
              <a:effectLst/>
              <a:latin typeface="Arial" panose="020B0604020202020204" pitchFamily="34" charset="0"/>
            </a:endParaRPr>
          </a:p>
          <a:p>
            <a:pPr eaLnBrk="0" fontAlgn="base" hangingPunct="0">
              <a:lnSpc>
                <a:spcPct val="100000"/>
              </a:lnSpc>
              <a:spcBef>
                <a:spcPct val="0"/>
              </a:spcBef>
              <a:spcAft>
                <a:spcPct val="0"/>
              </a:spcAft>
              <a:buClrTx/>
              <a:buSzTx/>
            </a:pPr>
            <a:r>
              <a:rPr kumimoji="0" lang="en-US" altLang="en-US" sz="1800" b="1" i="0" u="none" strike="noStrike" cap="none" normalizeH="0" baseline="0" dirty="0">
                <a:ln>
                  <a:noFill/>
                </a:ln>
                <a:solidFill>
                  <a:schemeClr val="tx1"/>
                </a:solidFill>
                <a:effectLst/>
                <a:latin typeface="Arial" panose="020B0604020202020204" pitchFamily="34" charset="0"/>
              </a:rPr>
              <a:t>Design Constraints and Multiplicity</a:t>
            </a:r>
            <a:br>
              <a:rPr lang="en-US" altLang="en-US" sz="1800" dirty="0">
                <a:latin typeface="Arial" panose="020B0604020202020204" pitchFamily="34" charset="0"/>
              </a:rPr>
            </a:br>
            <a:r>
              <a:rPr kumimoji="0" lang="en-US" altLang="en-US" sz="1800" b="0" i="0" u="none" strike="noStrike" cap="none" normalizeH="0" baseline="0" dirty="0">
                <a:ln>
                  <a:noFill/>
                </a:ln>
                <a:solidFill>
                  <a:schemeClr val="tx1"/>
                </a:solidFill>
                <a:effectLst/>
                <a:latin typeface="Arial" panose="020B0604020202020204" pitchFamily="34" charset="0"/>
              </a:rPr>
              <a:t>Implementing access modifiers and multiplicity rules in code to enforce structural design decisions.</a:t>
            </a:r>
            <a:br>
              <a:rPr kumimoji="0" lang="en-US" altLang="en-US" sz="1800" b="0" i="0" u="none" strike="noStrike" cap="none" normalizeH="0" baseline="0" dirty="0">
                <a:ln>
                  <a:noFill/>
                </a:ln>
                <a:solidFill>
                  <a:schemeClr val="tx1"/>
                </a:solidFill>
                <a:effectLst/>
                <a:latin typeface="Arial" panose="020B0604020202020204" pitchFamily="34" charset="0"/>
              </a:rPr>
            </a:br>
            <a:endParaRPr kumimoji="0" lang="en-US" altLang="en-US" sz="1400" b="0" i="0" u="none" strike="noStrike" cap="none" normalizeH="0" baseline="0" dirty="0">
              <a:ln>
                <a:noFill/>
              </a:ln>
              <a:solidFill>
                <a:schemeClr val="tx1"/>
              </a:solidFill>
              <a:effectLst/>
              <a:latin typeface="Arial" panose="020B0604020202020204" pitchFamily="34" charset="0"/>
            </a:endParaRPr>
          </a:p>
          <a:p>
            <a:pPr eaLnBrk="0" fontAlgn="base" hangingPunct="0">
              <a:lnSpc>
                <a:spcPct val="100000"/>
              </a:lnSpc>
              <a:spcBef>
                <a:spcPct val="0"/>
              </a:spcBef>
              <a:spcAft>
                <a:spcPct val="0"/>
              </a:spcAft>
              <a:buClrTx/>
              <a:buSzTx/>
            </a:pPr>
            <a:r>
              <a:rPr kumimoji="0" lang="en-US" altLang="en-US" sz="1800" b="1" i="0" u="none" strike="noStrike" cap="none" normalizeH="0" baseline="0" dirty="0">
                <a:ln>
                  <a:noFill/>
                </a:ln>
                <a:solidFill>
                  <a:schemeClr val="tx1"/>
                </a:solidFill>
                <a:effectLst/>
                <a:latin typeface="Arial" panose="020B0604020202020204" pitchFamily="34" charset="0"/>
              </a:rPr>
              <a:t>Practical Application</a:t>
            </a:r>
            <a:br>
              <a:rPr lang="en-US" altLang="en-US" sz="1800" dirty="0">
                <a:latin typeface="Arial" panose="020B0604020202020204" pitchFamily="34" charset="0"/>
              </a:rPr>
            </a:br>
            <a:r>
              <a:rPr kumimoji="0" lang="en-US" altLang="en-US" sz="1800" b="0" i="0" u="none" strike="noStrike" cap="none" normalizeH="0" baseline="0" dirty="0">
                <a:ln>
                  <a:noFill/>
                </a:ln>
                <a:solidFill>
                  <a:schemeClr val="tx1"/>
                </a:solidFill>
                <a:effectLst/>
                <a:latin typeface="Arial" panose="020B0604020202020204" pitchFamily="34" charset="0"/>
              </a:rPr>
              <a:t>Best practices for using Mermaid to create versionable, AI-friendly diagrams that evolve alongside the codebase.</a:t>
            </a:r>
          </a:p>
        </p:txBody>
      </p:sp>
    </p:spTree>
    <p:extLst>
      <p:ext uri="{BB962C8B-B14F-4D97-AF65-F5344CB8AC3E}">
        <p14:creationId xmlns:p14="http://schemas.microsoft.com/office/powerpoint/2010/main" val="38002547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445EC-5B27-6C3B-E728-DF9CB64984A0}"/>
              </a:ext>
            </a:extLst>
          </p:cNvPr>
          <p:cNvSpPr>
            <a:spLocks noGrp="1"/>
          </p:cNvSpPr>
          <p:nvPr>
            <p:ph type="title"/>
          </p:nvPr>
        </p:nvSpPr>
        <p:spPr/>
        <p:txBody>
          <a:bodyPr/>
          <a:lstStyle/>
          <a:p>
            <a:r>
              <a:rPr lang="en-US" dirty="0"/>
              <a:t>Lecture Material</a:t>
            </a:r>
          </a:p>
        </p:txBody>
      </p:sp>
      <p:sp>
        <p:nvSpPr>
          <p:cNvPr id="3" name="Content Placeholder 2">
            <a:extLst>
              <a:ext uri="{FF2B5EF4-FFF2-40B4-BE49-F238E27FC236}">
                <a16:creationId xmlns:a16="http://schemas.microsoft.com/office/drawing/2014/main" id="{50003F46-698E-4FE1-8397-67C3B676A5AA}"/>
              </a:ext>
            </a:extLst>
          </p:cNvPr>
          <p:cNvSpPr>
            <a:spLocks noGrp="1"/>
          </p:cNvSpPr>
          <p:nvPr>
            <p:ph idx="1"/>
          </p:nvPr>
        </p:nvSpPr>
        <p:spPr/>
        <p:txBody>
          <a:bodyPr>
            <a:normAutofit/>
          </a:bodyPr>
          <a:lstStyle/>
          <a:p>
            <a:pPr marL="0" indent="0">
              <a:buNone/>
            </a:pPr>
            <a:r>
              <a:rPr lang="en-US" sz="2800" dirty="0"/>
              <a:t>See </a:t>
            </a:r>
            <a:r>
              <a:rPr lang="en-US" sz="2800" b="1" dirty="0"/>
              <a:t>03-uml-class-diagramming.md</a:t>
            </a:r>
            <a:r>
              <a:rPr lang="en-US" sz="2800" dirty="0"/>
              <a:t> in the Presentations folder.</a:t>
            </a:r>
          </a:p>
        </p:txBody>
      </p:sp>
    </p:spTree>
    <p:extLst>
      <p:ext uri="{BB962C8B-B14F-4D97-AF65-F5344CB8AC3E}">
        <p14:creationId xmlns:p14="http://schemas.microsoft.com/office/powerpoint/2010/main" val="5865693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UML Class Diagrams</a:t>
            </a:r>
            <a:br>
              <a:rPr lang="en-US" dirty="0"/>
            </a:br>
            <a:r>
              <a:rPr lang="en-US" dirty="0"/>
              <a:t>as a Design Tool</a:t>
            </a:r>
            <a:endParaRPr dirty="0"/>
          </a:p>
        </p:txBody>
      </p:sp>
      <p:sp>
        <p:nvSpPr>
          <p:cNvPr id="3" name="Content Placeholder 2"/>
          <p:cNvSpPr>
            <a:spLocks noGrp="1"/>
          </p:cNvSpPr>
          <p:nvPr>
            <p:ph idx="1"/>
          </p:nvPr>
        </p:nvSpPr>
        <p:spPr/>
        <p:txBody>
          <a:bodyPr/>
          <a:lstStyle/>
          <a:p>
            <a:pPr marL="457200" lvl="1" indent="0">
              <a:buNone/>
            </a:pPr>
            <a:r>
              <a:rPr lang="en-US" dirty="0"/>
              <a:t>Class diagrams are valuable for thinking about design, communicating ideas, and defending decisions.</a:t>
            </a:r>
          </a:p>
          <a:p>
            <a:pPr lvl="1"/>
            <a:r>
              <a:rPr dirty="0"/>
              <a:t>Focus on understanding, not drawing mechanics</a:t>
            </a:r>
            <a:r>
              <a:rPr lang="en-US" dirty="0"/>
              <a:t> or Mermaid syntax or choice of drawing tools.</a:t>
            </a:r>
            <a:endParaRPr dirty="0"/>
          </a:p>
          <a:p>
            <a:pPr lvl="1"/>
            <a:r>
              <a:rPr dirty="0"/>
              <a:t>Use for discussion, design, and explanation</a:t>
            </a:r>
            <a:r>
              <a:rPr lang="en-US" dirty="0"/>
              <a:t> – not creating giant diagrams no one uses.</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What a Class Diagram Represents</a:t>
            </a:r>
          </a:p>
        </p:txBody>
      </p:sp>
      <p:sp>
        <p:nvSpPr>
          <p:cNvPr id="3" name="Content Placeholder 2"/>
          <p:cNvSpPr>
            <a:spLocks noGrp="1"/>
          </p:cNvSpPr>
          <p:nvPr>
            <p:ph idx="1"/>
          </p:nvPr>
        </p:nvSpPr>
        <p:spPr/>
        <p:txBody>
          <a:bodyPr/>
          <a:lstStyle/>
          <a:p>
            <a:pPr marL="0" indent="0">
              <a:buNone/>
            </a:pPr>
            <a:r>
              <a:rPr lang="en-US" dirty="0"/>
              <a:t>Class diagrams are static, </a:t>
            </a:r>
            <a:r>
              <a:rPr lang="en-US" i="1" dirty="0"/>
              <a:t>not behavioral</a:t>
            </a:r>
            <a:r>
              <a:rPr lang="en-US" dirty="0"/>
              <a:t>. They do </a:t>
            </a:r>
            <a:r>
              <a:rPr lang="en-US" b="1" dirty="0"/>
              <a:t>not</a:t>
            </a:r>
            <a:r>
              <a:rPr lang="en-US" dirty="0"/>
              <a:t> show execution flow. Instead, they show what exists in the system and how pieces relate structurally.</a:t>
            </a:r>
          </a:p>
          <a:p>
            <a:r>
              <a:rPr dirty="0"/>
              <a:t>Static structure of a system</a:t>
            </a:r>
          </a:p>
          <a:p>
            <a:pPr lvl="1"/>
            <a:r>
              <a:rPr dirty="0"/>
              <a:t>Classes, interfaces, and relationships</a:t>
            </a:r>
          </a:p>
          <a:p>
            <a:pPr lvl="1"/>
            <a:r>
              <a:rPr dirty="0"/>
              <a:t>A snapshot of design intent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Why Diagrams Before Code</a:t>
            </a:r>
          </a:p>
        </p:txBody>
      </p:sp>
      <p:sp>
        <p:nvSpPr>
          <p:cNvPr id="3" name="Content Placeholder 2"/>
          <p:cNvSpPr>
            <a:spLocks noGrp="1"/>
          </p:cNvSpPr>
          <p:nvPr>
            <p:ph idx="1"/>
          </p:nvPr>
        </p:nvSpPr>
        <p:spPr/>
        <p:txBody>
          <a:bodyPr/>
          <a:lstStyle/>
          <a:p>
            <a:pPr marL="0" indent="0">
              <a:buNone/>
            </a:pPr>
            <a:r>
              <a:rPr lang="en-US" dirty="0"/>
              <a:t>Diagrams help you decide who owns what, who depends on whom, and what abstractions exist </a:t>
            </a:r>
            <a:r>
              <a:rPr lang="en-US" i="1" dirty="0"/>
              <a:t>before code hardens</a:t>
            </a:r>
            <a:r>
              <a:rPr lang="en-US" dirty="0"/>
              <a:t>. </a:t>
            </a:r>
          </a:p>
          <a:p>
            <a:pPr marL="0" indent="0">
              <a:buNone/>
            </a:pPr>
            <a:r>
              <a:rPr lang="en-US" dirty="0"/>
              <a:t>Code is harder to read later than it is to write now. Always be thinking about the next developer (which might be future-you wishing you had been more expressive the first time).</a:t>
            </a:r>
          </a:p>
          <a:p>
            <a:r>
              <a:rPr dirty="0"/>
              <a:t>Force explicit design decisions</a:t>
            </a:r>
          </a:p>
          <a:p>
            <a:pPr lvl="1"/>
            <a:r>
              <a:rPr dirty="0"/>
              <a:t>Reveal responsibilities early</a:t>
            </a:r>
          </a:p>
          <a:p>
            <a:pPr lvl="1"/>
            <a:r>
              <a:rPr dirty="0"/>
              <a:t>Cheaper to change</a:t>
            </a:r>
            <a:r>
              <a:rPr lang="en-US" dirty="0"/>
              <a:t> in design</a:t>
            </a:r>
            <a:r>
              <a:rPr dirty="0"/>
              <a:t> than </a:t>
            </a:r>
            <a:r>
              <a:rPr lang="en-US" dirty="0"/>
              <a:t>in </a:t>
            </a:r>
            <a:r>
              <a:rPr dirty="0"/>
              <a:t>code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Communication Over Implementation</a:t>
            </a:r>
          </a:p>
        </p:txBody>
      </p:sp>
      <p:sp>
        <p:nvSpPr>
          <p:cNvPr id="3" name="Content Placeholder 2"/>
          <p:cNvSpPr>
            <a:spLocks noGrp="1"/>
          </p:cNvSpPr>
          <p:nvPr>
            <p:ph idx="1"/>
          </p:nvPr>
        </p:nvSpPr>
        <p:spPr/>
        <p:txBody>
          <a:bodyPr/>
          <a:lstStyle/>
          <a:p>
            <a:pPr marL="0" indent="0">
              <a:buNone/>
            </a:pPr>
            <a:r>
              <a:rPr lang="en-US" dirty="0"/>
              <a:t>Code contains history, edge cases, and implementation details.</a:t>
            </a:r>
          </a:p>
          <a:p>
            <a:pPr marL="0" indent="0">
              <a:buNone/>
            </a:pPr>
            <a:r>
              <a:rPr lang="en-US" dirty="0"/>
              <a:t>Diagrams strip that away so a group can focus on structure and intent.</a:t>
            </a:r>
          </a:p>
          <a:p>
            <a:r>
              <a:rPr dirty="0"/>
              <a:t>Shared visual language</a:t>
            </a:r>
          </a:p>
          <a:p>
            <a:pPr lvl="1"/>
            <a:r>
              <a:rPr dirty="0"/>
              <a:t>Less noise than code</a:t>
            </a:r>
          </a:p>
          <a:p>
            <a:pPr lvl="1"/>
            <a:r>
              <a:rPr dirty="0"/>
              <a:t>Ideal for teaching and review</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Structural Dependencies</a:t>
            </a:r>
          </a:p>
        </p:txBody>
      </p:sp>
      <p:sp>
        <p:nvSpPr>
          <p:cNvPr id="3" name="Content Placeholder 2"/>
          <p:cNvSpPr>
            <a:spLocks noGrp="1"/>
          </p:cNvSpPr>
          <p:nvPr>
            <p:ph idx="1"/>
          </p:nvPr>
        </p:nvSpPr>
        <p:spPr/>
        <p:txBody>
          <a:bodyPr/>
          <a:lstStyle/>
          <a:p>
            <a:pPr marL="0" indent="0">
              <a:buNone/>
            </a:pPr>
            <a:r>
              <a:rPr lang="en-US" b="1" dirty="0"/>
              <a:t>Structural dependencies represent long-lived relationships. </a:t>
            </a:r>
          </a:p>
          <a:p>
            <a:pPr marL="0" indent="0">
              <a:buNone/>
            </a:pPr>
            <a:r>
              <a:rPr lang="en-US" dirty="0"/>
              <a:t>These show what objects know about and rely on over time, not just during a single method call.</a:t>
            </a:r>
          </a:p>
          <a:p>
            <a:r>
              <a:rPr dirty="0"/>
              <a:t>Associations and ownership</a:t>
            </a:r>
          </a:p>
          <a:p>
            <a:pPr lvl="1"/>
            <a:r>
              <a:rPr dirty="0"/>
              <a:t>Inheritance relationships</a:t>
            </a:r>
          </a:p>
          <a:p>
            <a:pPr lvl="1"/>
            <a:r>
              <a:rPr dirty="0"/>
              <a:t>Interface realizations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What Structural Dependencies Reveal</a:t>
            </a:r>
          </a:p>
        </p:txBody>
      </p:sp>
      <p:sp>
        <p:nvSpPr>
          <p:cNvPr id="3" name="Content Placeholder 2"/>
          <p:cNvSpPr>
            <a:spLocks noGrp="1"/>
          </p:cNvSpPr>
          <p:nvPr>
            <p:ph idx="1"/>
          </p:nvPr>
        </p:nvSpPr>
        <p:spPr/>
        <p:txBody>
          <a:bodyPr/>
          <a:lstStyle/>
          <a:p>
            <a:pPr marL="0" indent="0">
              <a:buNone/>
            </a:pPr>
            <a:r>
              <a:rPr lang="en-US" dirty="0"/>
              <a:t>Dense or tangled structures are easier to spot in diagrams than in code. </a:t>
            </a:r>
          </a:p>
          <a:p>
            <a:pPr marL="0" indent="0">
              <a:buNone/>
            </a:pPr>
            <a:r>
              <a:rPr lang="en-US" dirty="0"/>
              <a:t>This is often where students first notice over-coupling or god classes.</a:t>
            </a:r>
          </a:p>
          <a:p>
            <a:r>
              <a:rPr dirty="0"/>
              <a:t>Object lifetime relationships</a:t>
            </a:r>
          </a:p>
          <a:p>
            <a:pPr lvl="1"/>
            <a:r>
              <a:rPr dirty="0"/>
              <a:t>Tight vs loose coupling</a:t>
            </a:r>
          </a:p>
          <a:p>
            <a:pPr lvl="1"/>
            <a:r>
              <a:rPr dirty="0"/>
              <a:t>Potential design smells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Temporal / Usage Dependencies</a:t>
            </a:r>
          </a:p>
        </p:txBody>
      </p:sp>
      <p:sp>
        <p:nvSpPr>
          <p:cNvPr id="3" name="Content Placeholder 2"/>
          <p:cNvSpPr>
            <a:spLocks noGrp="1"/>
          </p:cNvSpPr>
          <p:nvPr>
            <p:ph idx="1"/>
          </p:nvPr>
        </p:nvSpPr>
        <p:spPr/>
        <p:txBody>
          <a:bodyPr/>
          <a:lstStyle/>
          <a:p>
            <a:pPr marL="0" indent="0">
              <a:buNone/>
            </a:pPr>
            <a:r>
              <a:rPr lang="en-US" dirty="0"/>
              <a:t>Not all dependencies should be fields. </a:t>
            </a:r>
          </a:p>
          <a:p>
            <a:pPr marL="0" indent="0">
              <a:buNone/>
            </a:pPr>
            <a:r>
              <a:rPr lang="en-US" dirty="0"/>
              <a:t>UML dependency arrows help distinguish temporary usage from structural ownership.</a:t>
            </a:r>
          </a:p>
          <a:p>
            <a:r>
              <a:rPr dirty="0"/>
              <a:t>Method parameters</a:t>
            </a:r>
          </a:p>
          <a:p>
            <a:pPr lvl="1"/>
            <a:r>
              <a:rPr dirty="0"/>
              <a:t>Local variables</a:t>
            </a:r>
          </a:p>
          <a:p>
            <a:pPr lvl="1"/>
            <a:r>
              <a:rPr dirty="0"/>
              <a:t>Short-lived interactions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714A8F-B083-6201-BE6C-F69FB699C55D}"/>
              </a:ext>
            </a:extLst>
          </p:cNvPr>
          <p:cNvSpPr>
            <a:spLocks noGrp="1"/>
          </p:cNvSpPr>
          <p:nvPr>
            <p:ph type="title"/>
          </p:nvPr>
        </p:nvSpPr>
        <p:spPr/>
        <p:txBody>
          <a:bodyPr/>
          <a:lstStyle/>
          <a:p>
            <a:r>
              <a:rPr lang="en-US" dirty="0"/>
              <a:t>Dependency / Temporal</a:t>
            </a:r>
          </a:p>
        </p:txBody>
      </p:sp>
      <p:pic>
        <p:nvPicPr>
          <p:cNvPr id="4" name="Picture 3">
            <a:extLst>
              <a:ext uri="{FF2B5EF4-FFF2-40B4-BE49-F238E27FC236}">
                <a16:creationId xmlns:a16="http://schemas.microsoft.com/office/drawing/2014/main" id="{B5EC3052-6241-B866-F94C-353383E5E24E}"/>
              </a:ext>
            </a:extLst>
          </p:cNvPr>
          <p:cNvPicPr>
            <a:picLocks noChangeAspect="1"/>
          </p:cNvPicPr>
          <p:nvPr/>
        </p:nvPicPr>
        <p:blipFill>
          <a:blip r:embed="rId2"/>
          <a:stretch>
            <a:fillRect/>
          </a:stretch>
        </p:blipFill>
        <p:spPr>
          <a:xfrm>
            <a:off x="3217190" y="1709116"/>
            <a:ext cx="6515746" cy="4684130"/>
          </a:xfrm>
          <a:prstGeom prst="rect">
            <a:avLst/>
          </a:prstGeom>
        </p:spPr>
      </p:pic>
    </p:spTree>
    <p:extLst>
      <p:ext uri="{BB962C8B-B14F-4D97-AF65-F5344CB8AC3E}">
        <p14:creationId xmlns:p14="http://schemas.microsoft.com/office/powerpoint/2010/main" val="22241873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8719E-33CC-BA05-92A0-845F8D99A8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B0E62A-1866-01A5-32B0-5B1BECCCCCB9}"/>
              </a:ext>
            </a:extLst>
          </p:cNvPr>
          <p:cNvSpPr>
            <a:spLocks noGrp="1"/>
          </p:cNvSpPr>
          <p:nvPr>
            <p:ph type="title"/>
          </p:nvPr>
        </p:nvSpPr>
        <p:spPr/>
        <p:txBody>
          <a:bodyPr/>
          <a:lstStyle/>
          <a:p>
            <a:r>
              <a:rPr lang="en-US" dirty="0"/>
              <a:t>Association / Structural</a:t>
            </a:r>
          </a:p>
        </p:txBody>
      </p:sp>
      <p:pic>
        <p:nvPicPr>
          <p:cNvPr id="3" name="Picture 2">
            <a:extLst>
              <a:ext uri="{FF2B5EF4-FFF2-40B4-BE49-F238E27FC236}">
                <a16:creationId xmlns:a16="http://schemas.microsoft.com/office/drawing/2014/main" id="{CD7D034A-A644-8C27-E374-FF27807E0CE1}"/>
              </a:ext>
            </a:extLst>
          </p:cNvPr>
          <p:cNvPicPr>
            <a:picLocks noChangeAspect="1"/>
          </p:cNvPicPr>
          <p:nvPr/>
        </p:nvPicPr>
        <p:blipFill>
          <a:blip r:embed="rId2"/>
          <a:srcRect/>
          <a:stretch/>
        </p:blipFill>
        <p:spPr>
          <a:xfrm>
            <a:off x="1621861" y="1715030"/>
            <a:ext cx="9800674" cy="4326749"/>
          </a:xfrm>
          <a:prstGeom prst="rect">
            <a:avLst/>
          </a:prstGeom>
        </p:spPr>
      </p:pic>
    </p:spTree>
    <p:extLst>
      <p:ext uri="{BB962C8B-B14F-4D97-AF65-F5344CB8AC3E}">
        <p14:creationId xmlns:p14="http://schemas.microsoft.com/office/powerpoint/2010/main" val="19981333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029D4-32C5-9979-F5AA-1CBE958EEE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4C88A6-4028-2B67-3786-B01A8984C604}"/>
              </a:ext>
            </a:extLst>
          </p:cNvPr>
          <p:cNvSpPr>
            <a:spLocks noGrp="1"/>
          </p:cNvSpPr>
          <p:nvPr>
            <p:ph type="title"/>
          </p:nvPr>
        </p:nvSpPr>
        <p:spPr/>
        <p:txBody>
          <a:bodyPr/>
          <a:lstStyle/>
          <a:p>
            <a:r>
              <a:rPr lang="en-US" dirty="0"/>
              <a:t>Aggregation / Structural</a:t>
            </a:r>
          </a:p>
        </p:txBody>
      </p:sp>
      <p:pic>
        <p:nvPicPr>
          <p:cNvPr id="4" name="Picture 3">
            <a:extLst>
              <a:ext uri="{FF2B5EF4-FFF2-40B4-BE49-F238E27FC236}">
                <a16:creationId xmlns:a16="http://schemas.microsoft.com/office/drawing/2014/main" id="{290A7B34-3B6B-7843-60B4-C096CDDE1AFF}"/>
              </a:ext>
            </a:extLst>
          </p:cNvPr>
          <p:cNvPicPr>
            <a:picLocks noChangeAspect="1"/>
          </p:cNvPicPr>
          <p:nvPr/>
        </p:nvPicPr>
        <p:blipFill>
          <a:blip r:embed="rId2"/>
          <a:srcRect/>
          <a:stretch/>
        </p:blipFill>
        <p:spPr>
          <a:xfrm>
            <a:off x="1638248" y="1885285"/>
            <a:ext cx="9291305" cy="4326749"/>
          </a:xfrm>
          <a:prstGeom prst="rect">
            <a:avLst/>
          </a:prstGeom>
        </p:spPr>
      </p:pic>
    </p:spTree>
    <p:extLst>
      <p:ext uri="{BB962C8B-B14F-4D97-AF65-F5344CB8AC3E}">
        <p14:creationId xmlns:p14="http://schemas.microsoft.com/office/powerpoint/2010/main" val="26544348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4B628-C93C-65CB-BFD3-7B73765CBC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F06F6D-73AD-263F-90B7-47AB916F3B63}"/>
              </a:ext>
            </a:extLst>
          </p:cNvPr>
          <p:cNvSpPr>
            <a:spLocks noGrp="1"/>
          </p:cNvSpPr>
          <p:nvPr>
            <p:ph type="title"/>
          </p:nvPr>
        </p:nvSpPr>
        <p:spPr/>
        <p:txBody>
          <a:bodyPr/>
          <a:lstStyle/>
          <a:p>
            <a:r>
              <a:rPr lang="en-US" dirty="0"/>
              <a:t>Composition / Structural</a:t>
            </a:r>
          </a:p>
        </p:txBody>
      </p:sp>
      <p:pic>
        <p:nvPicPr>
          <p:cNvPr id="4" name="Picture 3">
            <a:extLst>
              <a:ext uri="{FF2B5EF4-FFF2-40B4-BE49-F238E27FC236}">
                <a16:creationId xmlns:a16="http://schemas.microsoft.com/office/drawing/2014/main" id="{3DA4B9D7-D4CE-2B77-1F3B-19E60DE997E1}"/>
              </a:ext>
            </a:extLst>
          </p:cNvPr>
          <p:cNvPicPr>
            <a:picLocks noChangeAspect="1"/>
          </p:cNvPicPr>
          <p:nvPr/>
        </p:nvPicPr>
        <p:blipFill>
          <a:blip r:embed="rId2"/>
          <a:srcRect/>
          <a:stretch/>
        </p:blipFill>
        <p:spPr>
          <a:xfrm>
            <a:off x="3201168" y="1885285"/>
            <a:ext cx="6165465" cy="4326749"/>
          </a:xfrm>
          <a:prstGeom prst="rect">
            <a:avLst/>
          </a:prstGeom>
        </p:spPr>
      </p:pic>
    </p:spTree>
    <p:extLst>
      <p:ext uri="{BB962C8B-B14F-4D97-AF65-F5344CB8AC3E}">
        <p14:creationId xmlns:p14="http://schemas.microsoft.com/office/powerpoint/2010/main" val="4801746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Why Usage Dependencies Matter</a:t>
            </a:r>
          </a:p>
        </p:txBody>
      </p:sp>
      <p:sp>
        <p:nvSpPr>
          <p:cNvPr id="3" name="Content Placeholder 2"/>
          <p:cNvSpPr>
            <a:spLocks noGrp="1"/>
          </p:cNvSpPr>
          <p:nvPr>
            <p:ph idx="1"/>
          </p:nvPr>
        </p:nvSpPr>
        <p:spPr/>
        <p:txBody>
          <a:bodyPr/>
          <a:lstStyle/>
          <a:p>
            <a:r>
              <a:rPr lang="en-US" dirty="0"/>
              <a:t>While performing your design, consider this: “Does this class really need to own this dependency, or does it only need it temporarily?”</a:t>
            </a:r>
          </a:p>
          <a:p>
            <a:r>
              <a:rPr dirty="0"/>
              <a:t>Reduce unnecessary coupling</a:t>
            </a:r>
          </a:p>
          <a:p>
            <a:pPr lvl="1"/>
            <a:r>
              <a:rPr dirty="0"/>
              <a:t>Clarify required collaborators</a:t>
            </a:r>
          </a:p>
          <a:p>
            <a:pPr lvl="1"/>
            <a:r>
              <a:rPr dirty="0"/>
              <a:t>Support cleaner APIs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Interfaces vs Concrete Dependencies</a:t>
            </a:r>
          </a:p>
        </p:txBody>
      </p:sp>
      <p:sp>
        <p:nvSpPr>
          <p:cNvPr id="3" name="Content Placeholder 2"/>
          <p:cNvSpPr>
            <a:spLocks noGrp="1"/>
          </p:cNvSpPr>
          <p:nvPr>
            <p:ph idx="1"/>
          </p:nvPr>
        </p:nvSpPr>
        <p:spPr/>
        <p:txBody>
          <a:bodyPr/>
          <a:lstStyle/>
          <a:p>
            <a:pPr marL="0" indent="0">
              <a:buNone/>
            </a:pPr>
            <a:r>
              <a:rPr lang="en-US" dirty="0"/>
              <a:t>Interfaces describe capability </a:t>
            </a:r>
            <a:r>
              <a:rPr lang="en-US" i="1" dirty="0"/>
              <a:t>without commitment</a:t>
            </a:r>
            <a:r>
              <a:rPr lang="en-US" dirty="0"/>
              <a:t>. </a:t>
            </a:r>
          </a:p>
          <a:p>
            <a:pPr marL="0" indent="0">
              <a:buNone/>
            </a:pPr>
            <a:r>
              <a:rPr lang="en-US" dirty="0"/>
              <a:t>Diagrams make this distinction obvious and visible.</a:t>
            </a:r>
          </a:p>
          <a:p>
            <a:r>
              <a:rPr dirty="0"/>
              <a:t>Interfaces express contracts</a:t>
            </a:r>
          </a:p>
          <a:p>
            <a:pPr lvl="1"/>
            <a:r>
              <a:rPr dirty="0"/>
              <a:t>Concrete classes express decisions</a:t>
            </a:r>
          </a:p>
          <a:p>
            <a:pPr lvl="1"/>
            <a:r>
              <a:rPr dirty="0"/>
              <a:t>Prefer depending on abstractions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3E7AA-B9D1-AB8F-198E-EA01AF5C0F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EBDCB7-F2F1-8C4D-B372-D0FB620163A2}"/>
              </a:ext>
            </a:extLst>
          </p:cNvPr>
          <p:cNvSpPr>
            <a:spLocks noGrp="1"/>
          </p:cNvSpPr>
          <p:nvPr>
            <p:ph type="title"/>
          </p:nvPr>
        </p:nvSpPr>
        <p:spPr/>
        <p:txBody>
          <a:bodyPr/>
          <a:lstStyle/>
          <a:p>
            <a:r>
              <a:rPr dirty="0"/>
              <a:t>Interfaces vs Concrete Dependencies</a:t>
            </a:r>
          </a:p>
        </p:txBody>
      </p:sp>
      <p:pic>
        <p:nvPicPr>
          <p:cNvPr id="7" name="Picture 6">
            <a:extLst>
              <a:ext uri="{FF2B5EF4-FFF2-40B4-BE49-F238E27FC236}">
                <a16:creationId xmlns:a16="http://schemas.microsoft.com/office/drawing/2014/main" id="{A34E9862-DBF3-0864-0B3A-1FD617D36FEB}"/>
              </a:ext>
            </a:extLst>
          </p:cNvPr>
          <p:cNvPicPr>
            <a:picLocks noChangeAspect="1"/>
          </p:cNvPicPr>
          <p:nvPr/>
        </p:nvPicPr>
        <p:blipFill>
          <a:blip r:embed="rId3"/>
          <a:stretch>
            <a:fillRect/>
          </a:stretch>
        </p:blipFill>
        <p:spPr>
          <a:xfrm>
            <a:off x="1279301" y="1885285"/>
            <a:ext cx="9633398" cy="3188813"/>
          </a:xfrm>
          <a:prstGeom prst="rect">
            <a:avLst/>
          </a:prstGeom>
        </p:spPr>
      </p:pic>
    </p:spTree>
    <p:extLst>
      <p:ext uri="{BB962C8B-B14F-4D97-AF65-F5344CB8AC3E}">
        <p14:creationId xmlns:p14="http://schemas.microsoft.com/office/powerpoint/2010/main" val="38796214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Seeing Abstractions Visually</a:t>
            </a:r>
          </a:p>
        </p:txBody>
      </p:sp>
      <p:sp>
        <p:nvSpPr>
          <p:cNvPr id="3" name="Content Placeholder 2"/>
          <p:cNvSpPr>
            <a:spLocks noGrp="1"/>
          </p:cNvSpPr>
          <p:nvPr>
            <p:ph idx="1"/>
          </p:nvPr>
        </p:nvSpPr>
        <p:spPr>
          <a:xfrm>
            <a:off x="2773599" y="2052116"/>
            <a:ext cx="7796540" cy="2920600"/>
          </a:xfrm>
        </p:spPr>
        <p:txBody>
          <a:bodyPr>
            <a:normAutofit/>
          </a:bodyPr>
          <a:lstStyle/>
          <a:p>
            <a:pPr marL="0" indent="0">
              <a:buNone/>
            </a:pPr>
            <a:r>
              <a:rPr lang="en-US" dirty="0"/>
              <a:t>Patterns like Strategy and Observer become much clearer when interfaces are visible and not hidden behind concrete implementations.</a:t>
            </a:r>
          </a:p>
          <a:p>
            <a:r>
              <a:rPr dirty="0"/>
              <a:t>Interfaces as first-class elements</a:t>
            </a:r>
          </a:p>
          <a:p>
            <a:pPr lvl="1"/>
            <a:r>
              <a:rPr dirty="0"/>
              <a:t>Multiple realizations</a:t>
            </a:r>
          </a:p>
          <a:p>
            <a:pPr lvl="1"/>
            <a:r>
              <a:rPr dirty="0"/>
              <a:t>Pluggable behavior</a:t>
            </a:r>
          </a:p>
        </p:txBody>
      </p:sp>
      <p:pic>
        <p:nvPicPr>
          <p:cNvPr id="4" name="Picture 3">
            <a:extLst>
              <a:ext uri="{FF2B5EF4-FFF2-40B4-BE49-F238E27FC236}">
                <a16:creationId xmlns:a16="http://schemas.microsoft.com/office/drawing/2014/main" id="{08CA1C65-2F08-000B-DE99-E765553AAEF9}"/>
              </a:ext>
            </a:extLst>
          </p:cNvPr>
          <p:cNvPicPr>
            <a:picLocks noChangeAspect="1"/>
          </p:cNvPicPr>
          <p:nvPr/>
        </p:nvPicPr>
        <p:blipFill>
          <a:blip r:embed="rId3"/>
          <a:stretch>
            <a:fillRect/>
          </a:stretch>
        </p:blipFill>
        <p:spPr>
          <a:xfrm>
            <a:off x="6096000" y="4355024"/>
            <a:ext cx="5782639" cy="191414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Focused Design Discussions</a:t>
            </a:r>
          </a:p>
        </p:txBody>
      </p:sp>
      <p:sp>
        <p:nvSpPr>
          <p:cNvPr id="3" name="Content Placeholder 2"/>
          <p:cNvSpPr>
            <a:spLocks noGrp="1"/>
          </p:cNvSpPr>
          <p:nvPr>
            <p:ph idx="1"/>
          </p:nvPr>
        </p:nvSpPr>
        <p:spPr/>
        <p:txBody>
          <a:bodyPr/>
          <a:lstStyle/>
          <a:p>
            <a:pPr marL="0" indent="0">
              <a:buNone/>
            </a:pPr>
            <a:r>
              <a:rPr lang="en-US" b="1" dirty="0"/>
              <a:t>Good diagrams are selective!</a:t>
            </a:r>
            <a:r>
              <a:rPr lang="en-US" dirty="0"/>
              <a:t> Diagram what matters for the decision you are considering, not everything that exists.</a:t>
            </a:r>
          </a:p>
          <a:p>
            <a:r>
              <a:rPr dirty="0"/>
              <a:t>Limit diagrams to key classes</a:t>
            </a:r>
          </a:p>
          <a:p>
            <a:pPr lvl="1"/>
            <a:r>
              <a:rPr dirty="0"/>
              <a:t>Avoid giant system diagrams</a:t>
            </a:r>
          </a:p>
          <a:p>
            <a:pPr lvl="1"/>
            <a:r>
              <a:rPr dirty="0"/>
              <a:t>Design is contextual</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Why Diagrams Beat Code for Discussion</a:t>
            </a:r>
          </a:p>
        </p:txBody>
      </p:sp>
      <p:sp>
        <p:nvSpPr>
          <p:cNvPr id="3" name="Content Placeholder 2"/>
          <p:cNvSpPr>
            <a:spLocks noGrp="1"/>
          </p:cNvSpPr>
          <p:nvPr>
            <p:ph idx="1"/>
          </p:nvPr>
        </p:nvSpPr>
        <p:spPr/>
        <p:txBody>
          <a:bodyPr/>
          <a:lstStyle/>
          <a:p>
            <a:pPr marL="0" indent="0">
              <a:buNone/>
            </a:pPr>
            <a:r>
              <a:rPr lang="en-US" b="1" dirty="0"/>
              <a:t>Reading code is serial and slow. </a:t>
            </a:r>
          </a:p>
          <a:p>
            <a:pPr marL="0" indent="0">
              <a:buNone/>
            </a:pPr>
            <a:r>
              <a:rPr lang="en-US" dirty="0"/>
              <a:t>Diagrams allow parallel understanding and quicker agreement or disagreement during reviews.</a:t>
            </a:r>
          </a:p>
          <a:p>
            <a:r>
              <a:rPr dirty="0"/>
              <a:t>Easier to reason about structure</a:t>
            </a:r>
          </a:p>
          <a:p>
            <a:pPr lvl="1"/>
            <a:r>
              <a:rPr dirty="0"/>
              <a:t>Less cognitive load</a:t>
            </a:r>
          </a:p>
          <a:p>
            <a:pPr lvl="1"/>
            <a:r>
              <a:rPr dirty="0"/>
              <a:t>Supports group conversation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Pull Requests &amp; Design Defense</a:t>
            </a:r>
          </a:p>
        </p:txBody>
      </p:sp>
      <p:sp>
        <p:nvSpPr>
          <p:cNvPr id="3" name="Content Placeholder 2"/>
          <p:cNvSpPr>
            <a:spLocks noGrp="1"/>
          </p:cNvSpPr>
          <p:nvPr>
            <p:ph idx="1"/>
          </p:nvPr>
        </p:nvSpPr>
        <p:spPr/>
        <p:txBody>
          <a:bodyPr/>
          <a:lstStyle/>
          <a:p>
            <a:pPr marL="0" indent="0">
              <a:buNone/>
            </a:pPr>
            <a:r>
              <a:rPr lang="en-US" dirty="0"/>
              <a:t>Consider using diagrams in pull requests (PR: code you are submitting to your teammates, technical lead, open source project, etc.) for inclusion in a project or design reviews to explain </a:t>
            </a:r>
            <a:r>
              <a:rPr lang="en-US" i="1" dirty="0"/>
              <a:t>why</a:t>
            </a:r>
            <a:r>
              <a:rPr lang="en-US" dirty="0"/>
              <a:t> something is built a certain way instead of arguing line-by-line in code.</a:t>
            </a:r>
          </a:p>
          <a:p>
            <a:r>
              <a:rPr dirty="0"/>
              <a:t>Explain intent visually</a:t>
            </a:r>
          </a:p>
          <a:p>
            <a:pPr lvl="1"/>
            <a:r>
              <a:rPr dirty="0"/>
              <a:t>Justify abstractions</a:t>
            </a:r>
          </a:p>
          <a:p>
            <a:pPr lvl="1"/>
            <a:r>
              <a:rPr dirty="0"/>
              <a:t>Highlight dependency choices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Responsibility Boundaries</a:t>
            </a:r>
          </a:p>
        </p:txBody>
      </p:sp>
      <p:sp>
        <p:nvSpPr>
          <p:cNvPr id="3" name="Content Placeholder 2"/>
          <p:cNvSpPr>
            <a:spLocks noGrp="1"/>
          </p:cNvSpPr>
          <p:nvPr>
            <p:ph idx="1"/>
          </p:nvPr>
        </p:nvSpPr>
        <p:spPr/>
        <p:txBody>
          <a:bodyPr/>
          <a:lstStyle/>
          <a:p>
            <a:pPr marL="0" indent="0">
              <a:buNone/>
            </a:pPr>
            <a:r>
              <a:rPr lang="en-US" dirty="0"/>
              <a:t>Each class box invites questions. </a:t>
            </a:r>
          </a:p>
          <a:p>
            <a:pPr marL="0" indent="0">
              <a:buNone/>
            </a:pPr>
            <a:r>
              <a:rPr lang="en-US" dirty="0"/>
              <a:t>Too many relationships often indicate too many responsibilities.</a:t>
            </a:r>
          </a:p>
          <a:p>
            <a:pPr marL="0" indent="0">
              <a:buNone/>
            </a:pPr>
            <a:r>
              <a:rPr lang="en-US" dirty="0"/>
              <a:t>Try to keep each class limited to a Single Responsibility. Diagrams help spot responsibility problems that might be less visible when reading code.</a:t>
            </a:r>
          </a:p>
          <a:p>
            <a:r>
              <a:rPr dirty="0"/>
              <a:t>Who does what?</a:t>
            </a:r>
          </a:p>
          <a:p>
            <a:pPr lvl="1"/>
            <a:r>
              <a:rPr dirty="0"/>
              <a:t>Who knows about whom?</a:t>
            </a:r>
          </a:p>
          <a:p>
            <a:pPr lvl="1"/>
            <a:r>
              <a:rPr dirty="0"/>
              <a:t>When to split classes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86AB6-44D4-7E82-BFDA-316FA8F58E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2FB80B-7B99-E567-7CAC-E2E7F8662458}"/>
              </a:ext>
            </a:extLst>
          </p:cNvPr>
          <p:cNvSpPr>
            <a:spLocks noGrp="1"/>
          </p:cNvSpPr>
          <p:nvPr>
            <p:ph type="title"/>
          </p:nvPr>
        </p:nvSpPr>
        <p:spPr/>
        <p:txBody>
          <a:bodyPr/>
          <a:lstStyle/>
          <a:p>
            <a:r>
              <a:rPr dirty="0"/>
              <a:t>Responsibility Boundaries</a:t>
            </a:r>
          </a:p>
        </p:txBody>
      </p:sp>
      <p:pic>
        <p:nvPicPr>
          <p:cNvPr id="6" name="Picture 5">
            <a:extLst>
              <a:ext uri="{FF2B5EF4-FFF2-40B4-BE49-F238E27FC236}">
                <a16:creationId xmlns:a16="http://schemas.microsoft.com/office/drawing/2014/main" id="{03FFFC62-88A2-FBEF-FE80-079DE25DC359}"/>
              </a:ext>
            </a:extLst>
          </p:cNvPr>
          <p:cNvPicPr>
            <a:picLocks noChangeAspect="1"/>
          </p:cNvPicPr>
          <p:nvPr/>
        </p:nvPicPr>
        <p:blipFill>
          <a:blip r:embed="rId3"/>
          <a:stretch>
            <a:fillRect/>
          </a:stretch>
        </p:blipFill>
        <p:spPr>
          <a:xfrm>
            <a:off x="2783237" y="1495738"/>
            <a:ext cx="6190281" cy="5069099"/>
          </a:xfrm>
          <a:prstGeom prst="rect">
            <a:avLst/>
          </a:prstGeom>
        </p:spPr>
      </p:pic>
    </p:spTree>
    <p:extLst>
      <p:ext uri="{BB962C8B-B14F-4D97-AF65-F5344CB8AC3E}">
        <p14:creationId xmlns:p14="http://schemas.microsoft.com/office/powerpoint/2010/main" val="26033528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1F801-06FF-6D9A-E958-8EAE6479B4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99FB77-DF55-C140-0084-5ED2548FEA30}"/>
              </a:ext>
            </a:extLst>
          </p:cNvPr>
          <p:cNvSpPr>
            <a:spLocks noGrp="1"/>
          </p:cNvSpPr>
          <p:nvPr>
            <p:ph type="title"/>
          </p:nvPr>
        </p:nvSpPr>
        <p:spPr/>
        <p:txBody>
          <a:bodyPr/>
          <a:lstStyle/>
          <a:p>
            <a:r>
              <a:rPr dirty="0"/>
              <a:t>Exploring Alternatives</a:t>
            </a:r>
          </a:p>
        </p:txBody>
      </p:sp>
      <p:sp>
        <p:nvSpPr>
          <p:cNvPr id="3" name="Content Placeholder 2">
            <a:extLst>
              <a:ext uri="{FF2B5EF4-FFF2-40B4-BE49-F238E27FC236}">
                <a16:creationId xmlns:a16="http://schemas.microsoft.com/office/drawing/2014/main" id="{047B1EA4-ABCC-9794-CFAD-C77510C10670}"/>
              </a:ext>
            </a:extLst>
          </p:cNvPr>
          <p:cNvSpPr>
            <a:spLocks noGrp="1"/>
          </p:cNvSpPr>
          <p:nvPr>
            <p:ph idx="1"/>
          </p:nvPr>
        </p:nvSpPr>
        <p:spPr/>
        <p:txBody>
          <a:bodyPr/>
          <a:lstStyle/>
          <a:p>
            <a:pPr marL="0" indent="0">
              <a:buNone/>
            </a:pPr>
            <a:r>
              <a:rPr lang="en-US" dirty="0"/>
              <a:t>Whiteboarding diagrams and diagram tool like Mermaid.js allow experimentation without refactoring code. </a:t>
            </a:r>
          </a:p>
          <a:p>
            <a:pPr marL="0" indent="0">
              <a:buNone/>
            </a:pPr>
            <a:r>
              <a:rPr lang="en-US" dirty="0"/>
              <a:t>This encourages exploration instead of premature commitment.</a:t>
            </a:r>
          </a:p>
          <a:p>
            <a:r>
              <a:rPr dirty="0"/>
              <a:t>Try multiple designs quickly</a:t>
            </a:r>
          </a:p>
          <a:p>
            <a:pPr lvl="1"/>
            <a:r>
              <a:rPr dirty="0"/>
              <a:t>Compare structures</a:t>
            </a:r>
          </a:p>
          <a:p>
            <a:pPr lvl="1"/>
            <a:r>
              <a:rPr dirty="0"/>
              <a:t>Evaluate tradeoffs</a:t>
            </a:r>
          </a:p>
        </p:txBody>
      </p:sp>
    </p:spTree>
    <p:extLst>
      <p:ext uri="{BB962C8B-B14F-4D97-AF65-F5344CB8AC3E}">
        <p14:creationId xmlns:p14="http://schemas.microsoft.com/office/powerpoint/2010/main" val="23066834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Exploring Alternatives</a:t>
            </a:r>
            <a:r>
              <a:rPr lang="en-US" dirty="0"/>
              <a:t>:</a:t>
            </a:r>
            <a:br>
              <a:rPr lang="en-US" dirty="0"/>
            </a:br>
            <a:r>
              <a:rPr lang="en-US" dirty="0"/>
              <a:t>Example A</a:t>
            </a:r>
            <a:endParaRPr dirty="0"/>
          </a:p>
        </p:txBody>
      </p:sp>
      <p:pic>
        <p:nvPicPr>
          <p:cNvPr id="6" name="Picture 5">
            <a:extLst>
              <a:ext uri="{FF2B5EF4-FFF2-40B4-BE49-F238E27FC236}">
                <a16:creationId xmlns:a16="http://schemas.microsoft.com/office/drawing/2014/main" id="{177F6689-A72F-AEB8-8C9C-10D5D8D1AA8A}"/>
              </a:ext>
            </a:extLst>
          </p:cNvPr>
          <p:cNvPicPr>
            <a:picLocks noChangeAspect="1"/>
          </p:cNvPicPr>
          <p:nvPr/>
        </p:nvPicPr>
        <p:blipFill>
          <a:blip r:embed="rId3"/>
          <a:stretch>
            <a:fillRect/>
          </a:stretch>
        </p:blipFill>
        <p:spPr>
          <a:xfrm>
            <a:off x="2054817" y="2028013"/>
            <a:ext cx="7772400" cy="4021931"/>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A4B8E-A414-DEAC-FF81-08ED3A5F8D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99523E-51E7-65A1-737F-AA83247C5616}"/>
              </a:ext>
            </a:extLst>
          </p:cNvPr>
          <p:cNvSpPr>
            <a:spLocks noGrp="1"/>
          </p:cNvSpPr>
          <p:nvPr>
            <p:ph type="title"/>
          </p:nvPr>
        </p:nvSpPr>
        <p:spPr/>
        <p:txBody>
          <a:bodyPr/>
          <a:lstStyle/>
          <a:p>
            <a:r>
              <a:rPr dirty="0"/>
              <a:t>Exploring Alternatives</a:t>
            </a:r>
            <a:r>
              <a:rPr lang="en-US" dirty="0"/>
              <a:t>:</a:t>
            </a:r>
            <a:br>
              <a:rPr lang="en-US" dirty="0"/>
            </a:br>
            <a:r>
              <a:rPr lang="en-US" dirty="0"/>
              <a:t>Example B</a:t>
            </a:r>
            <a:endParaRPr dirty="0"/>
          </a:p>
        </p:txBody>
      </p:sp>
      <p:pic>
        <p:nvPicPr>
          <p:cNvPr id="6" name="Picture 5">
            <a:extLst>
              <a:ext uri="{FF2B5EF4-FFF2-40B4-BE49-F238E27FC236}">
                <a16:creationId xmlns:a16="http://schemas.microsoft.com/office/drawing/2014/main" id="{CA62B494-3D64-9E7B-B8D9-EDC3F28C7649}"/>
              </a:ext>
            </a:extLst>
          </p:cNvPr>
          <p:cNvPicPr>
            <a:picLocks noChangeAspect="1"/>
          </p:cNvPicPr>
          <p:nvPr/>
        </p:nvPicPr>
        <p:blipFill>
          <a:blip r:embed="rId3"/>
          <a:srcRect/>
          <a:stretch/>
        </p:blipFill>
        <p:spPr>
          <a:xfrm>
            <a:off x="3463269" y="2028013"/>
            <a:ext cx="4955496" cy="4021931"/>
          </a:xfrm>
          <a:prstGeom prst="rect">
            <a:avLst/>
          </a:prstGeom>
        </p:spPr>
      </p:pic>
    </p:spTree>
    <p:extLst>
      <p:ext uri="{BB962C8B-B14F-4D97-AF65-F5344CB8AC3E}">
        <p14:creationId xmlns:p14="http://schemas.microsoft.com/office/powerpoint/2010/main" val="3547390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Diagrams as Living Documentation</a:t>
            </a:r>
          </a:p>
        </p:txBody>
      </p:sp>
      <p:sp>
        <p:nvSpPr>
          <p:cNvPr id="3" name="Content Placeholder 2"/>
          <p:cNvSpPr>
            <a:spLocks noGrp="1"/>
          </p:cNvSpPr>
          <p:nvPr>
            <p:ph idx="1"/>
          </p:nvPr>
        </p:nvSpPr>
        <p:spPr/>
        <p:txBody>
          <a:bodyPr/>
          <a:lstStyle/>
          <a:p>
            <a:pPr marL="0" indent="0">
              <a:buNone/>
            </a:pPr>
            <a:r>
              <a:rPr lang="en-US" dirty="0"/>
              <a:t>Even if diagrams drift from code, they often preserve the original intent, which is incredibly valuable context later.</a:t>
            </a:r>
          </a:p>
          <a:p>
            <a:r>
              <a:rPr dirty="0"/>
              <a:t>Capture design intent</a:t>
            </a:r>
          </a:p>
          <a:p>
            <a:pPr lvl="1"/>
            <a:r>
              <a:rPr dirty="0"/>
              <a:t>Aid future maintainers</a:t>
            </a:r>
          </a:p>
          <a:p>
            <a:pPr lvl="1"/>
            <a:r>
              <a:rPr dirty="0"/>
              <a:t>Support architectural memory</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A8075-F957-75FA-49E9-68477E9F5D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3A91B0-CB68-434D-7E55-553AD36C6AC4}"/>
              </a:ext>
            </a:extLst>
          </p:cNvPr>
          <p:cNvSpPr>
            <a:spLocks noGrp="1"/>
          </p:cNvSpPr>
          <p:nvPr>
            <p:ph type="title"/>
          </p:nvPr>
        </p:nvSpPr>
        <p:spPr/>
        <p:txBody>
          <a:bodyPr>
            <a:normAutofit fontScale="90000"/>
          </a:bodyPr>
          <a:lstStyle/>
          <a:p>
            <a:r>
              <a:rPr lang="en-US" b="1" dirty="0"/>
              <a:t>Why Code-Based Diagrams (Mermaid) Work Especially Well with AI</a:t>
            </a:r>
          </a:p>
        </p:txBody>
      </p:sp>
      <p:sp>
        <p:nvSpPr>
          <p:cNvPr id="3" name="Content Placeholder 2">
            <a:extLst>
              <a:ext uri="{FF2B5EF4-FFF2-40B4-BE49-F238E27FC236}">
                <a16:creationId xmlns:a16="http://schemas.microsoft.com/office/drawing/2014/main" id="{973C6E30-8891-5828-FDAB-1512320139DF}"/>
              </a:ext>
            </a:extLst>
          </p:cNvPr>
          <p:cNvSpPr>
            <a:spLocks noGrp="1"/>
          </p:cNvSpPr>
          <p:nvPr>
            <p:ph idx="1"/>
          </p:nvPr>
        </p:nvSpPr>
        <p:spPr>
          <a:xfrm>
            <a:off x="2773599" y="2052116"/>
            <a:ext cx="7796540" cy="4805884"/>
          </a:xfrm>
        </p:spPr>
        <p:txBody>
          <a:bodyPr>
            <a:normAutofit/>
          </a:bodyPr>
          <a:lstStyle/>
          <a:p>
            <a:pPr marL="0" indent="0">
              <a:buNone/>
            </a:pPr>
            <a:r>
              <a:rPr lang="en-US" dirty="0"/>
              <a:t>Even when diagrams drift from the code, they preserve </a:t>
            </a:r>
            <a:r>
              <a:rPr lang="en-US" b="1" dirty="0"/>
              <a:t>design intent</a:t>
            </a:r>
            <a:r>
              <a:rPr lang="en-US" dirty="0"/>
              <a:t>, which provides critical context for both humans and AI.</a:t>
            </a:r>
          </a:p>
          <a:p>
            <a:r>
              <a:rPr lang="en-US" b="1" dirty="0"/>
              <a:t>Improved AI reasoning</a:t>
            </a:r>
            <a:br>
              <a:rPr lang="en-US" b="1" dirty="0"/>
            </a:br>
            <a:r>
              <a:rPr lang="en-US" dirty="0"/>
              <a:t>AI can reason over the structured text in code-based diagrams (such as Mermaid), enabling better code generation, refactoring suggestions, pattern recognition, and automated design critiques.</a:t>
            </a:r>
          </a:p>
          <a:p>
            <a:r>
              <a:rPr lang="en-US" b="1" dirty="0"/>
              <a:t>Shared context for humans and AI</a:t>
            </a:r>
            <a:br>
              <a:rPr lang="en-US" b="1" dirty="0"/>
            </a:br>
            <a:r>
              <a:rPr lang="en-US" dirty="0"/>
              <a:t>Mermaid diagrams are versionable, diff-able, and colocated with code—making them a common language for developers </a:t>
            </a:r>
            <a:r>
              <a:rPr lang="en-US" i="1" dirty="0"/>
              <a:t>and</a:t>
            </a:r>
            <a:r>
              <a:rPr lang="en-US" dirty="0"/>
              <a:t> tools.</a:t>
            </a:r>
          </a:p>
          <a:p>
            <a:endParaRPr lang="en-US" dirty="0"/>
          </a:p>
        </p:txBody>
      </p:sp>
    </p:spTree>
    <p:extLst>
      <p:ext uri="{BB962C8B-B14F-4D97-AF65-F5344CB8AC3E}">
        <p14:creationId xmlns:p14="http://schemas.microsoft.com/office/powerpoint/2010/main" val="34177363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Key Takeaways</a:t>
            </a:r>
          </a:p>
        </p:txBody>
      </p:sp>
      <p:sp>
        <p:nvSpPr>
          <p:cNvPr id="3" name="Content Placeholder 2"/>
          <p:cNvSpPr>
            <a:spLocks noGrp="1"/>
          </p:cNvSpPr>
          <p:nvPr>
            <p:ph idx="1"/>
          </p:nvPr>
        </p:nvSpPr>
        <p:spPr/>
        <p:txBody>
          <a:bodyPr/>
          <a:lstStyle/>
          <a:p>
            <a:pPr marL="0" indent="0">
              <a:buNone/>
            </a:pPr>
            <a:r>
              <a:rPr lang="en-US" dirty="0"/>
              <a:t>Used lightly and intentionally, UML class diagramming is a powerful tool for designers and developers.</a:t>
            </a:r>
          </a:p>
          <a:p>
            <a:r>
              <a:rPr dirty="0"/>
              <a:t>Class diagrams support</a:t>
            </a:r>
            <a:r>
              <a:rPr lang="en-US" dirty="0"/>
              <a:t> design</a:t>
            </a:r>
            <a:r>
              <a:rPr dirty="0"/>
              <a:t> thinking</a:t>
            </a:r>
            <a:r>
              <a:rPr lang="en-US" dirty="0"/>
              <a:t> and critical decision making</a:t>
            </a:r>
            <a:endParaRPr dirty="0"/>
          </a:p>
          <a:p>
            <a:pPr lvl="1"/>
            <a:r>
              <a:rPr dirty="0"/>
              <a:t>They reveal dependencies and abstractions</a:t>
            </a:r>
            <a:r>
              <a:rPr lang="en-US" dirty="0"/>
              <a:t> hidden by large code submissions</a:t>
            </a:r>
            <a:endParaRPr dirty="0"/>
          </a:p>
          <a:p>
            <a:pPr lvl="1"/>
            <a:r>
              <a:rPr dirty="0"/>
              <a:t>They focus and improve design conversations</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Madison">
  <a:themeElements>
    <a:clrScheme name="Madison">
      <a:dk1>
        <a:sysClr val="windowText" lastClr="000000"/>
      </a:dk1>
      <a:lt1>
        <a:sysClr val="window" lastClr="FFFFFF"/>
      </a:lt1>
      <a:dk2>
        <a:srgbClr val="1F2D29"/>
      </a:dk2>
      <a:lt2>
        <a:srgbClr val="C5FAEB"/>
      </a:lt2>
      <a:accent1>
        <a:srgbClr val="A1D68B"/>
      </a:accent1>
      <a:accent2>
        <a:srgbClr val="5EC795"/>
      </a:accent2>
      <a:accent3>
        <a:srgbClr val="4DADCF"/>
      </a:accent3>
      <a:accent4>
        <a:srgbClr val="CDB756"/>
      </a:accent4>
      <a:accent5>
        <a:srgbClr val="E29C36"/>
      </a:accent5>
      <a:accent6>
        <a:srgbClr val="8EC0C1"/>
      </a:accent6>
      <a:hlink>
        <a:srgbClr val="6D9D9B"/>
      </a:hlink>
      <a:folHlink>
        <a:srgbClr val="6D8583"/>
      </a:folHlink>
    </a:clrScheme>
    <a:fontScheme name="Madison">
      <a:majorFont>
        <a:latin typeface="Arial" panose="020B0604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Madison">
      <a:fillStyleLst>
        <a:solidFill>
          <a:schemeClr val="phClr"/>
        </a:solidFill>
        <a:gradFill rotWithShape="1">
          <a:gsLst>
            <a:gs pos="0">
              <a:schemeClr val="phClr">
                <a:tint val="48000"/>
                <a:alpha val="88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4000"/>
                <a:satMod val="130000"/>
                <a:lumMod val="92000"/>
              </a:schemeClr>
            </a:gs>
            <a:gs pos="100000">
              <a:schemeClr val="phClr">
                <a:shade val="76000"/>
                <a:satMod val="130000"/>
                <a:lumMod val="88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blipFill rotWithShape="1">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Madison" id="{025CB5FB-2DD3-45EE-B6F0-CC461540EB19}" vid="{6AC10936-2DFC-4054-9ADF-B5E2C5F8619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Madison</Template>
  <TotalTime>454</TotalTime>
  <Words>1614</Words>
  <Application>Microsoft Macintosh PowerPoint</Application>
  <PresentationFormat>Widescreen</PresentationFormat>
  <Paragraphs>152</Paragraphs>
  <Slides>29</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Aptos</vt:lpstr>
      <vt:lpstr>Arial</vt:lpstr>
      <vt:lpstr>MS Shell Dlg 2</vt:lpstr>
      <vt:lpstr>Wingdings</vt:lpstr>
      <vt:lpstr>Wingdings 3</vt:lpstr>
      <vt:lpstr>Madison</vt:lpstr>
      <vt:lpstr>UML Class Diagramming</vt:lpstr>
      <vt:lpstr>Agenda</vt:lpstr>
      <vt:lpstr>Lecture Material</vt:lpstr>
      <vt:lpstr>UML Class Diagrams as a Design Tool</vt:lpstr>
      <vt:lpstr>What a Class Diagram Represents</vt:lpstr>
      <vt:lpstr>Why Diagrams Before Code</vt:lpstr>
      <vt:lpstr>Communication Over Implementation</vt:lpstr>
      <vt:lpstr>Structural Dependencies</vt:lpstr>
      <vt:lpstr>What Structural Dependencies Reveal</vt:lpstr>
      <vt:lpstr>Temporal / Usage Dependencies</vt:lpstr>
      <vt:lpstr>Dependency / Temporal</vt:lpstr>
      <vt:lpstr>Association / Structural</vt:lpstr>
      <vt:lpstr>Aggregation / Structural</vt:lpstr>
      <vt:lpstr>Composition / Structural</vt:lpstr>
      <vt:lpstr>Why Usage Dependencies Matter</vt:lpstr>
      <vt:lpstr>Interfaces vs Concrete Dependencies</vt:lpstr>
      <vt:lpstr>Interfaces vs Concrete Dependencies</vt:lpstr>
      <vt:lpstr>Seeing Abstractions Visually</vt:lpstr>
      <vt:lpstr>Focused Design Discussions</vt:lpstr>
      <vt:lpstr>Why Diagrams Beat Code for Discussion</vt:lpstr>
      <vt:lpstr>Pull Requests &amp; Design Defense</vt:lpstr>
      <vt:lpstr>Responsibility Boundaries</vt:lpstr>
      <vt:lpstr>Responsibility Boundaries</vt:lpstr>
      <vt:lpstr>Exploring Alternatives</vt:lpstr>
      <vt:lpstr>Exploring Alternatives: Example A</vt:lpstr>
      <vt:lpstr>Exploring Alternatives: Example B</vt:lpstr>
      <vt:lpstr>Diagrams as Living Documentation</vt:lpstr>
      <vt:lpstr>Why Code-Based Diagrams (Mermaid) Work Especially Well with AI</vt:lpstr>
      <vt:lpstr>Key Takeaways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Jeff Adkisson</dc:creator>
  <cp:lastModifiedBy>Jeff Adkisson</cp:lastModifiedBy>
  <cp:revision>10</cp:revision>
  <dcterms:created xsi:type="dcterms:W3CDTF">2026-01-21T01:45:57Z</dcterms:created>
  <dcterms:modified xsi:type="dcterms:W3CDTF">2026-01-26T21:55:10Z</dcterms:modified>
</cp:coreProperties>
</file>